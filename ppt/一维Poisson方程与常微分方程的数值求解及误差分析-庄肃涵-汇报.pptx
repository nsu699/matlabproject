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5240000" cy="8572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建议用时：15 秒</a:t>
            </a:r>
          </a:p>
          <a:p>
            <a:endParaRPr/>
          </a:p>
          <a:p>
            <a:r>
              <a:t>各位老师好，我是庄肃涵。本次汇报围绕一维 Poisson 方程和常微分方程的数值求解，重点介绍方法实现、误差收敛，以及外推和高阶方法带来的精度提升。</a:t>
            </a:r>
          </a:p>
          <a:p>
            <a:endParaRPr/>
          </a:p>
          <a:p>
            <a:r>
              <a:t>资料来源：论文定稿封面、摘要。封面插图为 AI 生成的抽象装饰。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建议用时：25 秒</a:t>
            </a:r>
          </a:p>
          <a:p>
            <a:endParaRPr/>
          </a:p>
          <a:p>
            <a:r>
              <a:t>研究包括两个问题。第一个是给定两端边界的 Poisson 方程，以有限差分为基础，再做 Richardson 外推和线性打靶交叉验证。第二个是给定初值的常微分方程，用 RK4 求解，并与解析解及 Euler、RK2 比较。两条路线都围绕精度如何随步长变化展开。</a:t>
            </a:r>
          </a:p>
          <a:p>
            <a:endParaRPr/>
          </a:p>
          <a:p>
            <a:r>
              <a:t>资料来源：论文 §1.1–1.2。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建议用时：25 秒</a:t>
            </a:r>
          </a:p>
          <a:p>
            <a:endParaRPr/>
          </a:p>
          <a:p>
            <a:r>
              <a:t>程序由统一入口调用独立求解函数，数值结果先保存，再进行误差分析和绘图。这里主要报告最大节点误差。把步长减半后，用前后误差的比值计算相邻观测阶，同时对 log h 和 log E 做拟合。相邻阶反映局部趋势，拟合阶概括整个选定网格序列。</a:t>
            </a:r>
          </a:p>
          <a:p>
            <a:endParaRPr/>
          </a:p>
          <a:p>
            <a:r>
              <a:t>资料来源：论文 §1.3–1.4；runAll.m；src/common/errorNorms.m、computeOrder.m。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建议用时：35 秒</a:t>
            </a:r>
          </a:p>
          <a:p>
            <a:endParaRPr/>
          </a:p>
          <a:p>
            <a:r>
              <a:t>对区间等分，在每个内部节点用相邻三个节点近似二阶导数。泰勒展开给出二阶截断误差。把所有内部节点方程拼起来，就得到三对角系统，主对角线为负二，两侧为一，再除以步长平方。两端边界值已经给定，所以只有 N 减一个未知量，MATLAB 中用稀疏矩阵保存并求解。</a:t>
            </a:r>
          </a:p>
          <a:p>
            <a:endParaRPr/>
          </a:p>
          <a:p>
            <a:r>
              <a:t>资料来源：论文 §2.1–2.2；src/poisson/solvePoissonFD.m。插图为 AI 概念示意，无数据含义。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建议用时：25 秒</a:t>
            </a:r>
          </a:p>
          <a:p>
            <a:endParaRPr/>
          </a:p>
          <a:p>
            <a:r>
              <a:t>先看最粗的八等分网格。数值解和解析解都呈对称形状，两端满足零边界，内部解为负。最大节点误差出现在中点，约为三点三四乘十的负三次方。图中连接线只用于显示离散节点，定量误差比较使用的是相同节点上的数值解和解析值，接下来用网格加密验证阶数。</a:t>
            </a:r>
          </a:p>
          <a:p>
            <a:endParaRPr/>
          </a:p>
          <a:p>
            <a:r>
              <a:t>资料来源：论文 §2.3；figures/poisson_compare_n008.png；results/poisson_n008_points.csv、poisson_convergence.csv；runCoreExperiments.m，结果文件日期 2026-09-11。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建议用时：35 秒</a:t>
            </a:r>
          </a:p>
          <a:p>
            <a:endParaRPr/>
          </a:p>
          <a:p>
            <a:r>
              <a:t>当网格从八等分逐次加密到五百一十二等分，最大误差和 RMS 误差都沿二阶参考线下降。最大误差的拟合阶为二点零零二五，与理论二阶一致，也就是步长减半后误差大约变为四分之一。这里还需要区分两类误差：线性系统的代数残差很小，只能说明离散方程解得准，连续问题的精度仍要看离散误差和网格收敛。</a:t>
            </a:r>
          </a:p>
          <a:p>
            <a:endParaRPr/>
          </a:p>
          <a:p>
            <a:r>
              <a:t>资料来源：论文 §2.4；results/poisson_convergence.csv、poisson_analysis_summary.csv；figures/poisson_convergence_formal.png；runConvergenceExperiment.m，2026-09-11。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建议用时：35 秒</a:t>
            </a:r>
          </a:p>
          <a:p>
            <a:endParaRPr/>
          </a:p>
          <a:p>
            <a:r>
              <a:t>外推的核心是利用已知的误差结构。中心差分在光滑条件下的主误差项与步长平方成正比，步长减半后这一项变成原来的四分之一。因此将细网格解乘四，再减去粗网格解并除以三，就能消去二阶项，留下四阶误差。实现时最关键的是节点对应，要先从细网格隔一个点取值，再和粗网格解组合。</a:t>
            </a:r>
          </a:p>
          <a:p>
            <a:endParaRPr/>
          </a:p>
          <a:p>
            <a:r>
              <a:t>资料来源：论文 §3.1–3.2；src/poisson/richardsonExtrapolatePoisson.m。插图为 AI 生成概念示意。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建议用时：35 秒</a:t>
            </a:r>
          </a:p>
          <a:p>
            <a:endParaRPr/>
          </a:p>
          <a:p>
            <a:r>
              <a:t>实验中的外推误差沿四阶参考线下降，相邻观测阶也接近四。以十六等分粗网格为例，原有限差分最大误差约为八点二六乘十的负四次方，外推后约为七乘十的负七次方。这里是在同一组粗网格节点上比较，但外推额外使用了三十二等分细网格的计算结果，因此精度提升不能解释为零额外成本。</a:t>
            </a:r>
          </a:p>
          <a:p>
            <a:endParaRPr/>
          </a:p>
          <a:p>
            <a:r>
              <a:t>资料来源：论文 §3.3；results/poisson_richardson_summary.csv；figures/poisson_richardson_convergence.png；runRichardsonFigures.m，2026-09-11。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建议用时：35 秒</a:t>
            </a:r>
          </a:p>
          <a:p>
            <a:endParaRPr/>
          </a:p>
          <a:p>
            <a:r>
              <a:t>为了从另一条路径验证 Poisson 结果，我把二阶方程改写为关于 u 和 v 的一阶系统，复用向量形式的 RK4。先取零初始斜率得到 z，再利用本题的线性结构添加 s 乘 x 加一。令右端点满足零边界，可以直接求出 s 等于负的 z 一除以二，因此这里只需要一次积分和一次修正。这一简化依赖本题的特殊线性结构。</a:t>
            </a:r>
          </a:p>
          <a:p>
            <a:endParaRPr/>
          </a:p>
          <a:p>
            <a:r>
              <a:t>资料来源：论文 §6.1–6.2；src/poisson/solvePoissonShooting.m、src/ode/rk4Solve.m。插图为 AI 概念示意，不代表本题解曲线。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建议用时：30 秒</a:t>
            </a:r>
          </a:p>
          <a:p>
            <a:endParaRPr/>
          </a:p>
          <a:p>
            <a:r>
              <a:t>三方比较中，打靶法相对解析解的拟合阶为四点零零四二，有限差分相对解析解仍是二阶。两种数值方法的差值也表现为二阶，因为有限差分误差更大，主导了这个差值。因此不能把方法差值的二阶当成打靶法只有二阶。端点满足边界同样不足以说明内部解准确，内部精度要由解析解误差验证。</a:t>
            </a:r>
          </a:p>
          <a:p>
            <a:endParaRPr/>
          </a:p>
          <a:p>
            <a:r>
              <a:t>资料来源：论文 §6.3；results/poisson_shooting_analysis_summary.csv；figures/poisson_shooting_convergence.png；runShootingAnalysis.m，2026-09-11。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建议用时：35 秒</a:t>
            </a:r>
          </a:p>
          <a:p>
            <a:endParaRPr/>
          </a:p>
          <a:p>
            <a:r>
              <a:t>对于初值问题，用积分因子或符号计算都能得到这里的解析解，并检查方程残差和初值残差为零。RK4 每一步计算四个斜率：起点、两个中点估计和终点估计，再按一比二比二比一加权更新。代码中的 k 表示斜率，本身不含步长，步长在更新时乘入。这个求解器同时支持标量状态和打靶法使用的向量状态。</a:t>
            </a:r>
          </a:p>
          <a:p>
            <a:endParaRPr/>
          </a:p>
          <a:p>
            <a:r>
              <a:t>资料来源：论文 §4.1–4.2；src/ode/ivpExactSymbolic.m、rk4Solve.m。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建议用时：35 秒</a:t>
            </a:r>
          </a:p>
          <a:p>
            <a:endParaRPr/>
          </a:p>
          <a:p>
            <a:r>
              <a:t>左图显示 RK4 数值解与解析解基本重合，但曲线重合还不足以量化精度。右图把步长从零点五逐次减半，最大误差和 RMS 误差按接近四阶的规律下降，最大误差拟合阶为四点零三六七。也就是说，进入渐近区间后，步长减半，误差大约降到原来的十六分之一，与经典 RK4 的全局四阶精度一致。</a:t>
            </a:r>
          </a:p>
          <a:p>
            <a:endParaRPr/>
          </a:p>
          <a:p>
            <a:r>
              <a:t>资料来源：论文 §4.3–4.4；results/ode_convergence.csv；figures/ode_rk4_solution_comparison.png、ode_rk4_convergence_formal.png；runOdeFigureAnalysis.m、runConvergenceExperiment.m，2026-09-11。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建议用时：35 秒</a:t>
            </a:r>
          </a:p>
          <a:p>
            <a:endParaRPr/>
          </a:p>
          <a:p>
            <a:r>
              <a:t>将 Euler、Heun 型 RK2 和 RK4 放在同一个问题、同一组步数下比较，三条误差曲线的下降速度明显不同。拟合阶分别约为一点零一八、二点零四七和四点零三七，与理论一阶、二阶和四阶一致。在本题的网格范围内，RK4 在相同步长下误差最小。不过每一步的计算成本也不同，还需要进一步比较相同函数调用预算下的表现。</a:t>
            </a:r>
          </a:p>
          <a:p>
            <a:endParaRPr/>
          </a:p>
          <a:p>
            <a:r>
              <a:t>资料来源：论文 §5.1–5.2；results/ode_method_comparison.csv；figures/ode_methods_convergence.png；runOdeMethodComparison.m，2026-09-11。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建议用时：35 秒</a:t>
            </a:r>
          </a:p>
          <a:p>
            <a:endParaRPr/>
          </a:p>
          <a:p>
            <a:r>
              <a:t>为了更公平地比较，以右端函数调用次数作为工作量。Euler 每步一次，RK2 两次，RK4 四次。在九十六次调用预算下，三者分别取九十六、四十八和二十四步，最大误差依次约为二点零五乘十的负二、一点五一乘十的负三和三点七九乘十的负六次方。RK4 在这组预算下仍有明显精度优势。实际耗时另做重复计时，结论只对应当前问题、实现与运行环境。</a:t>
            </a:r>
          </a:p>
          <a:p>
            <a:endParaRPr/>
          </a:p>
          <a:p>
            <a:r>
              <a:t>资料来源：论文 §5.3–5.4；results/ode_method_comparison.csv；figures/ode_methods_work_precision.png；runOdeMethodComparison.m，2026-09-11。W=96 行精确筛选，表中按三位有效数字显示。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建议用时：30 秒</a:t>
            </a:r>
          </a:p>
          <a:p>
            <a:endParaRPr/>
          </a:p>
          <a:p>
            <a:r>
              <a:t>最后总结三点。有限差分实现了稀疏离散，网格实验验证了二阶收敛。Richardson 外推和 RK4 打靶都体现了四阶精度，其中打靶还提供了独立的交叉验证路径。对于初值问题，在本文采用的步长和函数调用预算下，RK4 表现出更高精度。整个项目把理论推导、程序实现与可回查的实验结果对应起来。我的汇报到此结束，谢谢老师。</a:t>
            </a:r>
          </a:p>
          <a:p>
            <a:endParaRPr/>
          </a:p>
          <a:p>
            <a:r>
              <a:t>资料来源：论文结论；results/poisson_convergence.csv、poisson_richardson_summary.csv、poisson_shooting_analysis_summary.csv、ode_convergence.csv、ode_method_comparison.csv。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00875" y="428625"/>
            <a:ext cx="7715250" cy="7715250"/>
          </a:xfrm>
          <a:prstGeom prst="rect">
            <a:avLst/>
          </a:prstGeom>
        </p:spPr>
      </p:pic>
      <p:sp>
        <p:nvSpPr>
          <p:cNvPr id="2" name="text-1">
            <a:extLst>
              <a:ext uri="{FF2B5EF4-FFF2-40B4-BE49-F238E27FC236}">
                <a16:creationId xmlns:a16="http://schemas.microsoft.com/office/drawing/2014/main" id="{E22AABFF-E898-4671-AC5C-28FD12A8BED6}"/>
              </a:ext>
            </a:extLst>
          </p:cNvPr>
          <p:cNvSpPr>
            <a:spLocks noGrp="1"/>
          </p:cNvSpPr>
          <p:nvPr/>
        </p:nvSpPr>
        <p:spPr>
          <a:xfrm>
            <a:off x="914400" y="85725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MATLAB  数值计算专题实践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08981C7-DE7F-4F89-BAFD-6C1C6BAFC8A3}"/>
              </a:ext>
            </a:extLst>
          </p:cNvPr>
          <p:cNvSpPr>
            <a:spLocks noGrp="1"/>
          </p:cNvSpPr>
          <p:nvPr/>
        </p:nvSpPr>
        <p:spPr>
          <a:xfrm>
            <a:off x="876300" y="2238375"/>
            <a:ext cx="7810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487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一维 Poisson 方程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DBD479AE-48BE-4545-85B8-C01A66454FF9}"/>
              </a:ext>
            </a:extLst>
          </p:cNvPr>
          <p:cNvSpPr>
            <a:spLocks noGrp="1"/>
          </p:cNvSpPr>
          <p:nvPr/>
        </p:nvSpPr>
        <p:spPr>
          <a:xfrm>
            <a:off x="876300" y="3171825"/>
            <a:ext cx="7524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487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与常微分方程的</a:t>
            </a:r>
          </a:p>
        </p:txBody>
      </p:sp>
      <p:sp>
        <p:nvSpPr>
          <p:cNvPr id="5" name="text-3">
            <a:extLst>
              <a:ext uri="{FF2B5EF4-FFF2-40B4-BE49-F238E27FC236}">
                <a16:creationId xmlns:a16="http://schemas.microsoft.com/office/drawing/2014/main" id="{D6713B1A-E2C7-4956-AB89-1BCB24FF518A}"/>
              </a:ext>
            </a:extLst>
          </p:cNvPr>
          <p:cNvSpPr>
            <a:spLocks noGrp="1"/>
          </p:cNvSpPr>
          <p:nvPr/>
        </p:nvSpPr>
        <p:spPr>
          <a:xfrm>
            <a:off x="876300" y="4124325"/>
            <a:ext cx="814387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4875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rPr>
              <a:t>数值求解及误差分析</a:t>
            </a:r>
          </a:p>
        </p:txBody>
      </p:sp>
      <p:sp>
        <p:nvSpPr>
          <p:cNvPr id="6" name="text-4">
            <a:extLst>
              <a:ext uri="{FF2B5EF4-FFF2-40B4-BE49-F238E27FC236}">
                <a16:creationId xmlns:a16="http://schemas.microsoft.com/office/drawing/2014/main" id="{6A49423D-93D8-41AC-B4CE-18B4242EC935}"/>
              </a:ext>
            </a:extLst>
          </p:cNvPr>
          <p:cNvSpPr>
            <a:spLocks noGrp="1"/>
          </p:cNvSpPr>
          <p:nvPr/>
        </p:nvSpPr>
        <p:spPr>
          <a:xfrm>
            <a:off x="914400" y="5410200"/>
            <a:ext cx="7810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rPr>
              <a:t>有限差分  /  Runge–Kutta  /  Richardson 外推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4082FC3D-1AAF-4720-953F-3BDEAA45B463}"/>
              </a:ext>
            </a:extLst>
          </p:cNvPr>
          <p:cNvSpPr>
            <a:spLocks noGrp="1"/>
          </p:cNvSpPr>
          <p:nvPr/>
        </p:nvSpPr>
        <p:spPr>
          <a:xfrm>
            <a:off x="914400" y="6981825"/>
            <a:ext cx="2571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庄肃涵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EAC90DDD-2E54-49F6-9A71-E0D772C83226}"/>
              </a:ext>
            </a:extLst>
          </p:cNvPr>
          <p:cNvSpPr>
            <a:spLocks noGrp="1"/>
          </p:cNvSpPr>
          <p:nvPr/>
        </p:nvSpPr>
        <p:spPr>
          <a:xfrm>
            <a:off x="914400" y="7486650"/>
            <a:ext cx="3619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rPr>
              <a:t>工程力学拔尖班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2CB69DC3-FE7B-42C0-A418-44E193662635}"/>
              </a:ext>
            </a:extLst>
          </p:cNvPr>
          <p:cNvSpPr>
            <a:spLocks noGrp="1"/>
          </p:cNvSpPr>
          <p:nvPr/>
        </p:nvSpPr>
        <p:spPr>
          <a:xfrm>
            <a:off x="12858750" y="7724775"/>
            <a:ext cx="1809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7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10358132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-8">
            <a:extLst>
              <a:ext uri="{FF2B5EF4-FFF2-40B4-BE49-F238E27FC236}">
                <a16:creationId xmlns:a16="http://schemas.microsoft.com/office/drawing/2014/main" id="{02B1E410-92B0-46A4-BA7A-C5C1930042CC}"/>
              </a:ext>
            </a:extLst>
          </p:cNvPr>
          <p:cNvSpPr>
            <a:spLocks noGrp="1"/>
          </p:cNvSpPr>
          <p:nvPr/>
        </p:nvSpPr>
        <p:spPr>
          <a:xfrm>
            <a:off x="781050" y="457200"/>
            <a:ext cx="11906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问题与总体设计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F0596AD-EC12-4DE9-A60D-E7AD611BB0D0}"/>
              </a:ext>
            </a:extLst>
          </p:cNvPr>
          <p:cNvSpPr>
            <a:spLocks noGrp="1"/>
          </p:cNvSpPr>
          <p:nvPr/>
        </p:nvSpPr>
        <p:spPr>
          <a:xfrm>
            <a:off x="762000" y="952500"/>
            <a:ext cx="13716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研究问题与求解路线</a:t>
            </a:r>
          </a:p>
        </p:txBody>
      </p:sp>
      <p:sp>
        <p:nvSpPr>
          <p:cNvPr id="3" name="text-9">
            <a:extLst>
              <a:ext uri="{FF2B5EF4-FFF2-40B4-BE49-F238E27FC236}">
                <a16:creationId xmlns:a16="http://schemas.microsoft.com/office/drawing/2014/main" id="{56EFD3E6-CB6D-4221-8A1B-87843D40DDDE}"/>
              </a:ext>
            </a:extLst>
          </p:cNvPr>
          <p:cNvSpPr>
            <a:spLocks noGrp="1"/>
          </p:cNvSpPr>
          <p:nvPr/>
        </p:nvSpPr>
        <p:spPr>
          <a:xfrm>
            <a:off x="13811250" y="7762875"/>
            <a:ext cx="666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-10">
            <a:extLst>
              <a:ext uri="{FF2B5EF4-FFF2-40B4-BE49-F238E27FC236}">
                <a16:creationId xmlns:a16="http://schemas.microsoft.com/office/drawing/2014/main" id="{4CD3B640-AEA1-4AB6-94D6-5101C45A383C}"/>
              </a:ext>
            </a:extLst>
          </p:cNvPr>
          <p:cNvSpPr>
            <a:spLocks noGrp="1"/>
          </p:cNvSpPr>
          <p:nvPr/>
        </p:nvSpPr>
        <p:spPr>
          <a:xfrm>
            <a:off x="781050" y="2286000"/>
            <a:ext cx="6572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Poisson 边值问题</a:t>
            </a:r>
          </a:p>
        </p:txBody>
      </p:sp>
      <p:sp>
        <p:nvSpPr>
          <p:cNvPr id="5" name="text-11">
            <a:extLst>
              <a:ext uri="{FF2B5EF4-FFF2-40B4-BE49-F238E27FC236}">
                <a16:creationId xmlns:a16="http://schemas.microsoft.com/office/drawing/2014/main" id="{3D06051F-BF97-45BD-93FA-32C985CFFAA6}"/>
              </a:ext>
            </a:extLst>
          </p:cNvPr>
          <p:cNvSpPr>
            <a:spLocks noGrp="1"/>
          </p:cNvSpPr>
          <p:nvPr/>
        </p:nvSpPr>
        <p:spPr>
          <a:xfrm>
            <a:off x="781050" y="3057525"/>
            <a:ext cx="6858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67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u″(x) = exp(−x²)</a:t>
            </a:r>
          </a:p>
        </p:txBody>
      </p:sp>
      <p:sp>
        <p:nvSpPr>
          <p:cNvPr id="6" name="text-12">
            <a:extLst>
              <a:ext uri="{FF2B5EF4-FFF2-40B4-BE49-F238E27FC236}">
                <a16:creationId xmlns:a16="http://schemas.microsoft.com/office/drawing/2014/main" id="{35013A04-D10E-4227-995A-E16D98A4B421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6715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rPr>
              <a:t>x ∈ [−1, 1]，u(−1) = u(1) = 0</a:t>
            </a:r>
          </a:p>
        </p:txBody>
      </p:sp>
      <p:sp>
        <p:nvSpPr>
          <p:cNvPr id="7" name="text-13">
            <a:extLst>
              <a:ext uri="{FF2B5EF4-FFF2-40B4-BE49-F238E27FC236}">
                <a16:creationId xmlns:a16="http://schemas.microsoft.com/office/drawing/2014/main" id="{2C82DA44-5CE9-431D-80BE-846439509C53}"/>
              </a:ext>
            </a:extLst>
          </p:cNvPr>
          <p:cNvSpPr>
            <a:spLocks noGrp="1"/>
          </p:cNvSpPr>
          <p:nvPr/>
        </p:nvSpPr>
        <p:spPr>
          <a:xfrm>
            <a:off x="781050" y="5086350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有限差分</a:t>
            </a:r>
          </a:p>
        </p:txBody>
      </p:sp>
      <p:sp>
        <p:nvSpPr>
          <p:cNvPr id="8" name="text-14">
            <a:extLst>
              <a:ext uri="{FF2B5EF4-FFF2-40B4-BE49-F238E27FC236}">
                <a16:creationId xmlns:a16="http://schemas.microsoft.com/office/drawing/2014/main" id="{E82AC908-645A-4D96-AF99-9CFFB0B58167}"/>
              </a:ext>
            </a:extLst>
          </p:cNvPr>
          <p:cNvSpPr>
            <a:spLocks noGrp="1"/>
          </p:cNvSpPr>
          <p:nvPr/>
        </p:nvSpPr>
        <p:spPr>
          <a:xfrm>
            <a:off x="781050" y="5695950"/>
            <a:ext cx="5619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rPr>
              <a:t>Richardson 外推</a:t>
            </a:r>
          </a:p>
        </p:txBody>
      </p:sp>
      <p:sp>
        <p:nvSpPr>
          <p:cNvPr id="9" name="text-15">
            <a:extLst>
              <a:ext uri="{FF2B5EF4-FFF2-40B4-BE49-F238E27FC236}">
                <a16:creationId xmlns:a16="http://schemas.microsoft.com/office/drawing/2014/main" id="{0FC5CD6C-433A-4672-B3A9-26AB32DC2FF3}"/>
              </a:ext>
            </a:extLst>
          </p:cNvPr>
          <p:cNvSpPr>
            <a:spLocks noGrp="1"/>
          </p:cNvSpPr>
          <p:nvPr/>
        </p:nvSpPr>
        <p:spPr>
          <a:xfrm>
            <a:off x="781050" y="6286500"/>
            <a:ext cx="5715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线性打靶交叉验证</a:t>
            </a:r>
          </a:p>
        </p:txBody>
      </p:sp>
      <p:sp>
        <p:nvSpPr>
          <p:cNvPr id="10" name="text-16">
            <a:extLst>
              <a:ext uri="{FF2B5EF4-FFF2-40B4-BE49-F238E27FC236}">
                <a16:creationId xmlns:a16="http://schemas.microsoft.com/office/drawing/2014/main" id="{3B7D2DA7-3A79-4DE0-9175-F8FC8F3CB7D6}"/>
              </a:ext>
            </a:extLst>
          </p:cNvPr>
          <p:cNvSpPr>
            <a:spLocks noGrp="1"/>
          </p:cNvSpPr>
          <p:nvPr/>
        </p:nvSpPr>
        <p:spPr>
          <a:xfrm>
            <a:off x="8286750" y="2286000"/>
            <a:ext cx="614362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常微分方程初值问题</a:t>
            </a:r>
          </a:p>
        </p:txBody>
      </p:sp>
      <p:sp>
        <p:nvSpPr>
          <p:cNvPr id="11" name="text-17">
            <a:extLst>
              <a:ext uri="{FF2B5EF4-FFF2-40B4-BE49-F238E27FC236}">
                <a16:creationId xmlns:a16="http://schemas.microsoft.com/office/drawing/2014/main" id="{6DF47477-C8E4-4519-BA44-FD4026D54667}"/>
              </a:ext>
            </a:extLst>
          </p:cNvPr>
          <p:cNvSpPr>
            <a:spLocks noGrp="1"/>
          </p:cNvSpPr>
          <p:nvPr/>
        </p:nvSpPr>
        <p:spPr>
          <a:xfrm>
            <a:off x="8286750" y="3057525"/>
            <a:ext cx="6286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5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y′(t) = −y + t² + 3</a:t>
            </a:r>
          </a:p>
        </p:txBody>
      </p:sp>
      <p:sp>
        <p:nvSpPr>
          <p:cNvPr id="12" name="text-18">
            <a:extLst>
              <a:ext uri="{FF2B5EF4-FFF2-40B4-BE49-F238E27FC236}">
                <a16:creationId xmlns:a16="http://schemas.microsoft.com/office/drawing/2014/main" id="{B1FE5486-44E1-45EE-8007-0B27372119EB}"/>
              </a:ext>
            </a:extLst>
          </p:cNvPr>
          <p:cNvSpPr>
            <a:spLocks noGrp="1"/>
          </p:cNvSpPr>
          <p:nvPr/>
        </p:nvSpPr>
        <p:spPr>
          <a:xfrm>
            <a:off x="8286750" y="3952875"/>
            <a:ext cx="6191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rPr>
              <a:t>t ∈ [0, 3]，y(0) = 1</a:t>
            </a:r>
          </a:p>
        </p:txBody>
      </p:sp>
      <p:sp>
        <p:nvSpPr>
          <p:cNvPr id="13" name="text-19">
            <a:extLst>
              <a:ext uri="{FF2B5EF4-FFF2-40B4-BE49-F238E27FC236}">
                <a16:creationId xmlns:a16="http://schemas.microsoft.com/office/drawing/2014/main" id="{ED0BAF1B-B80C-45C0-937C-F5E06F573324}"/>
              </a:ext>
            </a:extLst>
          </p:cNvPr>
          <p:cNvSpPr>
            <a:spLocks noGrp="1"/>
          </p:cNvSpPr>
          <p:nvPr/>
        </p:nvSpPr>
        <p:spPr>
          <a:xfrm>
            <a:off x="8286750" y="5086350"/>
            <a:ext cx="5143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经典 RK4</a:t>
            </a:r>
          </a:p>
        </p:txBody>
      </p:sp>
      <p:sp>
        <p:nvSpPr>
          <p:cNvPr id="14" name="text-20">
            <a:extLst>
              <a:ext uri="{FF2B5EF4-FFF2-40B4-BE49-F238E27FC236}">
                <a16:creationId xmlns:a16="http://schemas.microsoft.com/office/drawing/2014/main" id="{E99E988D-210A-4F14-86A1-D0826DE6433E}"/>
              </a:ext>
            </a:extLst>
          </p:cNvPr>
          <p:cNvSpPr>
            <a:spLocks noGrp="1"/>
          </p:cNvSpPr>
          <p:nvPr/>
        </p:nvSpPr>
        <p:spPr>
          <a:xfrm>
            <a:off x="8286750" y="5695950"/>
            <a:ext cx="5715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rPr>
              <a:t>解析解验证</a:t>
            </a:r>
          </a:p>
        </p:txBody>
      </p:sp>
      <p:sp>
        <p:nvSpPr>
          <p:cNvPr id="15" name="text-21">
            <a:extLst>
              <a:ext uri="{FF2B5EF4-FFF2-40B4-BE49-F238E27FC236}">
                <a16:creationId xmlns:a16="http://schemas.microsoft.com/office/drawing/2014/main" id="{67FFCD77-8827-4CF3-9F03-35FB65A88250}"/>
              </a:ext>
            </a:extLst>
          </p:cNvPr>
          <p:cNvSpPr>
            <a:spLocks noGrp="1"/>
          </p:cNvSpPr>
          <p:nvPr/>
        </p:nvSpPr>
        <p:spPr>
          <a:xfrm>
            <a:off x="8286750" y="6286500"/>
            <a:ext cx="6286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Euler / RK2 / RK4 比较</a:t>
            </a:r>
          </a:p>
        </p:txBody>
      </p:sp>
    </p:spTree>
    <p:extLst>
      <p:ext uri="{BB962C8B-B14F-4D97-AF65-F5344CB8AC3E}">
        <p14:creationId xmlns:p14="http://schemas.microsoft.com/office/powerpoint/2010/main" val="928043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-22">
            <a:extLst>
              <a:ext uri="{FF2B5EF4-FFF2-40B4-BE49-F238E27FC236}">
                <a16:creationId xmlns:a16="http://schemas.microsoft.com/office/drawing/2014/main" id="{2E7C0CB7-EDDA-4FE0-B19F-0B8960B80859}"/>
              </a:ext>
            </a:extLst>
          </p:cNvPr>
          <p:cNvSpPr>
            <a:spLocks noGrp="1"/>
          </p:cNvSpPr>
          <p:nvPr/>
        </p:nvSpPr>
        <p:spPr>
          <a:xfrm>
            <a:off x="781050" y="457200"/>
            <a:ext cx="11906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问题与总体设计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74ABB3D-77AA-4FE1-8B0A-3F70AD06A12E}"/>
              </a:ext>
            </a:extLst>
          </p:cNvPr>
          <p:cNvSpPr>
            <a:spLocks noGrp="1"/>
          </p:cNvSpPr>
          <p:nvPr/>
        </p:nvSpPr>
        <p:spPr>
          <a:xfrm>
            <a:off x="762000" y="952500"/>
            <a:ext cx="13716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程序组织与评价指标</a:t>
            </a:r>
          </a:p>
        </p:txBody>
      </p:sp>
      <p:sp>
        <p:nvSpPr>
          <p:cNvPr id="3" name="text-23">
            <a:extLst>
              <a:ext uri="{FF2B5EF4-FFF2-40B4-BE49-F238E27FC236}">
                <a16:creationId xmlns:a16="http://schemas.microsoft.com/office/drawing/2014/main" id="{7DA0399F-A80D-4BE6-9B36-99E6788087A1}"/>
              </a:ext>
            </a:extLst>
          </p:cNvPr>
          <p:cNvSpPr>
            <a:spLocks noGrp="1"/>
          </p:cNvSpPr>
          <p:nvPr/>
        </p:nvSpPr>
        <p:spPr>
          <a:xfrm>
            <a:off x="13811250" y="7762875"/>
            <a:ext cx="666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ext-24">
            <a:extLst>
              <a:ext uri="{FF2B5EF4-FFF2-40B4-BE49-F238E27FC236}">
                <a16:creationId xmlns:a16="http://schemas.microsoft.com/office/drawing/2014/main" id="{59294847-26E2-4F4D-BA15-619624F3C3E9}"/>
              </a:ext>
            </a:extLst>
          </p:cNvPr>
          <p:cNvSpPr>
            <a:spLocks noGrp="1"/>
          </p:cNvSpPr>
          <p:nvPr/>
        </p:nvSpPr>
        <p:spPr>
          <a:xfrm>
            <a:off x="781050" y="2219325"/>
            <a:ext cx="4857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60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runAll.m</a:t>
            </a:r>
          </a:p>
        </p:txBody>
      </p:sp>
      <p:sp>
        <p:nvSpPr>
          <p:cNvPr id="5" name="text-25">
            <a:extLst>
              <a:ext uri="{FF2B5EF4-FFF2-40B4-BE49-F238E27FC236}">
                <a16:creationId xmlns:a16="http://schemas.microsoft.com/office/drawing/2014/main" id="{A425876E-B14B-460C-BF45-745E5A78EB9E}"/>
              </a:ext>
            </a:extLst>
          </p:cNvPr>
          <p:cNvSpPr>
            <a:spLocks noGrp="1"/>
          </p:cNvSpPr>
          <p:nvPr/>
        </p:nvSpPr>
        <p:spPr>
          <a:xfrm>
            <a:off x="781050" y="3209925"/>
            <a:ext cx="5572125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6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调用独立求解函数</a:t>
            </a:r>
          </a:p>
        </p:txBody>
      </p:sp>
      <p:sp>
        <p:nvSpPr>
          <p:cNvPr id="6" name="text-26">
            <a:extLst>
              <a:ext uri="{FF2B5EF4-FFF2-40B4-BE49-F238E27FC236}">
                <a16:creationId xmlns:a16="http://schemas.microsoft.com/office/drawing/2014/main" id="{C6EF4420-E23D-484A-B27E-207A76C24C96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604837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原始数据保存到 results/</a:t>
            </a:r>
          </a:p>
        </p:txBody>
      </p:sp>
      <p:sp>
        <p:nvSpPr>
          <p:cNvPr id="7" name="text-27">
            <a:extLst>
              <a:ext uri="{FF2B5EF4-FFF2-40B4-BE49-F238E27FC236}">
                <a16:creationId xmlns:a16="http://schemas.microsoft.com/office/drawing/2014/main" id="{94797E7B-2B20-4048-9C66-08BAD60B3B1F}"/>
              </a:ext>
            </a:extLst>
          </p:cNvPr>
          <p:cNvSpPr>
            <a:spLocks noGrp="1"/>
          </p:cNvSpPr>
          <p:nvPr/>
        </p:nvSpPr>
        <p:spPr>
          <a:xfrm>
            <a:off x="781050" y="5095875"/>
            <a:ext cx="6191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0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rPr>
              <a:t>读取数据，生成 figures/</a:t>
            </a:r>
          </a:p>
        </p:txBody>
      </p:sp>
      <p:sp>
        <p:nvSpPr>
          <p:cNvPr id="8" name="text-28">
            <a:extLst>
              <a:ext uri="{FF2B5EF4-FFF2-40B4-BE49-F238E27FC236}">
                <a16:creationId xmlns:a16="http://schemas.microsoft.com/office/drawing/2014/main" id="{A8F26A3D-F7E7-420B-AB7F-901766FB786F}"/>
              </a:ext>
            </a:extLst>
          </p:cNvPr>
          <p:cNvSpPr>
            <a:spLocks noGrp="1"/>
          </p:cNvSpPr>
          <p:nvPr/>
        </p:nvSpPr>
        <p:spPr>
          <a:xfrm>
            <a:off x="781050" y="6334125"/>
            <a:ext cx="63817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rPr>
              <a:t>误差和结论均可回查到保存结果</a:t>
            </a:r>
          </a:p>
        </p:txBody>
      </p:sp>
      <p:sp>
        <p:nvSpPr>
          <p:cNvPr id="9" name="text-29">
            <a:extLst>
              <a:ext uri="{FF2B5EF4-FFF2-40B4-BE49-F238E27FC236}">
                <a16:creationId xmlns:a16="http://schemas.microsoft.com/office/drawing/2014/main" id="{5172565E-0742-48D1-B306-EF55605FAC65}"/>
              </a:ext>
            </a:extLst>
          </p:cNvPr>
          <p:cNvSpPr>
            <a:spLocks noGrp="1"/>
          </p:cNvSpPr>
          <p:nvPr/>
        </p:nvSpPr>
        <p:spPr>
          <a:xfrm>
            <a:off x="7953375" y="2219325"/>
            <a:ext cx="6381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最大节点误差</a:t>
            </a:r>
          </a:p>
        </p:txBody>
      </p:sp>
      <p:sp>
        <p:nvSpPr>
          <p:cNvPr id="10" name="text-30">
            <a:extLst>
              <a:ext uri="{FF2B5EF4-FFF2-40B4-BE49-F238E27FC236}">
                <a16:creationId xmlns:a16="http://schemas.microsoft.com/office/drawing/2014/main" id="{2311DDD3-C62B-48C4-863E-41DDC5095A6C}"/>
              </a:ext>
            </a:extLst>
          </p:cNvPr>
          <p:cNvSpPr>
            <a:spLocks noGrp="1"/>
          </p:cNvSpPr>
          <p:nvPr/>
        </p:nvSpPr>
        <p:spPr>
          <a:xfrm>
            <a:off x="7953375" y="2867025"/>
            <a:ext cx="65246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2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E∞(h) = max |uᵢ − u(xᵢ)|</a:t>
            </a:r>
          </a:p>
        </p:txBody>
      </p:sp>
      <p:sp>
        <p:nvSpPr>
          <p:cNvPr id="11" name="text-31">
            <a:extLst>
              <a:ext uri="{FF2B5EF4-FFF2-40B4-BE49-F238E27FC236}">
                <a16:creationId xmlns:a16="http://schemas.microsoft.com/office/drawing/2014/main" id="{656033AF-30C2-4E75-AE03-143CADFAD1AA}"/>
              </a:ext>
            </a:extLst>
          </p:cNvPr>
          <p:cNvSpPr>
            <a:spLocks noGrp="1"/>
          </p:cNvSpPr>
          <p:nvPr/>
        </p:nvSpPr>
        <p:spPr>
          <a:xfrm>
            <a:off x="7953375" y="3905250"/>
            <a:ext cx="6381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相邻网格观测阶</a:t>
            </a:r>
          </a:p>
        </p:txBody>
      </p:sp>
      <p:sp>
        <p:nvSpPr>
          <p:cNvPr id="12" name="text-32">
            <a:extLst>
              <a:ext uri="{FF2B5EF4-FFF2-40B4-BE49-F238E27FC236}">
                <a16:creationId xmlns:a16="http://schemas.microsoft.com/office/drawing/2014/main" id="{BDF67DAD-D285-4BA2-A8E5-BC89D01EE63A}"/>
              </a:ext>
            </a:extLst>
          </p:cNvPr>
          <p:cNvSpPr>
            <a:spLocks noGrp="1"/>
          </p:cNvSpPr>
          <p:nvPr/>
        </p:nvSpPr>
        <p:spPr>
          <a:xfrm>
            <a:off x="7953375" y="4552950"/>
            <a:ext cx="65246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2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p = log₂[E(h) / E(h/2)]</a:t>
            </a:r>
          </a:p>
        </p:txBody>
      </p:sp>
      <p:sp>
        <p:nvSpPr>
          <p:cNvPr id="13" name="text-33">
            <a:extLst>
              <a:ext uri="{FF2B5EF4-FFF2-40B4-BE49-F238E27FC236}">
                <a16:creationId xmlns:a16="http://schemas.microsoft.com/office/drawing/2014/main" id="{D92C960A-8215-4AF2-A8DF-4B30B25AC677}"/>
              </a:ext>
            </a:extLst>
          </p:cNvPr>
          <p:cNvSpPr>
            <a:spLocks noGrp="1"/>
          </p:cNvSpPr>
          <p:nvPr/>
        </p:nvSpPr>
        <p:spPr>
          <a:xfrm>
            <a:off x="7953375" y="5610225"/>
            <a:ext cx="6286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对数拟合阶</a:t>
            </a:r>
          </a:p>
        </p:txBody>
      </p:sp>
      <p:sp>
        <p:nvSpPr>
          <p:cNvPr id="14" name="text-34">
            <a:extLst>
              <a:ext uri="{FF2B5EF4-FFF2-40B4-BE49-F238E27FC236}">
                <a16:creationId xmlns:a16="http://schemas.microsoft.com/office/drawing/2014/main" id="{5D85E94A-04A6-473B-A468-2EB682735572}"/>
              </a:ext>
            </a:extLst>
          </p:cNvPr>
          <p:cNvSpPr>
            <a:spLocks noGrp="1"/>
          </p:cNvSpPr>
          <p:nvPr/>
        </p:nvSpPr>
        <p:spPr>
          <a:xfrm>
            <a:off x="7953375" y="6219825"/>
            <a:ext cx="6477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925" b="0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0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rPr>
              <a:t>log E ≈ p log h + log C</a:t>
            </a:r>
          </a:p>
        </p:txBody>
      </p:sp>
    </p:spTree>
    <p:extLst>
      <p:ext uri="{BB962C8B-B14F-4D97-AF65-F5344CB8AC3E}">
        <p14:creationId xmlns:p14="http://schemas.microsoft.com/office/powerpoint/2010/main" val="822572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35">
            <a:extLst>
              <a:ext uri="{FF2B5EF4-FFF2-40B4-BE49-F238E27FC236}">
                <a16:creationId xmlns:a16="http://schemas.microsoft.com/office/drawing/2014/main" id="{14097911-EA47-461F-B6C8-AF7ACAB2F128}"/>
              </a:ext>
            </a:extLst>
          </p:cNvPr>
          <p:cNvSpPr>
            <a:spLocks noGrp="1"/>
          </p:cNvSpPr>
          <p:nvPr/>
        </p:nvSpPr>
        <p:spPr>
          <a:xfrm>
            <a:off x="781050" y="457200"/>
            <a:ext cx="11906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Poisson 方程的有限差分求解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A97F3-52E8-44AC-8DFD-A2476CD1E975}"/>
              </a:ext>
            </a:extLst>
          </p:cNvPr>
          <p:cNvSpPr>
            <a:spLocks noGrp="1"/>
          </p:cNvSpPr>
          <p:nvPr/>
        </p:nvSpPr>
        <p:spPr>
          <a:xfrm>
            <a:off x="762000" y="952500"/>
            <a:ext cx="13716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二阶中心差分与稀疏三对角系统</a:t>
            </a:r>
          </a:p>
        </p:txBody>
      </p:sp>
      <p:sp>
        <p:nvSpPr>
          <p:cNvPr id="3" name="text-36">
            <a:extLst>
              <a:ext uri="{FF2B5EF4-FFF2-40B4-BE49-F238E27FC236}">
                <a16:creationId xmlns:a16="http://schemas.microsoft.com/office/drawing/2014/main" id="{921FB22A-4B6C-4019-A796-C304873BD3F2}"/>
              </a:ext>
            </a:extLst>
          </p:cNvPr>
          <p:cNvSpPr>
            <a:spLocks noGrp="1"/>
          </p:cNvSpPr>
          <p:nvPr/>
        </p:nvSpPr>
        <p:spPr>
          <a:xfrm>
            <a:off x="13811250" y="7762875"/>
            <a:ext cx="666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0" y="2171700"/>
            <a:ext cx="5715000" cy="4286250"/>
          </a:xfrm>
          <a:prstGeom prst="rect">
            <a:avLst/>
          </a:prstGeom>
        </p:spPr>
      </p:pic>
      <p:sp>
        <p:nvSpPr>
          <p:cNvPr id="5" name="text-37">
            <a:extLst>
              <a:ext uri="{FF2B5EF4-FFF2-40B4-BE49-F238E27FC236}">
                <a16:creationId xmlns:a16="http://schemas.microsoft.com/office/drawing/2014/main" id="{88C0D2D1-9B04-4C5A-9123-A5B2F8AE2A3C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150" b="0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h = 2/N，xᵢ = −1 + ih</a:t>
            </a:r>
          </a:p>
        </p:txBody>
      </p:sp>
      <p:sp>
        <p:nvSpPr>
          <p:cNvPr id="6" name="text-38">
            <a:extLst>
              <a:ext uri="{FF2B5EF4-FFF2-40B4-BE49-F238E27FC236}">
                <a16:creationId xmlns:a16="http://schemas.microsoft.com/office/drawing/2014/main" id="{DEDEF93F-DDF3-4952-A141-657FE24F529B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77628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2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(Uᵢ₋₁ − 2Uᵢ + Uᵢ₊₁) / h²</a:t>
            </a:r>
          </a:p>
        </p:txBody>
      </p:sp>
      <p:sp>
        <p:nvSpPr>
          <p:cNvPr id="7" name="text-39">
            <a:extLst>
              <a:ext uri="{FF2B5EF4-FFF2-40B4-BE49-F238E27FC236}">
                <a16:creationId xmlns:a16="http://schemas.microsoft.com/office/drawing/2014/main" id="{975FB0F3-3FB5-4EAA-B5F7-B1F4EA84EAEA}"/>
              </a:ext>
            </a:extLst>
          </p:cNvPr>
          <p:cNvSpPr>
            <a:spLocks noGrp="1"/>
          </p:cNvSpPr>
          <p:nvPr/>
        </p:nvSpPr>
        <p:spPr>
          <a:xfrm>
            <a:off x="781050" y="4038600"/>
            <a:ext cx="723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2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= exp(−xᵢ²)</a:t>
            </a:r>
          </a:p>
        </p:txBody>
      </p:sp>
      <p:sp>
        <p:nvSpPr>
          <p:cNvPr id="8" name="text-40">
            <a:extLst>
              <a:ext uri="{FF2B5EF4-FFF2-40B4-BE49-F238E27FC236}">
                <a16:creationId xmlns:a16="http://schemas.microsoft.com/office/drawing/2014/main" id="{ED6B8D4A-A67C-47E7-8D7D-D13BB6337ABD}"/>
              </a:ext>
            </a:extLst>
          </p:cNvPr>
          <p:cNvSpPr>
            <a:spLocks noGrp="1"/>
          </p:cNvSpPr>
          <p:nvPr/>
        </p:nvSpPr>
        <p:spPr>
          <a:xfrm>
            <a:off x="781050" y="5314950"/>
            <a:ext cx="7143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675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rPr>
              <a:t>A U = f</a:t>
            </a:r>
          </a:p>
        </p:txBody>
      </p:sp>
      <p:sp>
        <p:nvSpPr>
          <p:cNvPr id="9" name="text-41">
            <a:extLst>
              <a:ext uri="{FF2B5EF4-FFF2-40B4-BE49-F238E27FC236}">
                <a16:creationId xmlns:a16="http://schemas.microsoft.com/office/drawing/2014/main" id="{B1371445-E3C0-4886-B6E4-666252DAF62F}"/>
              </a:ext>
            </a:extLst>
          </p:cNvPr>
          <p:cNvSpPr>
            <a:spLocks noGrp="1"/>
          </p:cNvSpPr>
          <p:nvPr/>
        </p:nvSpPr>
        <p:spPr>
          <a:xfrm>
            <a:off x="781050" y="6153150"/>
            <a:ext cx="7810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9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A = tridiag(1, −2, 1) / h²</a:t>
            </a:r>
          </a:p>
        </p:txBody>
      </p:sp>
      <p:sp>
        <p:nvSpPr>
          <p:cNvPr id="10" name="text-42">
            <a:extLst>
              <a:ext uri="{FF2B5EF4-FFF2-40B4-BE49-F238E27FC236}">
                <a16:creationId xmlns:a16="http://schemas.microsoft.com/office/drawing/2014/main" id="{4F300AC1-CB2C-4FD1-8F90-9F0B218FC940}"/>
              </a:ext>
            </a:extLst>
          </p:cNvPr>
          <p:cNvSpPr>
            <a:spLocks noGrp="1"/>
          </p:cNvSpPr>
          <p:nvPr/>
        </p:nvSpPr>
        <p:spPr>
          <a:xfrm>
            <a:off x="9620250" y="6524625"/>
            <a:ext cx="4572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局部三点关系</a:t>
            </a:r>
          </a:p>
        </p:txBody>
      </p:sp>
      <p:sp>
        <p:nvSpPr>
          <p:cNvPr id="11" name="text-43">
            <a:extLst>
              <a:ext uri="{FF2B5EF4-FFF2-40B4-BE49-F238E27FC236}">
                <a16:creationId xmlns:a16="http://schemas.microsoft.com/office/drawing/2014/main" id="{1D03363A-BF3D-429D-A56A-CD75813E9595}"/>
              </a:ext>
            </a:extLst>
          </p:cNvPr>
          <p:cNvSpPr>
            <a:spLocks noGrp="1"/>
          </p:cNvSpPr>
          <p:nvPr/>
        </p:nvSpPr>
        <p:spPr>
          <a:xfrm>
            <a:off x="9620250" y="7048500"/>
            <a:ext cx="45720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rPr>
              <a:t>N − 1 个内部未知量</a:t>
            </a:r>
          </a:p>
        </p:txBody>
      </p:sp>
    </p:spTree>
    <p:extLst>
      <p:ext uri="{BB962C8B-B14F-4D97-AF65-F5344CB8AC3E}">
        <p14:creationId xmlns:p14="http://schemas.microsoft.com/office/powerpoint/2010/main" val="1940942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44">
            <a:extLst>
              <a:ext uri="{FF2B5EF4-FFF2-40B4-BE49-F238E27FC236}">
                <a16:creationId xmlns:a16="http://schemas.microsoft.com/office/drawing/2014/main" id="{75352C74-53BF-4A24-B951-D68A3B3D39F3}"/>
              </a:ext>
            </a:extLst>
          </p:cNvPr>
          <p:cNvSpPr>
            <a:spLocks noGrp="1"/>
          </p:cNvSpPr>
          <p:nvPr/>
        </p:nvSpPr>
        <p:spPr>
          <a:xfrm>
            <a:off x="781050" y="457200"/>
            <a:ext cx="11906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Poisson 方程的有限差分求解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60A82CD-77C6-4FF0-B49E-93AE5EC4FF2A}"/>
              </a:ext>
            </a:extLst>
          </p:cNvPr>
          <p:cNvSpPr>
            <a:spLocks noGrp="1"/>
          </p:cNvSpPr>
          <p:nvPr/>
        </p:nvSpPr>
        <p:spPr>
          <a:xfrm>
            <a:off x="762000" y="952500"/>
            <a:ext cx="13716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数值解与解析解的节点比较</a:t>
            </a:r>
          </a:p>
        </p:txBody>
      </p:sp>
      <p:sp>
        <p:nvSpPr>
          <p:cNvPr id="3" name="text-45">
            <a:extLst>
              <a:ext uri="{FF2B5EF4-FFF2-40B4-BE49-F238E27FC236}">
                <a16:creationId xmlns:a16="http://schemas.microsoft.com/office/drawing/2014/main" id="{8F1E996D-34D2-443E-A73C-57EE36BA43CB}"/>
              </a:ext>
            </a:extLst>
          </p:cNvPr>
          <p:cNvSpPr>
            <a:spLocks noGrp="1"/>
          </p:cNvSpPr>
          <p:nvPr/>
        </p:nvSpPr>
        <p:spPr>
          <a:xfrm>
            <a:off x="13811250" y="7762875"/>
            <a:ext cx="666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5300AAFA-A9A2-4691-A798-5359ECA52F75}"/>
              </a:ext>
            </a:extLst>
          </p:cNvPr>
          <p:cNvSpPr>
            <a:spLocks noGrp="1"/>
          </p:cNvSpPr>
          <p:nvPr/>
        </p:nvSpPr>
        <p:spPr>
          <a:xfrm>
            <a:off x="781050" y="7772400"/>
            <a:ext cx="12668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rPr>
              <a:t>图源：runCoreExperiments.m，2026-09-11；数据：poisson_n008_points.csv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59504" y="1971675"/>
            <a:ext cx="7005967" cy="5524500"/>
          </a:xfrm>
          <a:prstGeom prst="rect">
            <a:avLst/>
          </a:prstGeom>
        </p:spPr>
      </p:pic>
      <p:sp>
        <p:nvSpPr>
          <p:cNvPr id="6" name="text-46">
            <a:extLst>
              <a:ext uri="{FF2B5EF4-FFF2-40B4-BE49-F238E27FC236}">
                <a16:creationId xmlns:a16="http://schemas.microsoft.com/office/drawing/2014/main" id="{3D1FD772-4B58-4962-9B13-8C46A7EF8795}"/>
              </a:ext>
            </a:extLst>
          </p:cNvPr>
          <p:cNvSpPr>
            <a:spLocks noGrp="1"/>
          </p:cNvSpPr>
          <p:nvPr/>
        </p:nvSpPr>
        <p:spPr>
          <a:xfrm>
            <a:off x="9334500" y="2257425"/>
            <a:ext cx="50006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代表网格  N = 8</a:t>
            </a:r>
          </a:p>
        </p:txBody>
      </p:sp>
      <p:sp>
        <p:nvSpPr>
          <p:cNvPr id="7" name="text-47">
            <a:extLst>
              <a:ext uri="{FF2B5EF4-FFF2-40B4-BE49-F238E27FC236}">
                <a16:creationId xmlns:a16="http://schemas.microsoft.com/office/drawing/2014/main" id="{93E8802E-1DB2-464A-8E49-5C2D24AF448E}"/>
              </a:ext>
            </a:extLst>
          </p:cNvPr>
          <p:cNvSpPr>
            <a:spLocks noGrp="1"/>
          </p:cNvSpPr>
          <p:nvPr/>
        </p:nvSpPr>
        <p:spPr>
          <a:xfrm>
            <a:off x="9334500" y="3000375"/>
            <a:ext cx="49530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解关于 x = 0 对称</a:t>
            </a:r>
          </a:p>
        </p:txBody>
      </p:sp>
      <p:sp>
        <p:nvSpPr>
          <p:cNvPr id="8" name="text-48">
            <a:extLst>
              <a:ext uri="{FF2B5EF4-FFF2-40B4-BE49-F238E27FC236}">
                <a16:creationId xmlns:a16="http://schemas.microsoft.com/office/drawing/2014/main" id="{FB654E1C-AF38-4CFB-A985-736C5F3FCF58}"/>
              </a:ext>
            </a:extLst>
          </p:cNvPr>
          <p:cNvSpPr>
            <a:spLocks noGrp="1"/>
          </p:cNvSpPr>
          <p:nvPr/>
        </p:nvSpPr>
        <p:spPr>
          <a:xfrm>
            <a:off x="9334500" y="3676650"/>
            <a:ext cx="49530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两端满足零边界</a:t>
            </a:r>
          </a:p>
        </p:txBody>
      </p:sp>
      <p:sp>
        <p:nvSpPr>
          <p:cNvPr id="9" name="text-49">
            <a:extLst>
              <a:ext uri="{FF2B5EF4-FFF2-40B4-BE49-F238E27FC236}">
                <a16:creationId xmlns:a16="http://schemas.microsoft.com/office/drawing/2014/main" id="{3F36A61D-FD63-446B-8365-77B6A3F77B55}"/>
              </a:ext>
            </a:extLst>
          </p:cNvPr>
          <p:cNvSpPr>
            <a:spLocks noGrp="1"/>
          </p:cNvSpPr>
          <p:nvPr/>
        </p:nvSpPr>
        <p:spPr>
          <a:xfrm>
            <a:off x="9334500" y="4857750"/>
            <a:ext cx="5048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rPr>
              <a:t>最大误差出现在中点</a:t>
            </a:r>
          </a:p>
        </p:txBody>
      </p:sp>
      <p:sp>
        <p:nvSpPr>
          <p:cNvPr id="10" name="text-50">
            <a:extLst>
              <a:ext uri="{FF2B5EF4-FFF2-40B4-BE49-F238E27FC236}">
                <a16:creationId xmlns:a16="http://schemas.microsoft.com/office/drawing/2014/main" id="{A2FD341C-7E29-41D6-B4CB-286AEC914CD9}"/>
              </a:ext>
            </a:extLst>
          </p:cNvPr>
          <p:cNvSpPr>
            <a:spLocks noGrp="1"/>
          </p:cNvSpPr>
          <p:nvPr/>
        </p:nvSpPr>
        <p:spPr>
          <a:xfrm>
            <a:off x="9334500" y="5448300"/>
            <a:ext cx="509587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900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rPr>
              <a:t>3.34 × 10⁻³</a:t>
            </a:r>
          </a:p>
        </p:txBody>
      </p:sp>
      <p:sp>
        <p:nvSpPr>
          <p:cNvPr id="11" name="text-51">
            <a:extLst>
              <a:ext uri="{FF2B5EF4-FFF2-40B4-BE49-F238E27FC236}">
                <a16:creationId xmlns:a16="http://schemas.microsoft.com/office/drawing/2014/main" id="{6F465D4C-50E7-44CE-9AE3-2C2FB8D4CDCB}"/>
              </a:ext>
            </a:extLst>
          </p:cNvPr>
          <p:cNvSpPr>
            <a:spLocks noGrp="1"/>
          </p:cNvSpPr>
          <p:nvPr/>
        </p:nvSpPr>
        <p:spPr>
          <a:xfrm>
            <a:off x="9334500" y="6724650"/>
            <a:ext cx="504825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rPr>
              <a:t>图中折线仅辅助显示节点值</a:t>
            </a:r>
          </a:p>
        </p:txBody>
      </p:sp>
    </p:spTree>
    <p:extLst>
      <p:ext uri="{BB962C8B-B14F-4D97-AF65-F5344CB8AC3E}">
        <p14:creationId xmlns:p14="http://schemas.microsoft.com/office/powerpoint/2010/main" val="948660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52">
            <a:extLst>
              <a:ext uri="{FF2B5EF4-FFF2-40B4-BE49-F238E27FC236}">
                <a16:creationId xmlns:a16="http://schemas.microsoft.com/office/drawing/2014/main" id="{D01219FF-1761-4854-8C4F-3F899FE6F22B}"/>
              </a:ext>
            </a:extLst>
          </p:cNvPr>
          <p:cNvSpPr>
            <a:spLocks noGrp="1"/>
          </p:cNvSpPr>
          <p:nvPr/>
        </p:nvSpPr>
        <p:spPr>
          <a:xfrm>
            <a:off x="781050" y="457200"/>
            <a:ext cx="11906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Poisson 方程的有限差分求解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F65403-2EC8-4288-A0E1-72755D913BE4}"/>
              </a:ext>
            </a:extLst>
          </p:cNvPr>
          <p:cNvSpPr>
            <a:spLocks noGrp="1"/>
          </p:cNvSpPr>
          <p:nvPr/>
        </p:nvSpPr>
        <p:spPr>
          <a:xfrm>
            <a:off x="762000" y="952500"/>
            <a:ext cx="13716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有限差分呈现二阶收敛</a:t>
            </a:r>
          </a:p>
        </p:txBody>
      </p:sp>
      <p:sp>
        <p:nvSpPr>
          <p:cNvPr id="3" name="text-53">
            <a:extLst>
              <a:ext uri="{FF2B5EF4-FFF2-40B4-BE49-F238E27FC236}">
                <a16:creationId xmlns:a16="http://schemas.microsoft.com/office/drawing/2014/main" id="{FA4E00DB-575A-49ED-8255-C36E20EA3B29}"/>
              </a:ext>
            </a:extLst>
          </p:cNvPr>
          <p:cNvSpPr>
            <a:spLocks noGrp="1"/>
          </p:cNvSpPr>
          <p:nvPr/>
        </p:nvSpPr>
        <p:spPr>
          <a:xfrm>
            <a:off x="13811250" y="7762875"/>
            <a:ext cx="666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C7F86D96-131A-4653-99EE-B77B459BB603}"/>
              </a:ext>
            </a:extLst>
          </p:cNvPr>
          <p:cNvSpPr>
            <a:spLocks noGrp="1"/>
          </p:cNvSpPr>
          <p:nvPr/>
        </p:nvSpPr>
        <p:spPr>
          <a:xfrm>
            <a:off x="781050" y="7772400"/>
            <a:ext cx="12668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rPr>
              <a:t>图源：runConvergenceExperiment.m，2026-09-11；数据：poisson_convergence.csv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25282" y="2009775"/>
            <a:ext cx="7950786" cy="5467350"/>
          </a:xfrm>
          <a:prstGeom prst="rect">
            <a:avLst/>
          </a:prstGeom>
        </p:spPr>
      </p:pic>
      <p:sp>
        <p:nvSpPr>
          <p:cNvPr id="6" name="text-54">
            <a:extLst>
              <a:ext uri="{FF2B5EF4-FFF2-40B4-BE49-F238E27FC236}">
                <a16:creationId xmlns:a16="http://schemas.microsoft.com/office/drawing/2014/main" id="{61DA8469-158D-4391-9CD8-498B816FF598}"/>
              </a:ext>
            </a:extLst>
          </p:cNvPr>
          <p:cNvSpPr>
            <a:spLocks noGrp="1"/>
          </p:cNvSpPr>
          <p:nvPr/>
        </p:nvSpPr>
        <p:spPr>
          <a:xfrm>
            <a:off x="10572750" y="2181225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rPr>
              <a:t>最大误差拟合阶</a:t>
            </a:r>
          </a:p>
        </p:txBody>
      </p:sp>
      <p:sp>
        <p:nvSpPr>
          <p:cNvPr id="7" name="text-55">
            <a:extLst>
              <a:ext uri="{FF2B5EF4-FFF2-40B4-BE49-F238E27FC236}">
                <a16:creationId xmlns:a16="http://schemas.microsoft.com/office/drawing/2014/main" id="{7EEDBEDB-2D4F-45C2-B8CD-9E211F7BC728}"/>
              </a:ext>
            </a:extLst>
          </p:cNvPr>
          <p:cNvSpPr>
            <a:spLocks noGrp="1"/>
          </p:cNvSpPr>
          <p:nvPr/>
        </p:nvSpPr>
        <p:spPr>
          <a:xfrm>
            <a:off x="10572750" y="2676525"/>
            <a:ext cx="38100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4950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rPr>
              <a:t>2.0025</a:t>
            </a:r>
          </a:p>
        </p:txBody>
      </p:sp>
      <p:sp>
        <p:nvSpPr>
          <p:cNvPr id="8" name="text-56">
            <a:extLst>
              <a:ext uri="{FF2B5EF4-FFF2-40B4-BE49-F238E27FC236}">
                <a16:creationId xmlns:a16="http://schemas.microsoft.com/office/drawing/2014/main" id="{67B91329-D037-454B-B4AD-82038AA74F98}"/>
              </a:ext>
            </a:extLst>
          </p:cNvPr>
          <p:cNvSpPr>
            <a:spLocks noGrp="1"/>
          </p:cNvSpPr>
          <p:nvPr/>
        </p:nvSpPr>
        <p:spPr>
          <a:xfrm>
            <a:off x="10572750" y="3981450"/>
            <a:ext cx="39052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N = 8, 16, …, 512</a:t>
            </a:r>
          </a:p>
        </p:txBody>
      </p:sp>
      <p:sp>
        <p:nvSpPr>
          <p:cNvPr id="9" name="text-57">
            <a:extLst>
              <a:ext uri="{FF2B5EF4-FFF2-40B4-BE49-F238E27FC236}">
                <a16:creationId xmlns:a16="http://schemas.microsoft.com/office/drawing/2014/main" id="{C302E33E-18D8-4DA8-ABF0-28D06701B38B}"/>
              </a:ext>
            </a:extLst>
          </p:cNvPr>
          <p:cNvSpPr>
            <a:spLocks noGrp="1"/>
          </p:cNvSpPr>
          <p:nvPr/>
        </p:nvSpPr>
        <p:spPr>
          <a:xfrm>
            <a:off x="10572750" y="4800600"/>
            <a:ext cx="38100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h 减半</a:t>
            </a:r>
          </a:p>
        </p:txBody>
      </p:sp>
      <p:sp>
        <p:nvSpPr>
          <p:cNvPr id="10" name="text-58">
            <a:extLst>
              <a:ext uri="{FF2B5EF4-FFF2-40B4-BE49-F238E27FC236}">
                <a16:creationId xmlns:a16="http://schemas.microsoft.com/office/drawing/2014/main" id="{F271CE10-9E50-4E93-9444-079D1D1D0531}"/>
              </a:ext>
            </a:extLst>
          </p:cNvPr>
          <p:cNvSpPr>
            <a:spLocks noGrp="1"/>
          </p:cNvSpPr>
          <p:nvPr/>
        </p:nvSpPr>
        <p:spPr>
          <a:xfrm>
            <a:off x="10572750" y="5381625"/>
            <a:ext cx="390525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误差约缩小至 1/4</a:t>
            </a:r>
          </a:p>
        </p:txBody>
      </p:sp>
      <p:sp>
        <p:nvSpPr>
          <p:cNvPr id="11" name="text-59">
            <a:extLst>
              <a:ext uri="{FF2B5EF4-FFF2-40B4-BE49-F238E27FC236}">
                <a16:creationId xmlns:a16="http://schemas.microsoft.com/office/drawing/2014/main" id="{4611112A-81E3-4902-AD95-B7D0D7D48B71}"/>
              </a:ext>
            </a:extLst>
          </p:cNvPr>
          <p:cNvSpPr>
            <a:spLocks noGrp="1"/>
          </p:cNvSpPr>
          <p:nvPr/>
        </p:nvSpPr>
        <p:spPr>
          <a:xfrm>
            <a:off x="10572750" y="6467475"/>
            <a:ext cx="40005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rPr>
              <a:t>小代数残差仅说明</a:t>
            </a:r>
          </a:p>
          <a:p>
            <a:pPr>
              <a:defRPr sz="20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rPr>
              <a:t>离散方程求解准确</a:t>
            </a:r>
          </a:p>
        </p:txBody>
      </p:sp>
    </p:spTree>
    <p:extLst>
      <p:ext uri="{BB962C8B-B14F-4D97-AF65-F5344CB8AC3E}">
        <p14:creationId xmlns:p14="http://schemas.microsoft.com/office/powerpoint/2010/main" val="18199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60">
            <a:extLst>
              <a:ext uri="{FF2B5EF4-FFF2-40B4-BE49-F238E27FC236}">
                <a16:creationId xmlns:a16="http://schemas.microsoft.com/office/drawing/2014/main" id="{DC72B7D8-2841-41D7-BEE1-74F47F262B3F}"/>
              </a:ext>
            </a:extLst>
          </p:cNvPr>
          <p:cNvSpPr>
            <a:spLocks noGrp="1"/>
          </p:cNvSpPr>
          <p:nvPr/>
        </p:nvSpPr>
        <p:spPr>
          <a:xfrm>
            <a:off x="781050" y="457200"/>
            <a:ext cx="11906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Richardson 外推与精度提升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E379245-88BF-4885-B4B1-82ACA665E2A6}"/>
              </a:ext>
            </a:extLst>
          </p:cNvPr>
          <p:cNvSpPr>
            <a:spLocks noGrp="1"/>
          </p:cNvSpPr>
          <p:nvPr/>
        </p:nvSpPr>
        <p:spPr>
          <a:xfrm>
            <a:off x="762000" y="952500"/>
            <a:ext cx="13716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Richardson 外推消去主误差项</a:t>
            </a:r>
          </a:p>
        </p:txBody>
      </p:sp>
      <p:sp>
        <p:nvSpPr>
          <p:cNvPr id="3" name="text-61">
            <a:extLst>
              <a:ext uri="{FF2B5EF4-FFF2-40B4-BE49-F238E27FC236}">
                <a16:creationId xmlns:a16="http://schemas.microsoft.com/office/drawing/2014/main" id="{5FB694DF-5120-44E4-B47B-A2B7BE445A3E}"/>
              </a:ext>
            </a:extLst>
          </p:cNvPr>
          <p:cNvSpPr>
            <a:spLocks noGrp="1"/>
          </p:cNvSpPr>
          <p:nvPr/>
        </p:nvSpPr>
        <p:spPr>
          <a:xfrm>
            <a:off x="13811250" y="7762875"/>
            <a:ext cx="666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07375" y="2095500"/>
            <a:ext cx="6159500" cy="4619625"/>
          </a:xfrm>
          <a:prstGeom prst="rect">
            <a:avLst/>
          </a:prstGeom>
        </p:spPr>
      </p:pic>
      <p:sp>
        <p:nvSpPr>
          <p:cNvPr id="5" name="text-62">
            <a:extLst>
              <a:ext uri="{FF2B5EF4-FFF2-40B4-BE49-F238E27FC236}">
                <a16:creationId xmlns:a16="http://schemas.microsoft.com/office/drawing/2014/main" id="{39685428-942C-4467-85CA-77B1B5627AC9}"/>
              </a:ext>
            </a:extLst>
          </p:cNvPr>
          <p:cNvSpPr>
            <a:spLocks noGrp="1"/>
          </p:cNvSpPr>
          <p:nvPr/>
        </p:nvSpPr>
        <p:spPr>
          <a:xfrm>
            <a:off x="781050" y="2219325"/>
            <a:ext cx="7810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同一节点上的误差展开</a:t>
            </a:r>
          </a:p>
        </p:txBody>
      </p:sp>
      <p:sp>
        <p:nvSpPr>
          <p:cNvPr id="6" name="text-63">
            <a:extLst>
              <a:ext uri="{FF2B5EF4-FFF2-40B4-BE49-F238E27FC236}">
                <a16:creationId xmlns:a16="http://schemas.microsoft.com/office/drawing/2014/main" id="{9B1FC38A-1697-4860-AD85-8D40E9E33459}"/>
              </a:ext>
            </a:extLst>
          </p:cNvPr>
          <p:cNvSpPr>
            <a:spLocks noGrp="1"/>
          </p:cNvSpPr>
          <p:nvPr/>
        </p:nvSpPr>
        <p:spPr>
          <a:xfrm>
            <a:off x="781050" y="3076575"/>
            <a:ext cx="80486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U(h) = u + c₂h² + O(h⁴)</a:t>
            </a:r>
          </a:p>
        </p:txBody>
      </p:sp>
      <p:sp>
        <p:nvSpPr>
          <p:cNvPr id="7" name="text-64">
            <a:extLst>
              <a:ext uri="{FF2B5EF4-FFF2-40B4-BE49-F238E27FC236}">
                <a16:creationId xmlns:a16="http://schemas.microsoft.com/office/drawing/2014/main" id="{5D9C053C-779C-4E8A-973B-5D2C863703DC}"/>
              </a:ext>
            </a:extLst>
          </p:cNvPr>
          <p:cNvSpPr>
            <a:spLocks noGrp="1"/>
          </p:cNvSpPr>
          <p:nvPr/>
        </p:nvSpPr>
        <p:spPr>
          <a:xfrm>
            <a:off x="781050" y="3952875"/>
            <a:ext cx="80486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150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U(h/2) = u + c₂h²/4 + O(h⁴)</a:t>
            </a:r>
          </a:p>
        </p:txBody>
      </p:sp>
      <p:sp>
        <p:nvSpPr>
          <p:cNvPr id="8" name="text-65">
            <a:extLst>
              <a:ext uri="{FF2B5EF4-FFF2-40B4-BE49-F238E27FC236}">
                <a16:creationId xmlns:a16="http://schemas.microsoft.com/office/drawing/2014/main" id="{A7ED6F95-EBB9-4680-949A-8C3FF5FFFE7D}"/>
              </a:ext>
            </a:extLst>
          </p:cNvPr>
          <p:cNvSpPr>
            <a:spLocks noGrp="1"/>
          </p:cNvSpPr>
          <p:nvPr/>
        </p:nvSpPr>
        <p:spPr>
          <a:xfrm>
            <a:off x="781050" y="5324475"/>
            <a:ext cx="804862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75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rPr>
              <a:t>Uᴿ = [4U(h/2) − U(h)] / 3</a:t>
            </a:r>
          </a:p>
        </p:txBody>
      </p:sp>
      <p:sp>
        <p:nvSpPr>
          <p:cNvPr id="9" name="text-66">
            <a:extLst>
              <a:ext uri="{FF2B5EF4-FFF2-40B4-BE49-F238E27FC236}">
                <a16:creationId xmlns:a16="http://schemas.microsoft.com/office/drawing/2014/main" id="{82ECEE08-BC01-489C-B26A-3CC71561E9D4}"/>
              </a:ext>
            </a:extLst>
          </p:cNvPr>
          <p:cNvSpPr>
            <a:spLocks noGrp="1"/>
          </p:cNvSpPr>
          <p:nvPr/>
        </p:nvSpPr>
        <p:spPr>
          <a:xfrm>
            <a:off x="781050" y="6200775"/>
            <a:ext cx="723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2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= u + O(h⁴)</a:t>
            </a:r>
          </a:p>
        </p:txBody>
      </p:sp>
      <p:sp>
        <p:nvSpPr>
          <p:cNvPr id="10" name="text-67">
            <a:extLst>
              <a:ext uri="{FF2B5EF4-FFF2-40B4-BE49-F238E27FC236}">
                <a16:creationId xmlns:a16="http://schemas.microsoft.com/office/drawing/2014/main" id="{098D0B05-13C5-4409-81C9-30BED8E269C4}"/>
              </a:ext>
            </a:extLst>
          </p:cNvPr>
          <p:cNvSpPr>
            <a:spLocks noGrp="1"/>
          </p:cNvSpPr>
          <p:nvPr/>
        </p:nvSpPr>
        <p:spPr>
          <a:xfrm>
            <a:off x="9620250" y="6629400"/>
            <a:ext cx="4667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细网格取 1:2:end</a:t>
            </a:r>
          </a:p>
        </p:txBody>
      </p:sp>
      <p:sp>
        <p:nvSpPr>
          <p:cNvPr id="11" name="text-68">
            <a:extLst>
              <a:ext uri="{FF2B5EF4-FFF2-40B4-BE49-F238E27FC236}">
                <a16:creationId xmlns:a16="http://schemas.microsoft.com/office/drawing/2014/main" id="{E16ECDF0-ACE1-49E1-9211-B75528BFEF50}"/>
              </a:ext>
            </a:extLst>
          </p:cNvPr>
          <p:cNvSpPr>
            <a:spLocks noGrp="1"/>
          </p:cNvSpPr>
          <p:nvPr/>
        </p:nvSpPr>
        <p:spPr>
          <a:xfrm>
            <a:off x="9620250" y="7143750"/>
            <a:ext cx="4667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rPr>
              <a:t>先对齐节点，再进行外推</a:t>
            </a:r>
          </a:p>
        </p:txBody>
      </p:sp>
    </p:spTree>
    <p:extLst>
      <p:ext uri="{BB962C8B-B14F-4D97-AF65-F5344CB8AC3E}">
        <p14:creationId xmlns:p14="http://schemas.microsoft.com/office/powerpoint/2010/main" val="1558714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69">
            <a:extLst>
              <a:ext uri="{FF2B5EF4-FFF2-40B4-BE49-F238E27FC236}">
                <a16:creationId xmlns:a16="http://schemas.microsoft.com/office/drawing/2014/main" id="{21BEB312-F244-4194-A323-DC899692584D}"/>
              </a:ext>
            </a:extLst>
          </p:cNvPr>
          <p:cNvSpPr>
            <a:spLocks noGrp="1"/>
          </p:cNvSpPr>
          <p:nvPr/>
        </p:nvSpPr>
        <p:spPr>
          <a:xfrm>
            <a:off x="781050" y="457200"/>
            <a:ext cx="11906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Richardson 外推与精度提升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F86A3B1-438C-4EA2-94FD-5ED48F11ED02}"/>
              </a:ext>
            </a:extLst>
          </p:cNvPr>
          <p:cNvSpPr>
            <a:spLocks noGrp="1"/>
          </p:cNvSpPr>
          <p:nvPr/>
        </p:nvSpPr>
        <p:spPr>
          <a:xfrm>
            <a:off x="762000" y="952500"/>
            <a:ext cx="13716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外推后误差按四阶下降</a:t>
            </a:r>
          </a:p>
        </p:txBody>
      </p:sp>
      <p:sp>
        <p:nvSpPr>
          <p:cNvPr id="3" name="text-70">
            <a:extLst>
              <a:ext uri="{FF2B5EF4-FFF2-40B4-BE49-F238E27FC236}">
                <a16:creationId xmlns:a16="http://schemas.microsoft.com/office/drawing/2014/main" id="{35C872E1-3968-4366-AA8E-96A3D675843C}"/>
              </a:ext>
            </a:extLst>
          </p:cNvPr>
          <p:cNvSpPr>
            <a:spLocks noGrp="1"/>
          </p:cNvSpPr>
          <p:nvPr/>
        </p:nvSpPr>
        <p:spPr>
          <a:xfrm>
            <a:off x="13811250" y="7762875"/>
            <a:ext cx="666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E128A96D-CECA-4A93-B04A-886F192244FA}"/>
              </a:ext>
            </a:extLst>
          </p:cNvPr>
          <p:cNvSpPr>
            <a:spLocks noGrp="1"/>
          </p:cNvSpPr>
          <p:nvPr/>
        </p:nvSpPr>
        <p:spPr>
          <a:xfrm>
            <a:off x="781050" y="7772400"/>
            <a:ext cx="12668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rPr>
              <a:t>图源：runRichardsonFigures.m，2026-09-11；数据：poisson_richardson_summary.csv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46063" y="2009775"/>
            <a:ext cx="6575873" cy="5476875"/>
          </a:xfrm>
          <a:prstGeom prst="rect">
            <a:avLst/>
          </a:prstGeom>
        </p:spPr>
      </p:pic>
      <p:sp>
        <p:nvSpPr>
          <p:cNvPr id="6" name="text-71">
            <a:extLst>
              <a:ext uri="{FF2B5EF4-FFF2-40B4-BE49-F238E27FC236}">
                <a16:creationId xmlns:a16="http://schemas.microsoft.com/office/drawing/2014/main" id="{777CA8B3-25A9-422E-9B20-173EBCCBF00E}"/>
              </a:ext>
            </a:extLst>
          </p:cNvPr>
          <p:cNvSpPr>
            <a:spLocks noGrp="1"/>
          </p:cNvSpPr>
          <p:nvPr/>
        </p:nvSpPr>
        <p:spPr>
          <a:xfrm>
            <a:off x="10382250" y="2152650"/>
            <a:ext cx="4191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粗网格 N = 16</a:t>
            </a:r>
          </a:p>
        </p:txBody>
      </p:sp>
      <p:sp>
        <p:nvSpPr>
          <p:cNvPr id="7" name="text-72">
            <a:extLst>
              <a:ext uri="{FF2B5EF4-FFF2-40B4-BE49-F238E27FC236}">
                <a16:creationId xmlns:a16="http://schemas.microsoft.com/office/drawing/2014/main" id="{B6826DA5-1866-44BE-8C82-2E95C28D5E63}"/>
              </a:ext>
            </a:extLst>
          </p:cNvPr>
          <p:cNvSpPr>
            <a:spLocks noGrp="1"/>
          </p:cNvSpPr>
          <p:nvPr/>
        </p:nvSpPr>
        <p:spPr>
          <a:xfrm>
            <a:off x="10382250" y="2981325"/>
            <a:ext cx="4095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rPr>
              <a:t>有限差分</a:t>
            </a:r>
          </a:p>
        </p:txBody>
      </p:sp>
      <p:sp>
        <p:nvSpPr>
          <p:cNvPr id="8" name="text-73">
            <a:extLst>
              <a:ext uri="{FF2B5EF4-FFF2-40B4-BE49-F238E27FC236}">
                <a16:creationId xmlns:a16="http://schemas.microsoft.com/office/drawing/2014/main" id="{C655BFF9-7A47-465B-A013-313F129B27D3}"/>
              </a:ext>
            </a:extLst>
          </p:cNvPr>
          <p:cNvSpPr>
            <a:spLocks noGrp="1"/>
          </p:cNvSpPr>
          <p:nvPr/>
        </p:nvSpPr>
        <p:spPr>
          <a:xfrm>
            <a:off x="10382250" y="3476625"/>
            <a:ext cx="41433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525" b="1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8.26 × 10⁻⁴</a:t>
            </a:r>
          </a:p>
        </p:txBody>
      </p:sp>
      <p:sp>
        <p:nvSpPr>
          <p:cNvPr id="9" name="text-74">
            <a:extLst>
              <a:ext uri="{FF2B5EF4-FFF2-40B4-BE49-F238E27FC236}">
                <a16:creationId xmlns:a16="http://schemas.microsoft.com/office/drawing/2014/main" id="{D7D973EE-6D3D-4B39-A92E-DDA392EBFB41}"/>
              </a:ext>
            </a:extLst>
          </p:cNvPr>
          <p:cNvSpPr>
            <a:spLocks noGrp="1"/>
          </p:cNvSpPr>
          <p:nvPr/>
        </p:nvSpPr>
        <p:spPr>
          <a:xfrm>
            <a:off x="10382250" y="4562475"/>
            <a:ext cx="4286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rPr>
              <a:t>Richardson 外推</a:t>
            </a:r>
          </a:p>
        </p:txBody>
      </p:sp>
      <p:sp>
        <p:nvSpPr>
          <p:cNvPr id="10" name="text-75">
            <a:extLst>
              <a:ext uri="{FF2B5EF4-FFF2-40B4-BE49-F238E27FC236}">
                <a16:creationId xmlns:a16="http://schemas.microsoft.com/office/drawing/2014/main" id="{0D4FB752-BC62-4978-B208-E033422EF886}"/>
              </a:ext>
            </a:extLst>
          </p:cNvPr>
          <p:cNvSpPr>
            <a:spLocks noGrp="1"/>
          </p:cNvSpPr>
          <p:nvPr/>
        </p:nvSpPr>
        <p:spPr>
          <a:xfrm>
            <a:off x="10382250" y="5057775"/>
            <a:ext cx="423862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525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rPr>
              <a:t>7.00 × 10⁻⁷</a:t>
            </a:r>
          </a:p>
        </p:txBody>
      </p:sp>
      <p:sp>
        <p:nvSpPr>
          <p:cNvPr id="11" name="text-76">
            <a:extLst>
              <a:ext uri="{FF2B5EF4-FFF2-40B4-BE49-F238E27FC236}">
                <a16:creationId xmlns:a16="http://schemas.microsoft.com/office/drawing/2014/main" id="{64FBBA7B-4194-4B66-9047-F71BB30CE57A}"/>
              </a:ext>
            </a:extLst>
          </p:cNvPr>
          <p:cNvSpPr>
            <a:spLocks noGrp="1"/>
          </p:cNvSpPr>
          <p:nvPr/>
        </p:nvSpPr>
        <p:spPr>
          <a:xfrm>
            <a:off x="10382250" y="6438900"/>
            <a:ext cx="4286250" cy="866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额外求解 N = 32 细网格</a:t>
            </a:r>
          </a:p>
          <a:p>
            <a:pPr>
              <a:defRPr sz="20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在 N = 16 的节点上比较</a:t>
            </a:r>
          </a:p>
        </p:txBody>
      </p:sp>
    </p:spTree>
    <p:extLst>
      <p:ext uri="{BB962C8B-B14F-4D97-AF65-F5344CB8AC3E}">
        <p14:creationId xmlns:p14="http://schemas.microsoft.com/office/powerpoint/2010/main" val="1565836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77">
            <a:extLst>
              <a:ext uri="{FF2B5EF4-FFF2-40B4-BE49-F238E27FC236}">
                <a16:creationId xmlns:a16="http://schemas.microsoft.com/office/drawing/2014/main" id="{50989C58-DBE9-4A7A-A570-1BEFC2D9B96D}"/>
              </a:ext>
            </a:extLst>
          </p:cNvPr>
          <p:cNvSpPr>
            <a:spLocks noGrp="1"/>
          </p:cNvSpPr>
          <p:nvPr/>
        </p:nvSpPr>
        <p:spPr>
          <a:xfrm>
            <a:off x="781050" y="457200"/>
            <a:ext cx="11906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Poisson 方程的交叉验证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999D347-050E-4C8A-8991-1C9284E9E76F}"/>
              </a:ext>
            </a:extLst>
          </p:cNvPr>
          <p:cNvSpPr>
            <a:spLocks noGrp="1"/>
          </p:cNvSpPr>
          <p:nvPr/>
        </p:nvSpPr>
        <p:spPr>
          <a:xfrm>
            <a:off x="762000" y="952500"/>
            <a:ext cx="13716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线性打靶复用 RK4 求解器</a:t>
            </a:r>
          </a:p>
        </p:txBody>
      </p:sp>
      <p:sp>
        <p:nvSpPr>
          <p:cNvPr id="3" name="text-78">
            <a:extLst>
              <a:ext uri="{FF2B5EF4-FFF2-40B4-BE49-F238E27FC236}">
                <a16:creationId xmlns:a16="http://schemas.microsoft.com/office/drawing/2014/main" id="{4F0DA7D8-E730-4736-A4E1-FC1B761E9457}"/>
              </a:ext>
            </a:extLst>
          </p:cNvPr>
          <p:cNvSpPr>
            <a:spLocks noGrp="1"/>
          </p:cNvSpPr>
          <p:nvPr/>
        </p:nvSpPr>
        <p:spPr>
          <a:xfrm>
            <a:off x="13811250" y="7762875"/>
            <a:ext cx="666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67788" y="2228850"/>
            <a:ext cx="4638675" cy="4638675"/>
          </a:xfrm>
          <a:prstGeom prst="rect">
            <a:avLst/>
          </a:prstGeom>
        </p:spPr>
      </p:pic>
      <p:sp>
        <p:nvSpPr>
          <p:cNvPr id="5" name="text-79">
            <a:extLst>
              <a:ext uri="{FF2B5EF4-FFF2-40B4-BE49-F238E27FC236}">
                <a16:creationId xmlns:a16="http://schemas.microsoft.com/office/drawing/2014/main" id="{9C6481C9-7293-4806-95DF-C75AA0EEC837}"/>
              </a:ext>
            </a:extLst>
          </p:cNvPr>
          <p:cNvSpPr>
            <a:spLocks noGrp="1"/>
          </p:cNvSpPr>
          <p:nvPr/>
        </p:nvSpPr>
        <p:spPr>
          <a:xfrm>
            <a:off x="781050" y="2238375"/>
            <a:ext cx="7715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将二阶方程改写为一阶系统</a:t>
            </a:r>
          </a:p>
        </p:txBody>
      </p:sp>
      <p:sp>
        <p:nvSpPr>
          <p:cNvPr id="6" name="text-80">
            <a:extLst>
              <a:ext uri="{FF2B5EF4-FFF2-40B4-BE49-F238E27FC236}">
                <a16:creationId xmlns:a16="http://schemas.microsoft.com/office/drawing/2014/main" id="{254B9AA3-3DD0-4D64-AAB3-90F7CE8DF493}"/>
              </a:ext>
            </a:extLst>
          </p:cNvPr>
          <p:cNvSpPr>
            <a:spLocks noGrp="1"/>
          </p:cNvSpPr>
          <p:nvPr/>
        </p:nvSpPr>
        <p:spPr>
          <a:xfrm>
            <a:off x="781050" y="3057525"/>
            <a:ext cx="77628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2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u′ = v，v′ = exp(−x²)</a:t>
            </a:r>
          </a:p>
        </p:txBody>
      </p:sp>
      <p:sp>
        <p:nvSpPr>
          <p:cNvPr id="7" name="text-81">
            <a:extLst>
              <a:ext uri="{FF2B5EF4-FFF2-40B4-BE49-F238E27FC236}">
                <a16:creationId xmlns:a16="http://schemas.microsoft.com/office/drawing/2014/main" id="{031C75D4-1F5C-4902-AE7B-43B67E5CD267}"/>
              </a:ext>
            </a:extLst>
          </p:cNvPr>
          <p:cNvSpPr>
            <a:spLocks noGrp="1"/>
          </p:cNvSpPr>
          <p:nvPr/>
        </p:nvSpPr>
        <p:spPr>
          <a:xfrm>
            <a:off x="781050" y="4162425"/>
            <a:ext cx="7858125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先积分：z(−1) = 0，z′(−1) = 0</a:t>
            </a:r>
          </a:p>
        </p:txBody>
      </p:sp>
      <p:sp>
        <p:nvSpPr>
          <p:cNvPr id="8" name="text-82">
            <a:extLst>
              <a:ext uri="{FF2B5EF4-FFF2-40B4-BE49-F238E27FC236}">
                <a16:creationId xmlns:a16="http://schemas.microsoft.com/office/drawing/2014/main" id="{96E11EA0-8046-41C5-AE31-02ADF5A3D53A}"/>
              </a:ext>
            </a:extLst>
          </p:cNvPr>
          <p:cNvSpPr>
            <a:spLocks noGrp="1"/>
          </p:cNvSpPr>
          <p:nvPr/>
        </p:nvSpPr>
        <p:spPr>
          <a:xfrm>
            <a:off x="781050" y="5267325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600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rPr>
              <a:t>s = −z(1) / 2</a:t>
            </a:r>
          </a:p>
        </p:txBody>
      </p:sp>
      <p:sp>
        <p:nvSpPr>
          <p:cNvPr id="9" name="text-83">
            <a:extLst>
              <a:ext uri="{FF2B5EF4-FFF2-40B4-BE49-F238E27FC236}">
                <a16:creationId xmlns:a16="http://schemas.microsoft.com/office/drawing/2014/main" id="{CCF9C9C8-1669-42F2-B371-1AC66169A123}"/>
              </a:ext>
            </a:extLst>
          </p:cNvPr>
          <p:cNvSpPr>
            <a:spLocks noGrp="1"/>
          </p:cNvSpPr>
          <p:nvPr/>
        </p:nvSpPr>
        <p:spPr>
          <a:xfrm>
            <a:off x="781050" y="6181725"/>
            <a:ext cx="7905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u(x) = z(x) + s(x + 1)</a:t>
            </a:r>
          </a:p>
        </p:txBody>
      </p:sp>
      <p:sp>
        <p:nvSpPr>
          <p:cNvPr id="10" name="text-84">
            <a:extLst>
              <a:ext uri="{FF2B5EF4-FFF2-40B4-BE49-F238E27FC236}">
                <a16:creationId xmlns:a16="http://schemas.microsoft.com/office/drawing/2014/main" id="{FA3F440B-7A5A-4410-84ED-52DD66CD9D69}"/>
              </a:ext>
            </a:extLst>
          </p:cNvPr>
          <p:cNvSpPr>
            <a:spLocks noGrp="1"/>
          </p:cNvSpPr>
          <p:nvPr/>
        </p:nvSpPr>
        <p:spPr>
          <a:xfrm>
            <a:off x="8820150" y="7124700"/>
            <a:ext cx="58578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一次 RK4 积分 + 线性修正</a:t>
            </a:r>
          </a:p>
        </p:txBody>
      </p:sp>
    </p:spTree>
    <p:extLst>
      <p:ext uri="{BB962C8B-B14F-4D97-AF65-F5344CB8AC3E}">
        <p14:creationId xmlns:p14="http://schemas.microsoft.com/office/powerpoint/2010/main" val="1656980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85">
            <a:extLst>
              <a:ext uri="{FF2B5EF4-FFF2-40B4-BE49-F238E27FC236}">
                <a16:creationId xmlns:a16="http://schemas.microsoft.com/office/drawing/2014/main" id="{9B2B1E89-8703-4376-B3CA-76312A31CBA5}"/>
              </a:ext>
            </a:extLst>
          </p:cNvPr>
          <p:cNvSpPr>
            <a:spLocks noGrp="1"/>
          </p:cNvSpPr>
          <p:nvPr/>
        </p:nvSpPr>
        <p:spPr>
          <a:xfrm>
            <a:off x="781050" y="457200"/>
            <a:ext cx="11906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Poisson 方程的交叉验证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590559C-4D2F-40A9-9DB7-5012C4AA25A0}"/>
              </a:ext>
            </a:extLst>
          </p:cNvPr>
          <p:cNvSpPr>
            <a:spLocks noGrp="1"/>
          </p:cNvSpPr>
          <p:nvPr/>
        </p:nvSpPr>
        <p:spPr>
          <a:xfrm>
            <a:off x="762000" y="952500"/>
            <a:ext cx="13716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交叉验证区分方法误差与方法差值</a:t>
            </a:r>
          </a:p>
        </p:txBody>
      </p:sp>
      <p:sp>
        <p:nvSpPr>
          <p:cNvPr id="3" name="text-86">
            <a:extLst>
              <a:ext uri="{FF2B5EF4-FFF2-40B4-BE49-F238E27FC236}">
                <a16:creationId xmlns:a16="http://schemas.microsoft.com/office/drawing/2014/main" id="{B5A6EF1B-C037-41D2-B6D0-1E9E3E36A9D5}"/>
              </a:ext>
            </a:extLst>
          </p:cNvPr>
          <p:cNvSpPr>
            <a:spLocks noGrp="1"/>
          </p:cNvSpPr>
          <p:nvPr/>
        </p:nvSpPr>
        <p:spPr>
          <a:xfrm>
            <a:off x="13811250" y="7762875"/>
            <a:ext cx="666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83DC965C-5923-4D8E-A10F-E28293B66C1B}"/>
              </a:ext>
            </a:extLst>
          </p:cNvPr>
          <p:cNvSpPr>
            <a:spLocks noGrp="1"/>
          </p:cNvSpPr>
          <p:nvPr/>
        </p:nvSpPr>
        <p:spPr>
          <a:xfrm>
            <a:off x="781050" y="7772400"/>
            <a:ext cx="12668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rPr>
              <a:t>图源：runShootingAnalysis.m，2026-09-11；数据：poisson_shooting_analysis_summary.csv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38989" y="1981200"/>
            <a:ext cx="7266047" cy="5514975"/>
          </a:xfrm>
          <a:prstGeom prst="rect">
            <a:avLst/>
          </a:prstGeom>
        </p:spPr>
      </p:pic>
      <p:sp>
        <p:nvSpPr>
          <p:cNvPr id="6" name="text-87">
            <a:extLst>
              <a:ext uri="{FF2B5EF4-FFF2-40B4-BE49-F238E27FC236}">
                <a16:creationId xmlns:a16="http://schemas.microsoft.com/office/drawing/2014/main" id="{C0538ECA-5ACE-44B0-A37B-A36B6C722785}"/>
              </a:ext>
            </a:extLst>
          </p:cNvPr>
          <p:cNvSpPr>
            <a:spLocks noGrp="1"/>
          </p:cNvSpPr>
          <p:nvPr/>
        </p:nvSpPr>
        <p:spPr>
          <a:xfrm>
            <a:off x="9239250" y="2143125"/>
            <a:ext cx="52387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与解析解比较的拟合阶</a:t>
            </a:r>
          </a:p>
        </p:txBody>
      </p:sp>
      <p:sp>
        <p:nvSpPr>
          <p:cNvPr id="7" name="text-88">
            <a:extLst>
              <a:ext uri="{FF2B5EF4-FFF2-40B4-BE49-F238E27FC236}">
                <a16:creationId xmlns:a16="http://schemas.microsoft.com/office/drawing/2014/main" id="{6D4CFD55-D016-4E0B-9FED-671057695E70}"/>
              </a:ext>
            </a:extLst>
          </p:cNvPr>
          <p:cNvSpPr>
            <a:spLocks noGrp="1"/>
          </p:cNvSpPr>
          <p:nvPr/>
        </p:nvSpPr>
        <p:spPr>
          <a:xfrm>
            <a:off x="9239250" y="2943225"/>
            <a:ext cx="25717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打靶法</a:t>
            </a:r>
          </a:p>
        </p:txBody>
      </p:sp>
      <p:sp>
        <p:nvSpPr>
          <p:cNvPr id="8" name="text-89">
            <a:extLst>
              <a:ext uri="{FF2B5EF4-FFF2-40B4-BE49-F238E27FC236}">
                <a16:creationId xmlns:a16="http://schemas.microsoft.com/office/drawing/2014/main" id="{BDB3C791-7DC6-457F-A656-10E9D750AF87}"/>
              </a:ext>
            </a:extLst>
          </p:cNvPr>
          <p:cNvSpPr>
            <a:spLocks noGrp="1"/>
          </p:cNvSpPr>
          <p:nvPr/>
        </p:nvSpPr>
        <p:spPr>
          <a:xfrm>
            <a:off x="11887200" y="2828925"/>
            <a:ext cx="2762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525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rPr>
              <a:t>4.0042</a:t>
            </a:r>
          </a:p>
        </p:txBody>
      </p:sp>
      <p:sp>
        <p:nvSpPr>
          <p:cNvPr id="9" name="text-90">
            <a:extLst>
              <a:ext uri="{FF2B5EF4-FFF2-40B4-BE49-F238E27FC236}">
                <a16:creationId xmlns:a16="http://schemas.microsoft.com/office/drawing/2014/main" id="{18E28E99-7104-4055-A41C-986F12CF3390}"/>
              </a:ext>
            </a:extLst>
          </p:cNvPr>
          <p:cNvSpPr>
            <a:spLocks noGrp="1"/>
          </p:cNvSpPr>
          <p:nvPr/>
        </p:nvSpPr>
        <p:spPr>
          <a:xfrm>
            <a:off x="9239250" y="3800475"/>
            <a:ext cx="25717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有限差分</a:t>
            </a:r>
          </a:p>
        </p:txBody>
      </p:sp>
      <p:sp>
        <p:nvSpPr>
          <p:cNvPr id="10" name="text-91">
            <a:extLst>
              <a:ext uri="{FF2B5EF4-FFF2-40B4-BE49-F238E27FC236}">
                <a16:creationId xmlns:a16="http://schemas.microsoft.com/office/drawing/2014/main" id="{25F9B5EC-BC38-490C-BFCC-B80B44BA66F9}"/>
              </a:ext>
            </a:extLst>
          </p:cNvPr>
          <p:cNvSpPr>
            <a:spLocks noGrp="1"/>
          </p:cNvSpPr>
          <p:nvPr/>
        </p:nvSpPr>
        <p:spPr>
          <a:xfrm>
            <a:off x="11887200" y="3686175"/>
            <a:ext cx="2762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525" b="1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2.0025</a:t>
            </a:r>
          </a:p>
        </p:txBody>
      </p:sp>
      <p:sp>
        <p:nvSpPr>
          <p:cNvPr id="11" name="text-92">
            <a:extLst>
              <a:ext uri="{FF2B5EF4-FFF2-40B4-BE49-F238E27FC236}">
                <a16:creationId xmlns:a16="http://schemas.microsoft.com/office/drawing/2014/main" id="{8E96482A-335D-490E-BA88-815E7A205EB1}"/>
              </a:ext>
            </a:extLst>
          </p:cNvPr>
          <p:cNvSpPr>
            <a:spLocks noGrp="1"/>
          </p:cNvSpPr>
          <p:nvPr/>
        </p:nvSpPr>
        <p:spPr>
          <a:xfrm>
            <a:off x="9239250" y="5114925"/>
            <a:ext cx="519112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两种方法的差值</a:t>
            </a:r>
          </a:p>
        </p:txBody>
      </p:sp>
      <p:sp>
        <p:nvSpPr>
          <p:cNvPr id="12" name="text-93">
            <a:extLst>
              <a:ext uri="{FF2B5EF4-FFF2-40B4-BE49-F238E27FC236}">
                <a16:creationId xmlns:a16="http://schemas.microsoft.com/office/drawing/2014/main" id="{0D82DB09-FE28-4A51-BDAC-C518549B2811}"/>
              </a:ext>
            </a:extLst>
          </p:cNvPr>
          <p:cNvSpPr>
            <a:spLocks noGrp="1"/>
          </p:cNvSpPr>
          <p:nvPr/>
        </p:nvSpPr>
        <p:spPr>
          <a:xfrm>
            <a:off x="9239250" y="5762625"/>
            <a:ext cx="528637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rPr>
              <a:t>拟合阶 2.0031</a:t>
            </a:r>
          </a:p>
        </p:txBody>
      </p:sp>
      <p:sp>
        <p:nvSpPr>
          <p:cNvPr id="13" name="text-94">
            <a:extLst>
              <a:ext uri="{FF2B5EF4-FFF2-40B4-BE49-F238E27FC236}">
                <a16:creationId xmlns:a16="http://schemas.microsoft.com/office/drawing/2014/main" id="{6D20AED1-81FD-419D-9F00-AB50A36E6129}"/>
              </a:ext>
            </a:extLst>
          </p:cNvPr>
          <p:cNvSpPr>
            <a:spLocks noGrp="1"/>
          </p:cNvSpPr>
          <p:nvPr/>
        </p:nvSpPr>
        <p:spPr>
          <a:xfrm>
            <a:off x="9239250" y="6705600"/>
            <a:ext cx="5305425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rPr>
              <a:t>主要受二阶有限差分误差支配</a:t>
            </a:r>
          </a:p>
        </p:txBody>
      </p:sp>
    </p:spTree>
    <p:extLst>
      <p:ext uri="{BB962C8B-B14F-4D97-AF65-F5344CB8AC3E}">
        <p14:creationId xmlns:p14="http://schemas.microsoft.com/office/powerpoint/2010/main" val="9741053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95">
            <a:extLst>
              <a:ext uri="{FF2B5EF4-FFF2-40B4-BE49-F238E27FC236}">
                <a16:creationId xmlns:a16="http://schemas.microsoft.com/office/drawing/2014/main" id="{6A907E20-96D7-4676-A39B-842CF0E19121}"/>
              </a:ext>
            </a:extLst>
          </p:cNvPr>
          <p:cNvSpPr>
            <a:spLocks noGrp="1"/>
          </p:cNvSpPr>
          <p:nvPr/>
        </p:nvSpPr>
        <p:spPr>
          <a:xfrm>
            <a:off x="781050" y="457200"/>
            <a:ext cx="11906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常微分方程初值问题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BCFA9AF-536B-4A4C-892B-1E1C9D7D1243}"/>
              </a:ext>
            </a:extLst>
          </p:cNvPr>
          <p:cNvSpPr>
            <a:spLocks noGrp="1"/>
          </p:cNvSpPr>
          <p:nvPr/>
        </p:nvSpPr>
        <p:spPr>
          <a:xfrm>
            <a:off x="762000" y="952500"/>
            <a:ext cx="13716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解析解验证与经典 RK4</a:t>
            </a:r>
          </a:p>
        </p:txBody>
      </p:sp>
      <p:sp>
        <p:nvSpPr>
          <p:cNvPr id="3" name="text-96">
            <a:extLst>
              <a:ext uri="{FF2B5EF4-FFF2-40B4-BE49-F238E27FC236}">
                <a16:creationId xmlns:a16="http://schemas.microsoft.com/office/drawing/2014/main" id="{FC62B75E-7841-4966-A6E5-A3BADD195B4B}"/>
              </a:ext>
            </a:extLst>
          </p:cNvPr>
          <p:cNvSpPr>
            <a:spLocks noGrp="1"/>
          </p:cNvSpPr>
          <p:nvPr/>
        </p:nvSpPr>
        <p:spPr>
          <a:xfrm>
            <a:off x="13811250" y="7762875"/>
            <a:ext cx="666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text-97">
            <a:extLst>
              <a:ext uri="{FF2B5EF4-FFF2-40B4-BE49-F238E27FC236}">
                <a16:creationId xmlns:a16="http://schemas.microsoft.com/office/drawing/2014/main" id="{AB5E56D0-FFE9-4561-8979-D21A2B2C7425}"/>
              </a:ext>
            </a:extLst>
          </p:cNvPr>
          <p:cNvSpPr>
            <a:spLocks noGrp="1"/>
          </p:cNvSpPr>
          <p:nvPr/>
        </p:nvSpPr>
        <p:spPr>
          <a:xfrm>
            <a:off x="781050" y="2286000"/>
            <a:ext cx="7096125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y′ + y = t² + 3，y(0) = 1</a:t>
            </a:r>
          </a:p>
        </p:txBody>
      </p:sp>
      <p:sp>
        <p:nvSpPr>
          <p:cNvPr id="5" name="text-98">
            <a:extLst>
              <a:ext uri="{FF2B5EF4-FFF2-40B4-BE49-F238E27FC236}">
                <a16:creationId xmlns:a16="http://schemas.microsoft.com/office/drawing/2014/main" id="{4D4A4390-107A-4625-9D69-ED613C716B82}"/>
              </a:ext>
            </a:extLst>
          </p:cNvPr>
          <p:cNvSpPr>
            <a:spLocks noGrp="1"/>
          </p:cNvSpPr>
          <p:nvPr/>
        </p:nvSpPr>
        <p:spPr>
          <a:xfrm>
            <a:off x="781050" y="3305175"/>
            <a:ext cx="709612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450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rPr>
              <a:t>y(t) = t² − 2t + 5 − 4e⁻ᵗ</a:t>
            </a:r>
          </a:p>
        </p:txBody>
      </p:sp>
      <p:sp>
        <p:nvSpPr>
          <p:cNvPr id="6" name="text-99">
            <a:extLst>
              <a:ext uri="{FF2B5EF4-FFF2-40B4-BE49-F238E27FC236}">
                <a16:creationId xmlns:a16="http://schemas.microsoft.com/office/drawing/2014/main" id="{4A3E0076-C257-4FA7-903B-0C9495C1EEF3}"/>
              </a:ext>
            </a:extLst>
          </p:cNvPr>
          <p:cNvSpPr>
            <a:spLocks noGrp="1"/>
          </p:cNvSpPr>
          <p:nvPr/>
        </p:nvSpPr>
        <p:spPr>
          <a:xfrm>
            <a:off x="781050" y="4371975"/>
            <a:ext cx="70485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手工推导与 dsolve 互相核对</a:t>
            </a:r>
          </a:p>
        </p:txBody>
      </p:sp>
      <p:sp>
        <p:nvSpPr>
          <p:cNvPr id="7" name="text-100">
            <a:extLst>
              <a:ext uri="{FF2B5EF4-FFF2-40B4-BE49-F238E27FC236}">
                <a16:creationId xmlns:a16="http://schemas.microsoft.com/office/drawing/2014/main" id="{FF87540D-5658-40B6-B74D-1DB56CDFACAC}"/>
              </a:ext>
            </a:extLst>
          </p:cNvPr>
          <p:cNvSpPr>
            <a:spLocks noGrp="1"/>
          </p:cNvSpPr>
          <p:nvPr/>
        </p:nvSpPr>
        <p:spPr>
          <a:xfrm>
            <a:off x="781050" y="5048250"/>
            <a:ext cx="70485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rPr>
              <a:t>检查方程残差与初值残差</a:t>
            </a:r>
          </a:p>
        </p:txBody>
      </p:sp>
      <p:sp>
        <p:nvSpPr>
          <p:cNvPr id="8" name="text-101">
            <a:extLst>
              <a:ext uri="{FF2B5EF4-FFF2-40B4-BE49-F238E27FC236}">
                <a16:creationId xmlns:a16="http://schemas.microsoft.com/office/drawing/2014/main" id="{65B62050-184E-48BA-B1B2-54F5643FEBFF}"/>
              </a:ext>
            </a:extLst>
          </p:cNvPr>
          <p:cNvSpPr>
            <a:spLocks noGrp="1"/>
          </p:cNvSpPr>
          <p:nvPr/>
        </p:nvSpPr>
        <p:spPr>
          <a:xfrm>
            <a:off x="781050" y="6334125"/>
            <a:ext cx="7048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每步取四次斜率的加权平均</a:t>
            </a:r>
          </a:p>
        </p:txBody>
      </p:sp>
      <p:sp>
        <p:nvSpPr>
          <p:cNvPr id="9" name="text-102">
            <a:extLst>
              <a:ext uri="{FF2B5EF4-FFF2-40B4-BE49-F238E27FC236}">
                <a16:creationId xmlns:a16="http://schemas.microsoft.com/office/drawing/2014/main" id="{6B555B0D-8F2B-440B-9710-149B02F5B0AD}"/>
              </a:ext>
            </a:extLst>
          </p:cNvPr>
          <p:cNvSpPr>
            <a:spLocks noGrp="1"/>
          </p:cNvSpPr>
          <p:nvPr/>
        </p:nvSpPr>
        <p:spPr>
          <a:xfrm>
            <a:off x="8410575" y="2305050"/>
            <a:ext cx="6191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75" b="0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k₁ = f(tₙ, yₙ)</a:t>
            </a:r>
          </a:p>
        </p:txBody>
      </p:sp>
      <p:sp>
        <p:nvSpPr>
          <p:cNvPr id="10" name="text-103">
            <a:extLst>
              <a:ext uri="{FF2B5EF4-FFF2-40B4-BE49-F238E27FC236}">
                <a16:creationId xmlns:a16="http://schemas.microsoft.com/office/drawing/2014/main" id="{DB7E9CA3-3B85-4265-AC59-4D80D3A0516D}"/>
              </a:ext>
            </a:extLst>
          </p:cNvPr>
          <p:cNvSpPr>
            <a:spLocks noGrp="1"/>
          </p:cNvSpPr>
          <p:nvPr/>
        </p:nvSpPr>
        <p:spPr>
          <a:xfrm>
            <a:off x="8410575" y="3143250"/>
            <a:ext cx="6191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6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k₂ = f(tₙ+h/2, yₙ+hk₁/2)</a:t>
            </a:r>
          </a:p>
        </p:txBody>
      </p:sp>
      <p:sp>
        <p:nvSpPr>
          <p:cNvPr id="11" name="text-104">
            <a:extLst>
              <a:ext uri="{FF2B5EF4-FFF2-40B4-BE49-F238E27FC236}">
                <a16:creationId xmlns:a16="http://schemas.microsoft.com/office/drawing/2014/main" id="{CB615A81-A5D0-4165-AE27-0EA6A256787C}"/>
              </a:ext>
            </a:extLst>
          </p:cNvPr>
          <p:cNvSpPr>
            <a:spLocks noGrp="1"/>
          </p:cNvSpPr>
          <p:nvPr/>
        </p:nvSpPr>
        <p:spPr>
          <a:xfrm>
            <a:off x="8410575" y="3981450"/>
            <a:ext cx="6191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6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k₃ = f(tₙ+h/2, yₙ+hk₂/2)</a:t>
            </a:r>
          </a:p>
        </p:txBody>
      </p:sp>
      <p:sp>
        <p:nvSpPr>
          <p:cNvPr id="12" name="text-105">
            <a:extLst>
              <a:ext uri="{FF2B5EF4-FFF2-40B4-BE49-F238E27FC236}">
                <a16:creationId xmlns:a16="http://schemas.microsoft.com/office/drawing/2014/main" id="{F40C18B6-49B2-4D92-A6CC-DE06E9AF5AEF}"/>
              </a:ext>
            </a:extLst>
          </p:cNvPr>
          <p:cNvSpPr>
            <a:spLocks noGrp="1"/>
          </p:cNvSpPr>
          <p:nvPr/>
        </p:nvSpPr>
        <p:spPr>
          <a:xfrm>
            <a:off x="8410575" y="4819650"/>
            <a:ext cx="6191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6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k₄ = f(tₙ+h, yₙ+hk₃)</a:t>
            </a:r>
          </a:p>
        </p:txBody>
      </p:sp>
      <p:sp>
        <p:nvSpPr>
          <p:cNvPr id="13" name="text-106">
            <a:extLst>
              <a:ext uri="{FF2B5EF4-FFF2-40B4-BE49-F238E27FC236}">
                <a16:creationId xmlns:a16="http://schemas.microsoft.com/office/drawing/2014/main" id="{5A247700-4E3C-49A9-9BC5-D359A1C825F5}"/>
              </a:ext>
            </a:extLst>
          </p:cNvPr>
          <p:cNvSpPr>
            <a:spLocks noGrp="1"/>
          </p:cNvSpPr>
          <p:nvPr/>
        </p:nvSpPr>
        <p:spPr>
          <a:xfrm>
            <a:off x="8410575" y="6162675"/>
            <a:ext cx="619125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625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rPr>
              <a:t>yₙ₊₁ = yₙ + h(k₁+2k₂+2k₃+k₄)/6</a:t>
            </a:r>
          </a:p>
        </p:txBody>
      </p:sp>
    </p:spTree>
    <p:extLst>
      <p:ext uri="{BB962C8B-B14F-4D97-AF65-F5344CB8AC3E}">
        <p14:creationId xmlns:p14="http://schemas.microsoft.com/office/powerpoint/2010/main" val="13451780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107">
            <a:extLst>
              <a:ext uri="{FF2B5EF4-FFF2-40B4-BE49-F238E27FC236}">
                <a16:creationId xmlns:a16="http://schemas.microsoft.com/office/drawing/2014/main" id="{4E7EAB8D-840C-494B-A366-A3878F620EF2}"/>
              </a:ext>
            </a:extLst>
          </p:cNvPr>
          <p:cNvSpPr>
            <a:spLocks noGrp="1"/>
          </p:cNvSpPr>
          <p:nvPr/>
        </p:nvSpPr>
        <p:spPr>
          <a:xfrm>
            <a:off x="781050" y="457200"/>
            <a:ext cx="11906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常微分方程初值问题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82E1960-0165-405D-823C-D195437E3283}"/>
              </a:ext>
            </a:extLst>
          </p:cNvPr>
          <p:cNvSpPr>
            <a:spLocks noGrp="1"/>
          </p:cNvSpPr>
          <p:nvPr/>
        </p:nvSpPr>
        <p:spPr>
          <a:xfrm>
            <a:off x="762000" y="952500"/>
            <a:ext cx="13716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RK4 的数值解与四阶收敛</a:t>
            </a:r>
          </a:p>
        </p:txBody>
      </p:sp>
      <p:sp>
        <p:nvSpPr>
          <p:cNvPr id="3" name="text-108">
            <a:extLst>
              <a:ext uri="{FF2B5EF4-FFF2-40B4-BE49-F238E27FC236}">
                <a16:creationId xmlns:a16="http://schemas.microsoft.com/office/drawing/2014/main" id="{ED7FE5A9-570C-4352-8983-99DF92CB124A}"/>
              </a:ext>
            </a:extLst>
          </p:cNvPr>
          <p:cNvSpPr>
            <a:spLocks noGrp="1"/>
          </p:cNvSpPr>
          <p:nvPr/>
        </p:nvSpPr>
        <p:spPr>
          <a:xfrm>
            <a:off x="13811250" y="7762875"/>
            <a:ext cx="666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43D051FB-2519-4C85-8F4D-59C9FA2217A0}"/>
              </a:ext>
            </a:extLst>
          </p:cNvPr>
          <p:cNvSpPr>
            <a:spLocks noGrp="1"/>
          </p:cNvSpPr>
          <p:nvPr/>
        </p:nvSpPr>
        <p:spPr>
          <a:xfrm>
            <a:off x="781050" y="7772400"/>
            <a:ext cx="12668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rPr>
              <a:t>图源：runOdeFigureAnalysis.m、runConvergenceExperiment.m，2026-09-11；数据：ode_convergence.csv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62102" y="2085975"/>
            <a:ext cx="5105320" cy="370522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19975" y="2287253"/>
            <a:ext cx="7086600" cy="4836194"/>
          </a:xfrm>
          <a:prstGeom prst="rect">
            <a:avLst/>
          </a:prstGeom>
        </p:spPr>
      </p:pic>
      <p:sp>
        <p:nvSpPr>
          <p:cNvPr id="7" name="text-109">
            <a:extLst>
              <a:ext uri="{FF2B5EF4-FFF2-40B4-BE49-F238E27FC236}">
                <a16:creationId xmlns:a16="http://schemas.microsoft.com/office/drawing/2014/main" id="{55482CCE-0B85-4F53-8AD7-0EC9D5186641}"/>
              </a:ext>
            </a:extLst>
          </p:cNvPr>
          <p:cNvSpPr>
            <a:spLocks noGrp="1"/>
          </p:cNvSpPr>
          <p:nvPr/>
        </p:nvSpPr>
        <p:spPr>
          <a:xfrm>
            <a:off x="781050" y="6286500"/>
            <a:ext cx="3048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最大误差拟合阶</a:t>
            </a:r>
          </a:p>
        </p:txBody>
      </p:sp>
      <p:sp>
        <p:nvSpPr>
          <p:cNvPr id="8" name="text-110">
            <a:extLst>
              <a:ext uri="{FF2B5EF4-FFF2-40B4-BE49-F238E27FC236}">
                <a16:creationId xmlns:a16="http://schemas.microsoft.com/office/drawing/2014/main" id="{F76D88D0-2918-42BF-8AFA-731CDF187AAB}"/>
              </a:ext>
            </a:extLst>
          </p:cNvPr>
          <p:cNvSpPr>
            <a:spLocks noGrp="1"/>
          </p:cNvSpPr>
          <p:nvPr/>
        </p:nvSpPr>
        <p:spPr>
          <a:xfrm>
            <a:off x="4114800" y="6086475"/>
            <a:ext cx="30480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4650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rPr>
              <a:t>4.0367</a:t>
            </a:r>
          </a:p>
        </p:txBody>
      </p:sp>
      <p:sp>
        <p:nvSpPr>
          <p:cNvPr id="9" name="text-111">
            <a:extLst>
              <a:ext uri="{FF2B5EF4-FFF2-40B4-BE49-F238E27FC236}">
                <a16:creationId xmlns:a16="http://schemas.microsoft.com/office/drawing/2014/main" id="{A6A8D7B6-7F22-4FA4-A348-8F502B5FFFDA}"/>
              </a:ext>
            </a:extLst>
          </p:cNvPr>
          <p:cNvSpPr>
            <a:spLocks noGrp="1"/>
          </p:cNvSpPr>
          <p:nvPr/>
        </p:nvSpPr>
        <p:spPr>
          <a:xfrm>
            <a:off x="781050" y="7134225"/>
            <a:ext cx="63531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步长减半，误差约缩小至 1/16</a:t>
            </a:r>
          </a:p>
        </p:txBody>
      </p:sp>
    </p:spTree>
    <p:extLst>
      <p:ext uri="{BB962C8B-B14F-4D97-AF65-F5344CB8AC3E}">
        <p14:creationId xmlns:p14="http://schemas.microsoft.com/office/powerpoint/2010/main" val="808645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112">
            <a:extLst>
              <a:ext uri="{FF2B5EF4-FFF2-40B4-BE49-F238E27FC236}">
                <a16:creationId xmlns:a16="http://schemas.microsoft.com/office/drawing/2014/main" id="{070648CC-E41F-4F84-9BD5-661630EF9B19}"/>
              </a:ext>
            </a:extLst>
          </p:cNvPr>
          <p:cNvSpPr>
            <a:spLocks noGrp="1"/>
          </p:cNvSpPr>
          <p:nvPr/>
        </p:nvSpPr>
        <p:spPr>
          <a:xfrm>
            <a:off x="781050" y="457200"/>
            <a:ext cx="11906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Euler、RK2 与 RK4 的比较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59D3845-B89E-4928-97CB-9707F8F84B64}"/>
              </a:ext>
            </a:extLst>
          </p:cNvPr>
          <p:cNvSpPr>
            <a:spLocks noGrp="1"/>
          </p:cNvSpPr>
          <p:nvPr/>
        </p:nvSpPr>
        <p:spPr>
          <a:xfrm>
            <a:off x="762000" y="952500"/>
            <a:ext cx="13716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相同步长下，高阶方法误差更小</a:t>
            </a:r>
          </a:p>
        </p:txBody>
      </p:sp>
      <p:sp>
        <p:nvSpPr>
          <p:cNvPr id="3" name="text-113">
            <a:extLst>
              <a:ext uri="{FF2B5EF4-FFF2-40B4-BE49-F238E27FC236}">
                <a16:creationId xmlns:a16="http://schemas.microsoft.com/office/drawing/2014/main" id="{9027D7FD-545C-4256-8B44-C9FC951DF0ED}"/>
              </a:ext>
            </a:extLst>
          </p:cNvPr>
          <p:cNvSpPr>
            <a:spLocks noGrp="1"/>
          </p:cNvSpPr>
          <p:nvPr/>
        </p:nvSpPr>
        <p:spPr>
          <a:xfrm>
            <a:off x="13811250" y="7762875"/>
            <a:ext cx="666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88317560-1FA8-439E-B9FB-DC521B253875}"/>
              </a:ext>
            </a:extLst>
          </p:cNvPr>
          <p:cNvSpPr>
            <a:spLocks noGrp="1"/>
          </p:cNvSpPr>
          <p:nvPr/>
        </p:nvSpPr>
        <p:spPr>
          <a:xfrm>
            <a:off x="781050" y="7772400"/>
            <a:ext cx="12668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rPr>
              <a:t>图表来源：runOdeMethodComparison.m，2026-09-11；数据：ode_method_comparison.csv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77524" y="2019300"/>
            <a:ext cx="6017676" cy="5486400"/>
          </a:xfrm>
          <a:prstGeom prst="rect">
            <a:avLst/>
          </a:prstGeom>
        </p:spPr>
      </p:pic>
      <p:sp>
        <p:nvSpPr>
          <p:cNvPr id="6" name="text-114">
            <a:extLst>
              <a:ext uri="{FF2B5EF4-FFF2-40B4-BE49-F238E27FC236}">
                <a16:creationId xmlns:a16="http://schemas.microsoft.com/office/drawing/2014/main" id="{98F9F923-1327-490D-AC26-1C26AAE083A9}"/>
              </a:ext>
            </a:extLst>
          </p:cNvPr>
          <p:cNvSpPr>
            <a:spLocks noGrp="1"/>
          </p:cNvSpPr>
          <p:nvPr/>
        </p:nvSpPr>
        <p:spPr>
          <a:xfrm>
            <a:off x="10096500" y="2190750"/>
            <a:ext cx="4476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统一步数序列</a:t>
            </a:r>
          </a:p>
        </p:txBody>
      </p:sp>
      <p:sp>
        <p:nvSpPr>
          <p:cNvPr id="7" name="text-115">
            <a:extLst>
              <a:ext uri="{FF2B5EF4-FFF2-40B4-BE49-F238E27FC236}">
                <a16:creationId xmlns:a16="http://schemas.microsoft.com/office/drawing/2014/main" id="{5BA6A49D-049B-43AC-8E93-3801BDC96250}"/>
              </a:ext>
            </a:extLst>
          </p:cNvPr>
          <p:cNvSpPr>
            <a:spLocks noGrp="1"/>
          </p:cNvSpPr>
          <p:nvPr/>
        </p:nvSpPr>
        <p:spPr>
          <a:xfrm>
            <a:off x="10096500" y="281940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N = 6, 12, …, 384</a:t>
            </a:r>
          </a:p>
        </p:txBody>
      </p:sp>
      <p:graphicFrame>
        <p:nvGraphicFramePr>
          <p:cNvPr id="17" name="表格 16"/>
          <p:cNvGraphicFramePr/>
          <p:nvPr/>
        </p:nvGraphicFramePr>
        <p:xfrm>
          <a:off x="10096500" y="3800475"/>
          <a:ext cx="4324350" cy="2686050"/>
        </p:xfrm>
        <a:graphic>
          <a:graphicData uri="http://schemas.openxmlformats.org/drawingml/2006/table">
            <a:tbl>
              <a:tblPr/>
              <a:tblGrid>
                <a:gridCol w="216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15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3D0C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>
                    <a:solidFill>
                      <a:srgbClr val="18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3D0C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拟合阶</a:t>
                      </a:r>
                    </a:p>
                  </a:txBody>
                  <a:tcPr>
                    <a:solidFill>
                      <a:srgbClr val="183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9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Euler</a:t>
                      </a:r>
                    </a:p>
                  </a:txBody>
                  <a:tcPr>
                    <a:solidFill>
                      <a:srgbClr val="0D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2A08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1.0181</a:t>
                      </a:r>
                    </a:p>
                  </a:txBody>
                  <a:tcPr>
                    <a:solidFill>
                      <a:srgbClr val="0D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9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RK2</a:t>
                      </a:r>
                    </a:p>
                  </a:txBody>
                  <a:tcPr>
                    <a:solidFill>
                      <a:srgbClr val="0D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2A08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2.0470</a:t>
                      </a:r>
                    </a:p>
                  </a:txBody>
                  <a:tcPr>
                    <a:solidFill>
                      <a:srgbClr val="0D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5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9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RK4</a:t>
                      </a:r>
                    </a:p>
                  </a:txBody>
                  <a:tcPr>
                    <a:solidFill>
                      <a:srgbClr val="0D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2A08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4.0367</a:t>
                      </a:r>
                    </a:p>
                  </a:txBody>
                  <a:tcPr>
                    <a:solidFill>
                      <a:srgbClr val="0D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-116">
            <a:extLst>
              <a:ext uri="{FF2B5EF4-FFF2-40B4-BE49-F238E27FC236}">
                <a16:creationId xmlns:a16="http://schemas.microsoft.com/office/drawing/2014/main" id="{0DB3FE0B-355B-49A4-8E07-9B75935AD5FF}"/>
              </a:ext>
            </a:extLst>
          </p:cNvPr>
          <p:cNvSpPr>
            <a:spLocks noGrp="1"/>
          </p:cNvSpPr>
          <p:nvPr/>
        </p:nvSpPr>
        <p:spPr>
          <a:xfrm>
            <a:off x="10096500" y="6858000"/>
            <a:ext cx="4438650" cy="676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rPr>
              <a:t>实验结果与理论 1 / 2 / 4 阶一致</a:t>
            </a:r>
          </a:p>
        </p:txBody>
      </p:sp>
    </p:spTree>
    <p:extLst>
      <p:ext uri="{BB962C8B-B14F-4D97-AF65-F5344CB8AC3E}">
        <p14:creationId xmlns:p14="http://schemas.microsoft.com/office/powerpoint/2010/main" val="1788685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-117">
            <a:extLst>
              <a:ext uri="{FF2B5EF4-FFF2-40B4-BE49-F238E27FC236}">
                <a16:creationId xmlns:a16="http://schemas.microsoft.com/office/drawing/2014/main" id="{4CBA0733-32D8-44E7-A370-403DE3F5EE44}"/>
              </a:ext>
            </a:extLst>
          </p:cNvPr>
          <p:cNvSpPr>
            <a:spLocks noGrp="1"/>
          </p:cNvSpPr>
          <p:nvPr/>
        </p:nvSpPr>
        <p:spPr>
          <a:xfrm>
            <a:off x="781050" y="457200"/>
            <a:ext cx="11906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Euler、RK2 与 RK4 的比较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5B34B3E-42E8-4728-AEFB-964694271B03}"/>
              </a:ext>
            </a:extLst>
          </p:cNvPr>
          <p:cNvSpPr>
            <a:spLocks noGrp="1"/>
          </p:cNvSpPr>
          <p:nvPr/>
        </p:nvSpPr>
        <p:spPr>
          <a:xfrm>
            <a:off x="762000" y="952500"/>
            <a:ext cx="13716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相同函数调用预算下，RK4 仍有精度优势</a:t>
            </a:r>
          </a:p>
        </p:txBody>
      </p:sp>
      <p:sp>
        <p:nvSpPr>
          <p:cNvPr id="3" name="text-118">
            <a:extLst>
              <a:ext uri="{FF2B5EF4-FFF2-40B4-BE49-F238E27FC236}">
                <a16:creationId xmlns:a16="http://schemas.microsoft.com/office/drawing/2014/main" id="{F18B8074-D365-419A-BDBA-6A35A01DEA14}"/>
              </a:ext>
            </a:extLst>
          </p:cNvPr>
          <p:cNvSpPr>
            <a:spLocks noGrp="1"/>
          </p:cNvSpPr>
          <p:nvPr/>
        </p:nvSpPr>
        <p:spPr>
          <a:xfrm>
            <a:off x="13811250" y="7762875"/>
            <a:ext cx="666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source">
            <a:extLst>
              <a:ext uri="{FF2B5EF4-FFF2-40B4-BE49-F238E27FC236}">
                <a16:creationId xmlns:a16="http://schemas.microsoft.com/office/drawing/2014/main" id="{9910D335-C4A8-4059-9023-98C94DA088D6}"/>
              </a:ext>
            </a:extLst>
          </p:cNvPr>
          <p:cNvSpPr>
            <a:spLocks noGrp="1"/>
          </p:cNvSpPr>
          <p:nvPr/>
        </p:nvSpPr>
        <p:spPr>
          <a:xfrm>
            <a:off x="781050" y="7772400"/>
            <a:ext cx="12668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rPr>
              <a:t>图表来源：runOdeMethodComparison.m，2026-09-11；数据：ode_method_comparison.csv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3566" y="2085975"/>
            <a:ext cx="7480743" cy="5334000"/>
          </a:xfrm>
          <a:prstGeom prst="rect">
            <a:avLst/>
          </a:prstGeom>
        </p:spPr>
      </p:pic>
      <p:sp>
        <p:nvSpPr>
          <p:cNvPr id="6" name="text-119">
            <a:extLst>
              <a:ext uri="{FF2B5EF4-FFF2-40B4-BE49-F238E27FC236}">
                <a16:creationId xmlns:a16="http://schemas.microsoft.com/office/drawing/2014/main" id="{DA2D4012-EB14-449C-8700-4AEFCA1FB1B1}"/>
              </a:ext>
            </a:extLst>
          </p:cNvPr>
          <p:cNvSpPr>
            <a:spLocks noGrp="1"/>
          </p:cNvSpPr>
          <p:nvPr/>
        </p:nvSpPr>
        <p:spPr>
          <a:xfrm>
            <a:off x="9401175" y="2200275"/>
            <a:ext cx="51244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W = 96 次右端函数调用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9401175" y="3219450"/>
          <a:ext cx="5057775" cy="2809875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3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246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3D0C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>
                    <a:solidFill>
                      <a:srgbClr val="18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3D0C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步数 N</a:t>
                      </a:r>
                    </a:p>
                  </a:txBody>
                  <a:tcPr>
                    <a:solidFill>
                      <a:srgbClr val="18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3D0C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最大误差</a:t>
                      </a:r>
                    </a:p>
                  </a:txBody>
                  <a:tcPr>
                    <a:solidFill>
                      <a:srgbClr val="183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9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Euler</a:t>
                      </a:r>
                    </a:p>
                  </a:txBody>
                  <a:tcPr>
                    <a:solidFill>
                      <a:srgbClr val="0D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9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</a:t>
                      </a:r>
                    </a:p>
                  </a:txBody>
                  <a:tcPr>
                    <a:solidFill>
                      <a:srgbClr val="0D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2A08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2.05e-2</a:t>
                      </a:r>
                    </a:p>
                  </a:txBody>
                  <a:tcPr>
                    <a:solidFill>
                      <a:srgbClr val="0D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9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RK2</a:t>
                      </a:r>
                    </a:p>
                  </a:txBody>
                  <a:tcPr>
                    <a:solidFill>
                      <a:srgbClr val="0D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9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</a:t>
                      </a:r>
                    </a:p>
                  </a:txBody>
                  <a:tcPr>
                    <a:solidFill>
                      <a:srgbClr val="0D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2A08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1.51e-3</a:t>
                      </a:r>
                    </a:p>
                  </a:txBody>
                  <a:tcPr>
                    <a:solidFill>
                      <a:srgbClr val="0D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9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RK4</a:t>
                      </a:r>
                    </a:p>
                  </a:txBody>
                  <a:tcPr>
                    <a:solidFill>
                      <a:srgbClr val="0D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9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>
                    <a:solidFill>
                      <a:srgbClr val="0D2B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2A08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3.79e-6</a:t>
                      </a:r>
                    </a:p>
                  </a:txBody>
                  <a:tcPr>
                    <a:solidFill>
                      <a:srgbClr val="0D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-120">
            <a:extLst>
              <a:ext uri="{FF2B5EF4-FFF2-40B4-BE49-F238E27FC236}">
                <a16:creationId xmlns:a16="http://schemas.microsoft.com/office/drawing/2014/main" id="{E242A669-5DC2-4035-9132-06481D794319}"/>
              </a:ext>
            </a:extLst>
          </p:cNvPr>
          <p:cNvSpPr>
            <a:spLocks noGrp="1"/>
          </p:cNvSpPr>
          <p:nvPr/>
        </p:nvSpPr>
        <p:spPr>
          <a:xfrm>
            <a:off x="9401175" y="6467475"/>
            <a:ext cx="51435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rPr>
              <a:t>工作量 W = qN，q = 1、2、4</a:t>
            </a:r>
          </a:p>
        </p:txBody>
      </p:sp>
      <p:sp>
        <p:nvSpPr>
          <p:cNvPr id="9" name="text-121">
            <a:extLst>
              <a:ext uri="{FF2B5EF4-FFF2-40B4-BE49-F238E27FC236}">
                <a16:creationId xmlns:a16="http://schemas.microsoft.com/office/drawing/2014/main" id="{3EFEBED3-3E7A-48CB-B3C2-D9ED854E9C29}"/>
              </a:ext>
            </a:extLst>
          </p:cNvPr>
          <p:cNvSpPr>
            <a:spLocks noGrp="1"/>
          </p:cNvSpPr>
          <p:nvPr/>
        </p:nvSpPr>
        <p:spPr>
          <a:xfrm>
            <a:off x="9401175" y="7067550"/>
            <a:ext cx="514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函数调用次数与实测耗时分别评价</a:t>
            </a:r>
          </a:p>
        </p:txBody>
      </p:sp>
    </p:spTree>
    <p:extLst>
      <p:ext uri="{BB962C8B-B14F-4D97-AF65-F5344CB8AC3E}">
        <p14:creationId xmlns:p14="http://schemas.microsoft.com/office/powerpoint/2010/main" val="368618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122">
            <a:extLst>
              <a:ext uri="{FF2B5EF4-FFF2-40B4-BE49-F238E27FC236}">
                <a16:creationId xmlns:a16="http://schemas.microsoft.com/office/drawing/2014/main" id="{503BB92F-AB58-44F8-B58B-E179ACF7EA7A}"/>
              </a:ext>
            </a:extLst>
          </p:cNvPr>
          <p:cNvSpPr>
            <a:spLocks noGrp="1"/>
          </p:cNvSpPr>
          <p:nvPr/>
        </p:nvSpPr>
        <p:spPr>
          <a:xfrm>
            <a:off x="781050" y="457200"/>
            <a:ext cx="11906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443D126-66DD-4553-BCAE-5952C0E79C84}"/>
              </a:ext>
            </a:extLst>
          </p:cNvPr>
          <p:cNvSpPr>
            <a:spLocks noGrp="1"/>
          </p:cNvSpPr>
          <p:nvPr/>
        </p:nvSpPr>
        <p:spPr>
          <a:xfrm>
            <a:off x="762000" y="952500"/>
            <a:ext cx="137160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3" name="text-123">
            <a:extLst>
              <a:ext uri="{FF2B5EF4-FFF2-40B4-BE49-F238E27FC236}">
                <a16:creationId xmlns:a16="http://schemas.microsoft.com/office/drawing/2014/main" id="{2D36F25F-8900-4011-A2C9-3690FB5C998D}"/>
              </a:ext>
            </a:extLst>
          </p:cNvPr>
          <p:cNvSpPr>
            <a:spLocks noGrp="1"/>
          </p:cNvSpPr>
          <p:nvPr/>
        </p:nvSpPr>
        <p:spPr>
          <a:xfrm>
            <a:off x="13811250" y="7762875"/>
            <a:ext cx="666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text-124">
            <a:extLst>
              <a:ext uri="{FF2B5EF4-FFF2-40B4-BE49-F238E27FC236}">
                <a16:creationId xmlns:a16="http://schemas.microsoft.com/office/drawing/2014/main" id="{C0A22222-BF8F-45A3-A453-077E055B83AD}"/>
              </a:ext>
            </a:extLst>
          </p:cNvPr>
          <p:cNvSpPr>
            <a:spLocks noGrp="1"/>
          </p:cNvSpPr>
          <p:nvPr/>
        </p:nvSpPr>
        <p:spPr>
          <a:xfrm>
            <a:off x="781050" y="2343150"/>
            <a:ext cx="6381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45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73D0CD"/>
                </a:solidFill>
                <a:latin typeface="Microsoft YaHei"/>
                <a:ea typeface="Microsoft YaHei"/>
                <a:cs typeface="Microsoft YaHei"/>
              </a:rPr>
              <a:t>二阶有限差分</a:t>
            </a:r>
          </a:p>
        </p:txBody>
      </p:sp>
      <p:sp>
        <p:nvSpPr>
          <p:cNvPr id="5" name="text-125">
            <a:extLst>
              <a:ext uri="{FF2B5EF4-FFF2-40B4-BE49-F238E27FC236}">
                <a16:creationId xmlns:a16="http://schemas.microsoft.com/office/drawing/2014/main" id="{2FADED8A-6912-447E-8E3E-67B3575EA214}"/>
              </a:ext>
            </a:extLst>
          </p:cNvPr>
          <p:cNvSpPr>
            <a:spLocks noGrp="1"/>
          </p:cNvSpPr>
          <p:nvPr/>
        </p:nvSpPr>
        <p:spPr>
          <a:xfrm>
            <a:off x="781050" y="3200400"/>
            <a:ext cx="1304925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稀疏离散有效，网格加密验证理论阶数</a:t>
            </a:r>
          </a:p>
        </p:txBody>
      </p:sp>
      <p:sp>
        <p:nvSpPr>
          <p:cNvPr id="6" name="text-126">
            <a:extLst>
              <a:ext uri="{FF2B5EF4-FFF2-40B4-BE49-F238E27FC236}">
                <a16:creationId xmlns:a16="http://schemas.microsoft.com/office/drawing/2014/main" id="{E951A5B9-7400-408E-B710-FC4D002F98B2}"/>
              </a:ext>
            </a:extLst>
          </p:cNvPr>
          <p:cNvSpPr>
            <a:spLocks noGrp="1"/>
          </p:cNvSpPr>
          <p:nvPr/>
        </p:nvSpPr>
        <p:spPr>
          <a:xfrm>
            <a:off x="781050" y="4267200"/>
            <a:ext cx="63817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450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A083"/>
                </a:solidFill>
                <a:latin typeface="Microsoft YaHei"/>
                <a:ea typeface="Microsoft YaHei"/>
                <a:cs typeface="Microsoft YaHei"/>
              </a:rPr>
              <a:t>四阶精度提升</a:t>
            </a:r>
          </a:p>
        </p:txBody>
      </p:sp>
      <p:sp>
        <p:nvSpPr>
          <p:cNvPr id="7" name="text-127">
            <a:extLst>
              <a:ext uri="{FF2B5EF4-FFF2-40B4-BE49-F238E27FC236}">
                <a16:creationId xmlns:a16="http://schemas.microsoft.com/office/drawing/2014/main" id="{FBCA0FA2-9E2D-4AE6-9E47-933F1C9CA8CD}"/>
              </a:ext>
            </a:extLst>
          </p:cNvPr>
          <p:cNvSpPr>
            <a:spLocks noGrp="1"/>
          </p:cNvSpPr>
          <p:nvPr/>
        </p:nvSpPr>
        <p:spPr>
          <a:xfrm>
            <a:off x="781050" y="5124450"/>
            <a:ext cx="1323975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Richardson 外推与 RK4 打靶提供更高精度</a:t>
            </a:r>
          </a:p>
        </p:txBody>
      </p:sp>
      <p:sp>
        <p:nvSpPr>
          <p:cNvPr id="8" name="text-128">
            <a:extLst>
              <a:ext uri="{FF2B5EF4-FFF2-40B4-BE49-F238E27FC236}">
                <a16:creationId xmlns:a16="http://schemas.microsoft.com/office/drawing/2014/main" id="{4F8C9ABE-9B5B-422C-BDA4-D08E60B11BB3}"/>
              </a:ext>
            </a:extLst>
          </p:cNvPr>
          <p:cNvSpPr>
            <a:spLocks noGrp="1"/>
          </p:cNvSpPr>
          <p:nvPr/>
        </p:nvSpPr>
        <p:spPr>
          <a:xfrm>
            <a:off x="781050" y="6191250"/>
            <a:ext cx="66675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450" b="1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7BA7D7"/>
                </a:solidFill>
                <a:latin typeface="Microsoft YaHei"/>
                <a:ea typeface="Microsoft YaHei"/>
                <a:cs typeface="Microsoft YaHei"/>
              </a:rPr>
              <a:t>精度与计算成本</a:t>
            </a:r>
          </a:p>
        </p:txBody>
      </p:sp>
      <p:sp>
        <p:nvSpPr>
          <p:cNvPr id="9" name="text-129">
            <a:extLst>
              <a:ext uri="{FF2B5EF4-FFF2-40B4-BE49-F238E27FC236}">
                <a16:creationId xmlns:a16="http://schemas.microsoft.com/office/drawing/2014/main" id="{F940CF2D-1F9F-4BA9-ACCE-4D47A27D42C9}"/>
              </a:ext>
            </a:extLst>
          </p:cNvPr>
          <p:cNvSpPr>
            <a:spLocks noGrp="1"/>
          </p:cNvSpPr>
          <p:nvPr/>
        </p:nvSpPr>
        <p:spPr>
          <a:xfrm>
            <a:off x="781050" y="7048500"/>
            <a:ext cx="1314450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7F9FC"/>
                </a:solidFill>
                <a:latin typeface="Microsoft YaHei"/>
                <a:ea typeface="Microsoft YaHei"/>
                <a:cs typeface="Microsoft YaHei"/>
              </a:rPr>
              <a:t>在本文网格与调用预算下，RK4 表现出精度优势</a:t>
            </a:r>
          </a:p>
        </p:txBody>
      </p:sp>
      <p:sp>
        <p:nvSpPr>
          <p:cNvPr id="10" name="text-130">
            <a:extLst>
              <a:ext uri="{FF2B5EF4-FFF2-40B4-BE49-F238E27FC236}">
                <a16:creationId xmlns:a16="http://schemas.microsoft.com/office/drawing/2014/main" id="{232AEBDB-3D06-4CA2-BF6B-C764BC003D65}"/>
              </a:ext>
            </a:extLst>
          </p:cNvPr>
          <p:cNvSpPr>
            <a:spLocks noGrp="1"/>
          </p:cNvSpPr>
          <p:nvPr/>
        </p:nvSpPr>
        <p:spPr>
          <a:xfrm>
            <a:off x="12192000" y="466725"/>
            <a:ext cx="2286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DD1DE"/>
                </a:solidFill>
                <a:latin typeface="Microsoft YaHei"/>
                <a:ea typeface="Microsoft YaHei"/>
                <a:cs typeface="Microsoft YaHei"/>
              </a:rPr>
              <a:t>谢谢聆听</a:t>
            </a:r>
          </a:p>
        </p:txBody>
      </p:sp>
    </p:spTree>
    <p:extLst>
      <p:ext uri="{BB962C8B-B14F-4D97-AF65-F5344CB8AC3E}">
        <p14:creationId xmlns:p14="http://schemas.microsoft.com/office/powerpoint/2010/main" val="840760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1616</Words>
  <Application>Microsoft Office PowerPoint</Application>
  <DocSecurity>0</DocSecurity>
  <PresentationFormat>自定义</PresentationFormat>
  <Paragraphs>249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肃涵 庄</cp:lastModifiedBy>
  <cp:revision>1</cp:revision>
  <dcterms:created xsi:type="dcterms:W3CDTF">2026-09-12T05:41:41Z</dcterms:created>
  <dcterms:modified xsi:type="dcterms:W3CDTF">2026-09-12T05:45:12Z</dcterms:modified>
</cp:coreProperties>
</file>