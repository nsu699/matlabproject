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5240000" cy="85725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3B1BD"/>
    <a:srgbClr val="303A43"/>
    <a:srgbClr val="287D7B"/>
    <a:srgbClr val="4C3D20"/>
    <a:srgbClr val="9B7D40"/>
    <a:srgbClr val="FBFCFB"/>
    <a:srgbClr val="1B55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5020" autoAdjust="0"/>
  </p:normalViewPr>
  <p:slideViewPr>
    <p:cSldViewPr snapToGrid="0">
      <p:cViewPr>
        <p:scale>
          <a:sx n="73" d="100"/>
          <a:sy n="73" d="100"/>
        </p:scale>
        <p:origin x="760" y="-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建议用时：20秒</a:t>
            </a:r>
          </a:p>
          <a:p>
            <a:endParaRPr dirty="0"/>
          </a:p>
          <a:p>
            <a:r>
              <a:rPr dirty="0"/>
              <a:t>各位老师好，我是工程力学拔尖班的庄肃涵。本次MATLAB实践项目解决两个具体问题：一维Poisson边值问题，以及常微分方程初值问题。我将沿着有限差分、外推提精度、RK4和线性打靶这条路线，介绍理论如何转化为程序，再通过数据和图表验证。</a:t>
            </a:r>
          </a:p>
          <a:p>
            <a:endParaRPr dirty="0"/>
          </a:p>
          <a:p>
            <a:r>
              <a:rPr dirty="0"/>
              <a:t>来源：论文封面、摘要和第1节。网格曲面为AI抽象插图，不表示本题数值解。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建议用时：35秒</a:t>
            </a:r>
          </a:p>
          <a:p>
            <a:endParaRPr dirty="0"/>
          </a:p>
          <a:p>
            <a:r>
              <a:rPr dirty="0"/>
              <a:t>整个项目不是把四种算法简单并列。首先按照课程要求，用有限差分得到Poisson方程的基础数值解，并观察网格加密时误差怎样变化。随后利用它的二阶误差结构，通过Richardson外推提高精度。第三步完成另一个初值问题的RK4求解和方法比较。最后将同一个RK4接口用于向量状态，以线性打靶重新求解Poisson方程。每一步都遵循理论、编程、保存数据、分析绘图的过程，使后一阶段可以直接复用前一阶段的成果。</a:t>
            </a:r>
          </a:p>
          <a:p>
            <a:endParaRPr dirty="0"/>
          </a:p>
          <a:p>
            <a:r>
              <a:rPr dirty="0"/>
              <a:t>来源：论文第1、2、3、4、5、6节。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建议用时：40秒</a:t>
            </a:r>
          </a:p>
          <a:p>
            <a:endParaRPr/>
          </a:p>
          <a:p>
            <a:r>
              <a:t>两个模型的条件如图所示。Poisson方程给定两端零边界，右端是指数函数。初值问题给定起点值，计算区间为零到三。实现上，统一入口负责组织参数和实验，核心算法放在独立求解函数中。函数返回节点、数值解和诊断信息，实验程序再保存CSV和MAT，分析程序读取这些文件并画图。这样可以把算法问题与绘图问题分开定位，也能保证论文和PPT中的结论都有具体的数据来源。</a:t>
            </a:r>
          </a:p>
          <a:p>
            <a:endParaRPr/>
          </a:p>
          <a:p>
            <a:r>
              <a:t>来源：论文§1.1–1.4；src/poisson/solvePoissonFD.m、richardsonExtrapolatePoisson.m、solvePoissonShooting.m；src/ode/rk4Solve.m；runAll.m。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建议用时：50秒</a:t>
            </a:r>
          </a:p>
          <a:p>
            <a:endParaRPr/>
          </a:p>
          <a:p>
            <a:r>
              <a:t>第一阶段是有限差分。把区间等分后，用相邻三个节点近似二阶导数，中心差分的截断误差为二阶。将所有内部节点方程组装，就得到主对角线负二、两侧为一的三对角矩阵，再除以步长平方。实现时，我用spdiags构造稀疏矩阵，通过反斜杠直接求解。两端边界已经给定，所以未知量只有N减一个。这里需要仔细检查正二阶导数的符号，以及非零边界时移到右端的修正；本题的边界值恰好为零。</a:t>
            </a:r>
          </a:p>
          <a:p>
            <a:endParaRPr/>
          </a:p>
          <a:p>
            <a:r>
              <a:t>来源：论文§2.1–2.2；solvePoissonFD.m。图为AI网格/稀疏结构示意。代码为相同算法的精简表达，完整变量与检查见源函数。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建议用时：40秒</a:t>
            </a:r>
          </a:p>
          <a:p>
            <a:endParaRPr/>
          </a:p>
          <a:p>
            <a:r>
              <a:t>完成求解后，先用八等分网格检查解的基本形状。左图中的数值节点与解析解吻合，内部解为负，关于原点对称，两端为零。然后逐级加密网格，读取保存结果计算最大节点误差。右图采用双对数坐标，误差曲线接近二阶参考线。七组网格的拟合阶为二点零零二五，说明步长减半时误差约缩小到四分之一。线性系统的小残差只能证明离散方程解得准确，是否逼近连续问题，还要由这样的解析解误差和收敛检验来判断。</a:t>
            </a:r>
          </a:p>
          <a:p>
            <a:endParaRPr/>
          </a:p>
          <a:p>
            <a:r>
              <a:t>来源：论文§2.3–2.4；数据 results/poisson_n008_points.csv、poisson_n256_points.csv、poisson_convergence.csv；原始实验日期2026-09-11；图由exportPptDFigures.m于2026-09-12读取保存数据导出。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建议用时：50秒</a:t>
            </a:r>
          </a:p>
          <a:p>
            <a:endParaRPr/>
          </a:p>
          <a:p>
            <a:r>
              <a:t>基础差分已经验证了二阶收敛，接下来利用这个误差结构。对于本题的光滑解，主要误差项与步长平方成正比。细网格步长减半后，这一项变成原来的四分之一，因此细网格解乘四、减去粗网格解，再除以三，就能消去二阶项。编程时关键是用一比二到末尾的索引对齐共同节点。以十六等分粗网格为例，差分误差约为八点二六乘十的负四次方，外推后约为七乘十的负七次方。误差曲线和接近四的相邻观测阶共同说明提阶有效，但它需要额外计算三十二等分细网格。</a:t>
            </a:r>
          </a:p>
          <a:p>
            <a:endParaRPr/>
          </a:p>
          <a:p>
            <a:r>
              <a:t>来源：论文§3.1–3.3；results/poisson_richardson_summary.csv；数据日期2026-09-11；图表由exportPptDFigures.m于2026-09-12导出。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建议用时：50秒</a:t>
            </a:r>
          </a:p>
          <a:p>
            <a:endParaRPr dirty="0"/>
          </a:p>
          <a:p>
            <a:r>
              <a:rPr dirty="0"/>
              <a:t>第三阶段进入初值问题。经典RK4每一步计算四次斜率：起点一次，中点的两个预测状态各一次，终点预测一次，再按一、二、二、一加权更新。这里的k表示斜率，不包含步长，所以更新公式外还要乘h。程序先预分配解数组，每行存一个时间节点，每列存一个状态分量；计算阶段斜率时统一用列向量。这样对当前标量方程是一个分量，对后续打靶是两个分量，同一套核心循环可以直接复用。解析解不参与数值推进，只在求解完成后用于误差检验。</a:t>
            </a:r>
          </a:p>
          <a:p>
            <a:endParaRPr dirty="0"/>
          </a:p>
          <a:p>
            <a:r>
              <a:rPr dirty="0"/>
              <a:t>来源：论文§4.1–4.2；src/ode/rk4Solve.m。插图为四阶段预测的概念示意，不表示本题实际轨迹。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建议用时：40秒</a:t>
            </a:r>
          </a:p>
          <a:p>
            <a:endParaRPr/>
          </a:p>
          <a:p>
            <a:r>
              <a:t>这个初值问题可以先用积分因子法得到解析表达式，再用MATLAB的dsolve独立求解。程序对手推差、方程残差和初值残差分别判零，确保参照解可靠。左图比较了最粗网格的RK4节点和解析曲线，右图则给出七组步长下的最大误差。拟合阶为四点零三六七，与理论四阶一致。作为对照，Euler和Heun型RK2的拟合阶分别接近一和二。由此，两个基础求解器的精度都经过了解析解和网格加密两方面验证。</a:t>
            </a:r>
          </a:p>
          <a:p>
            <a:endParaRPr/>
          </a:p>
          <a:p>
            <a:r>
              <a:t>来源：论文§4.1–4.4、§5.2；results/ode_experiment.mat、ode_convergence.csv、ode_method_comparison.csv；数据日期2026-09-11；图由exportPptDFigures.m于2026-09-12导出。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建议用时：40秒</a:t>
            </a:r>
          </a:p>
          <a:p>
            <a:endParaRPr/>
          </a:p>
          <a:p>
            <a:r>
              <a:t>同一步长的比较还不能完整说明效率，因为RK4每步需要四次右端函数调用。因此，我再用总调用次数W衡量工作量。表中统一取九十六次调用，对应Euler九十六步、RK2四十八步、RK4二十四步。保存数据表明，三者最大误差分别约为二点零五乘十的负二次方、一点五一乘十的负三次方，以及三点七九乘十的负六次方。在本算例的相同预算下，RK4取得最小误差。实测耗时还会受到固定函数调用开销和机器状态影响，所以不能仅凭阶数推断所有问题的运行速度。</a:t>
            </a:r>
          </a:p>
          <a:p>
            <a:endParaRPr/>
          </a:p>
          <a:p>
            <a:r>
              <a:t>来源：论文§5.1–5.4；results/ode_method_comparison.csv，筛选functionEvaluations=96；原始数据2026-09-11，绘图exportPptDFigures.m，2026-09-12。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建议用时：50秒</a:t>
            </a:r>
          </a:p>
          <a:p>
            <a:endParaRPr/>
          </a:p>
          <a:p>
            <a:r>
              <a:t>最后把RK4迁移回Poisson问题。令v等于u的一阶导数，二阶方程就改写为两分量的一阶系统。先令左端斜率为零，调用一次向量RK4，得到图中的z。由于本题右端只依赖x，初始斜率增加s时，解只需加上线性项s乘x加一。因此用右端值直接计算s等于负z的一除以二，再修正所有节点，就可以满足右端零边界。这里使用的是线性结构带来的直接修正，并不需要反复调用Newton或割线法。两个问题由同一个RK4接口联系起来，也形成了独立于差分法的另一条求解路线。</a:t>
            </a:r>
          </a:p>
          <a:p>
            <a:endParaRPr/>
          </a:p>
          <a:p>
            <a:r>
              <a:t>来源：论文§6.1–6.2；solvePoissonShooting.m；results/poisson_shooting_raw.mat。图中零斜率解由保存的打靶解及初始斜率还原，未重新求解；绘图exportPptDFigures.m，2026-09-12。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建议用时：40秒</a:t>
            </a:r>
          </a:p>
          <a:p>
            <a:endParaRPr/>
          </a:p>
          <a:p>
            <a:r>
              <a:t>左图将解析解、差分解和打靶解放在相同节点上比较，粗网格下三者已经接近。右图用全部网格结果进一步区分精度：打靶法相对解析解的拟合阶为四点零零四二，有限差分为二点零零二五。还需要特别区分两方法差值的阶数，它约为二点零零三一。原因是差值等于两种误差相减，而二阶差分误差比四阶打靶误差大，因而主导了方法间差值。这并不改变打靶法自身相对解析解的四阶表现。</a:t>
            </a:r>
          </a:p>
          <a:p>
            <a:endParaRPr/>
          </a:p>
          <a:p>
            <a:r>
              <a:t>来源：论文§6.3；results/poisson_shooting_n008_raw.csv、poisson_n256_points.csv、poisson_shooting_analysis_summary.csv。原始数据2026-09-11，图由exportPptDFigures.m于2026-09-12导出。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建议用时：25秒</a:t>
            </a:r>
          </a:p>
          <a:p>
            <a:endParaRPr/>
          </a:p>
          <a:p>
            <a:r>
              <a:t>最后总结三点。第一，有限差分和RK4均完成了程序实现及理论阶数验证。第二，Richardson外推利用已有结果提高了精度。第三，同一个向量RK4接口成功迁移到线性打靶，实现了两条求解路线的交叉参照。项目保留了程序、原始数据和图表，形成可复核的完整成果。我的汇报结束，谢谢各位老师。</a:t>
            </a:r>
          </a:p>
          <a:p>
            <a:endParaRPr/>
          </a:p>
          <a:p>
            <a:r>
              <a:t>来源：论文第7节结论与附录。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1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5240000" cy="8572500"/>
          </a:xfrm>
          <a:prstGeom prst="rect">
            <a:avLst/>
          </a:prstGeom>
        </p:spPr>
      </p:pic>
      <p:sp>
        <p:nvSpPr>
          <p:cNvPr id="2" name="title-1">
            <a:extLst>
              <a:ext uri="{FF2B5EF4-FFF2-40B4-BE49-F238E27FC236}">
                <a16:creationId xmlns:a16="http://schemas.microsoft.com/office/drawing/2014/main" id="{A43614AB-54CB-4F81-BAE2-0BFDA1BA289C}"/>
              </a:ext>
            </a:extLst>
          </p:cNvPr>
          <p:cNvSpPr>
            <a:spLocks noGrp="1"/>
          </p:cNvSpPr>
          <p:nvPr/>
        </p:nvSpPr>
        <p:spPr>
          <a:xfrm>
            <a:off x="1381125" y="742950"/>
            <a:ext cx="11525250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lang="en-US" altLang="zh-CN" sz="3675" b="1">
                <a:solidFill>
                  <a:srgbClr val="303A43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altLang="zh-CN" sz="3675" b="1">
                <a:solidFill>
                  <a:srgbClr val="303A43"/>
                </a:solidFill>
                <a:latin typeface="Times New Roman"/>
                <a:ea typeface="Microsoft YaHei"/>
                <a:cs typeface="Times New Roman"/>
              </a:rPr>
              <a:t>MATLAB 实践项目</a:t>
            </a: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143875" y="2603500"/>
            <a:ext cx="6048375" cy="4032250"/>
          </a:xfrm>
          <a:prstGeom prst="rect">
            <a:avLst/>
          </a:prstGeom>
        </p:spPr>
      </p:pic>
      <p:sp>
        <p:nvSpPr>
          <p:cNvPr id="6" name="text-4">
            <a:extLst>
              <a:ext uri="{FF2B5EF4-FFF2-40B4-BE49-F238E27FC236}">
                <a16:creationId xmlns:a16="http://schemas.microsoft.com/office/drawing/2014/main" id="{D365BC57-8E23-4C38-9C66-E2999969668C}"/>
              </a:ext>
            </a:extLst>
          </p:cNvPr>
          <p:cNvSpPr>
            <a:spLocks noGrp="1"/>
          </p:cNvSpPr>
          <p:nvPr/>
        </p:nvSpPr>
        <p:spPr>
          <a:xfrm>
            <a:off x="1095375" y="2114550"/>
            <a:ext cx="600075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lang="en-US" altLang="zh-CN" sz="4875" b="1">
                <a:solidFill>
                  <a:srgbClr val="303A43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altLang="zh-CN" sz="4875" b="1" dirty="0">
                <a:solidFill>
                  <a:srgbClr val="303A43"/>
                </a:solidFill>
                <a:latin typeface="Times New Roman"/>
                <a:ea typeface="Microsoft YaHei"/>
                <a:cs typeface="Times New Roman"/>
              </a:rPr>
              <a:t>一维 Poisson 方程</a:t>
            </a:r>
          </a:p>
        </p:txBody>
      </p:sp>
      <p:sp>
        <p:nvSpPr>
          <p:cNvPr id="7" name="text-5">
            <a:extLst>
              <a:ext uri="{FF2B5EF4-FFF2-40B4-BE49-F238E27FC236}">
                <a16:creationId xmlns:a16="http://schemas.microsoft.com/office/drawing/2014/main" id="{CDAF5D59-C530-4D0D-8545-5D7F70CBC98C}"/>
              </a:ext>
            </a:extLst>
          </p:cNvPr>
          <p:cNvSpPr>
            <a:spLocks noGrp="1"/>
          </p:cNvSpPr>
          <p:nvPr/>
        </p:nvSpPr>
        <p:spPr>
          <a:xfrm>
            <a:off x="1095375" y="3038475"/>
            <a:ext cx="60007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lang="en-US" altLang="zh-CN" sz="4875" b="1">
                <a:solidFill>
                  <a:srgbClr val="303A43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altLang="zh-CN" sz="4875" b="1" dirty="0">
                <a:solidFill>
                  <a:srgbClr val="303A43"/>
                </a:solidFill>
                <a:latin typeface="Times New Roman"/>
                <a:ea typeface="Microsoft YaHei"/>
                <a:cs typeface="Times New Roman"/>
              </a:rPr>
              <a:t>与常微分方程的</a:t>
            </a:r>
          </a:p>
        </p:txBody>
      </p:sp>
      <p:sp>
        <p:nvSpPr>
          <p:cNvPr id="8" name="text-6">
            <a:extLst>
              <a:ext uri="{FF2B5EF4-FFF2-40B4-BE49-F238E27FC236}">
                <a16:creationId xmlns:a16="http://schemas.microsoft.com/office/drawing/2014/main" id="{3C0B16E6-5900-49CF-94D1-9A4E34C0C2C3}"/>
              </a:ext>
            </a:extLst>
          </p:cNvPr>
          <p:cNvSpPr>
            <a:spLocks noGrp="1"/>
          </p:cNvSpPr>
          <p:nvPr/>
        </p:nvSpPr>
        <p:spPr>
          <a:xfrm>
            <a:off x="1095375" y="4000500"/>
            <a:ext cx="600075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lang="en-US" altLang="zh-CN" sz="4875" b="1">
                <a:solidFill>
                  <a:srgbClr val="287D7B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altLang="zh-CN" sz="4875" b="1" dirty="0">
                <a:solidFill>
                  <a:srgbClr val="287D7B"/>
                </a:solidFill>
                <a:latin typeface="Times New Roman"/>
                <a:ea typeface="Microsoft YaHei"/>
                <a:cs typeface="Times New Roman"/>
              </a:rPr>
              <a:t>数值求解及误差分析</a:t>
            </a:r>
          </a:p>
        </p:txBody>
      </p:sp>
      <p:sp>
        <p:nvSpPr>
          <p:cNvPr id="9" name="text-7">
            <a:extLst>
              <a:ext uri="{FF2B5EF4-FFF2-40B4-BE49-F238E27FC236}">
                <a16:creationId xmlns:a16="http://schemas.microsoft.com/office/drawing/2014/main" id="{C79D7047-D7E7-4A3E-AFA4-D5CD15556F6E}"/>
              </a:ext>
            </a:extLst>
          </p:cNvPr>
          <p:cNvSpPr>
            <a:spLocks noGrp="1"/>
          </p:cNvSpPr>
          <p:nvPr/>
        </p:nvSpPr>
        <p:spPr>
          <a:xfrm>
            <a:off x="1123950" y="5410200"/>
            <a:ext cx="7334250" cy="504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lang="en-US" altLang="zh-CN" sz="2625" b="0">
                <a:solidFill>
                  <a:srgbClr val="354E68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altLang="zh-CN" sz="2625" b="0">
                <a:solidFill>
                  <a:srgbClr val="354E68"/>
                </a:solidFill>
                <a:latin typeface="Times New Roman"/>
                <a:ea typeface="Microsoft YaHei"/>
                <a:cs typeface="Times New Roman"/>
              </a:rPr>
              <a:t>有限差分  ·  Richardson 外推</a:t>
            </a:r>
          </a:p>
        </p:txBody>
      </p:sp>
      <p:sp>
        <p:nvSpPr>
          <p:cNvPr id="10" name="text-8">
            <a:extLst>
              <a:ext uri="{FF2B5EF4-FFF2-40B4-BE49-F238E27FC236}">
                <a16:creationId xmlns:a16="http://schemas.microsoft.com/office/drawing/2014/main" id="{CD077E98-1F6D-4393-81C8-BE06C6EA5B9D}"/>
              </a:ext>
            </a:extLst>
          </p:cNvPr>
          <p:cNvSpPr>
            <a:spLocks noGrp="1"/>
          </p:cNvSpPr>
          <p:nvPr/>
        </p:nvSpPr>
        <p:spPr>
          <a:xfrm>
            <a:off x="1123950" y="5962650"/>
            <a:ext cx="7239000" cy="504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lang="en-US" altLang="zh-CN" sz="2625" b="0">
                <a:solidFill>
                  <a:srgbClr val="354E68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altLang="zh-CN" sz="2625" b="0">
                <a:solidFill>
                  <a:srgbClr val="354E68"/>
                </a:solidFill>
                <a:latin typeface="Times New Roman"/>
                <a:ea typeface="Microsoft YaHei"/>
                <a:cs typeface="Times New Roman"/>
              </a:rPr>
              <a:t>RK4 初值求解  ·  线性打靶</a:t>
            </a:r>
          </a:p>
        </p:txBody>
      </p:sp>
      <p:sp>
        <p:nvSpPr>
          <p:cNvPr id="11" name="text-9">
            <a:extLst>
              <a:ext uri="{FF2B5EF4-FFF2-40B4-BE49-F238E27FC236}">
                <a16:creationId xmlns:a16="http://schemas.microsoft.com/office/drawing/2014/main" id="{A6888DC0-B27E-458F-B2A4-84E97C76CDAF}"/>
              </a:ext>
            </a:extLst>
          </p:cNvPr>
          <p:cNvSpPr>
            <a:spLocks noGrp="1"/>
          </p:cNvSpPr>
          <p:nvPr/>
        </p:nvSpPr>
        <p:spPr>
          <a:xfrm>
            <a:off x="1123950" y="6953250"/>
            <a:ext cx="6374130" cy="504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lang="en-US" altLang="zh-CN" sz="2625" b="0">
                <a:solidFill>
                  <a:srgbClr val="9B7D40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altLang="zh-CN" sz="2625" b="0" dirty="0">
                <a:solidFill>
                  <a:srgbClr val="9B7D40"/>
                </a:solidFill>
                <a:latin typeface="Times New Roman"/>
                <a:ea typeface="Microsoft YaHei"/>
                <a:cs typeface="Times New Roman"/>
              </a:rPr>
              <a:t>2026 年 9 月13</a:t>
            </a:r>
            <a:r>
              <a:rPr lang="zh-CN" altLang="en-US" sz="2625" b="0" dirty="0">
                <a:solidFill>
                  <a:srgbClr val="9B7D40"/>
                </a:solidFill>
                <a:latin typeface="Times New Roman"/>
                <a:ea typeface="Microsoft YaHei"/>
                <a:cs typeface="Times New Roman"/>
              </a:rPr>
              <a:t>日</a:t>
            </a:r>
            <a:r>
              <a:rPr lang="en-US" altLang="zh-CN" sz="2625" b="0" dirty="0">
                <a:solidFill>
                  <a:srgbClr val="9B7D40"/>
                </a:solidFill>
                <a:latin typeface="Times New Roman"/>
                <a:ea typeface="Microsoft YaHei"/>
                <a:cs typeface="Times New Roman"/>
              </a:rPr>
              <a:t>	</a:t>
            </a:r>
            <a:r>
              <a:rPr lang="zh-CN" altLang="en-US" sz="2625" dirty="0">
                <a:solidFill>
                  <a:srgbClr val="9B7D40"/>
                </a:solidFill>
                <a:latin typeface="Times New Roman"/>
                <a:ea typeface="Microsoft YaHei"/>
                <a:cs typeface="Times New Roman"/>
              </a:rPr>
              <a:t>庄肃涵</a:t>
            </a:r>
            <a:r>
              <a:rPr lang="en-US" altLang="zh-CN" sz="2625" dirty="0">
                <a:solidFill>
                  <a:srgbClr val="9B7D40"/>
                </a:solidFill>
                <a:latin typeface="Times New Roman"/>
                <a:ea typeface="Microsoft YaHei"/>
                <a:cs typeface="Times New Roman"/>
              </a:rPr>
              <a:t>	3025206069</a:t>
            </a:r>
            <a:endParaRPr lang="en-US" altLang="zh-CN" sz="2625" b="0" dirty="0">
              <a:solidFill>
                <a:srgbClr val="9B7D40"/>
              </a:solidFill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75522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5240000" cy="8572500"/>
          </a:xfrm>
          <a:prstGeom prst="rect">
            <a:avLst/>
          </a:prstGeom>
        </p:spPr>
      </p:pic>
      <p:sp>
        <p:nvSpPr>
          <p:cNvPr id="2" name="title-10">
            <a:extLst>
              <a:ext uri="{FF2B5EF4-FFF2-40B4-BE49-F238E27FC236}">
                <a16:creationId xmlns:a16="http://schemas.microsoft.com/office/drawing/2014/main" id="{B6614940-3703-49D7-AC4D-FF7E9B68BABD}"/>
              </a:ext>
            </a:extLst>
          </p:cNvPr>
          <p:cNvSpPr>
            <a:spLocks noGrp="1"/>
          </p:cNvSpPr>
          <p:nvPr/>
        </p:nvSpPr>
        <p:spPr>
          <a:xfrm>
            <a:off x="1381125" y="742950"/>
            <a:ext cx="11525250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lang="en-US" altLang="zh-CN" sz="3675" b="1">
                <a:solidFill>
                  <a:srgbClr val="303A43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altLang="zh-CN" sz="3675" b="1">
                <a:solidFill>
                  <a:srgbClr val="303A43"/>
                </a:solidFill>
                <a:latin typeface="Times New Roman"/>
                <a:ea typeface="Microsoft YaHei"/>
                <a:cs typeface="Times New Roman"/>
              </a:rPr>
              <a:t>项目任务与研究路线</a:t>
            </a:r>
          </a:p>
        </p:txBody>
      </p:sp>
      <p:sp>
        <p:nvSpPr>
          <p:cNvPr id="5" name="text-13">
            <a:extLst>
              <a:ext uri="{FF2B5EF4-FFF2-40B4-BE49-F238E27FC236}">
                <a16:creationId xmlns:a16="http://schemas.microsoft.com/office/drawing/2014/main" id="{7D7FB5BB-9B4D-469E-9296-42B6BA588934}"/>
              </a:ext>
            </a:extLst>
          </p:cNvPr>
          <p:cNvSpPr>
            <a:spLocks noGrp="1"/>
          </p:cNvSpPr>
          <p:nvPr/>
        </p:nvSpPr>
        <p:spPr>
          <a:xfrm>
            <a:off x="904875" y="1866900"/>
            <a:ext cx="130492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lang="en-US" altLang="zh-CN" sz="3075" b="1">
                <a:solidFill>
                  <a:srgbClr val="354E68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altLang="zh-CN" sz="3075" b="1">
                <a:solidFill>
                  <a:srgbClr val="354E68"/>
                </a:solidFill>
                <a:latin typeface="Times New Roman"/>
                <a:ea typeface="Microsoft YaHei"/>
                <a:cs typeface="Times New Roman"/>
              </a:rPr>
              <a:t>两个数学问题，沿四个阶段逐步推进</a:t>
            </a:r>
          </a:p>
        </p:txBody>
      </p:sp>
      <p:sp>
        <p:nvSpPr>
          <p:cNvPr id="6" name="text-14">
            <a:extLst>
              <a:ext uri="{FF2B5EF4-FFF2-40B4-BE49-F238E27FC236}">
                <a16:creationId xmlns:a16="http://schemas.microsoft.com/office/drawing/2014/main" id="{599EE7BB-E586-4AB1-86FC-306BFD73454E}"/>
              </a:ext>
            </a:extLst>
          </p:cNvPr>
          <p:cNvSpPr>
            <a:spLocks noGrp="1"/>
          </p:cNvSpPr>
          <p:nvPr/>
        </p:nvSpPr>
        <p:spPr>
          <a:xfrm>
            <a:off x="904875" y="2781300"/>
            <a:ext cx="27622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lang="en-US" altLang="zh-CN" sz="4200" b="1">
                <a:solidFill>
                  <a:srgbClr val="287D7B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altLang="zh-CN" sz="4200" b="1">
                <a:solidFill>
                  <a:srgbClr val="287D7B"/>
                </a:solidFill>
                <a:latin typeface="Times New Roman"/>
                <a:ea typeface="Microsoft YaHei"/>
                <a:cs typeface="Times New Roman"/>
              </a:rPr>
              <a:t>01</a:t>
            </a:r>
          </a:p>
        </p:txBody>
      </p:sp>
      <p:sp>
        <p:nvSpPr>
          <p:cNvPr id="7" name="流程节点-15">
            <a:extLst>
              <a:ext uri="{FF2B5EF4-FFF2-40B4-BE49-F238E27FC236}">
                <a16:creationId xmlns:a16="http://schemas.microsoft.com/office/drawing/2014/main" id="{04772808-4757-44D7-AB37-F0D2453BDC24}"/>
              </a:ext>
            </a:extLst>
          </p:cNvPr>
          <p:cNvSpPr>
            <a:spLocks noGrp="1"/>
          </p:cNvSpPr>
          <p:nvPr/>
        </p:nvSpPr>
        <p:spPr>
          <a:xfrm>
            <a:off x="904875" y="3543300"/>
            <a:ext cx="3209925" cy="1143000"/>
          </a:xfrm>
          <a:prstGeom prst="chevron">
            <a:avLst/>
          </a:prstGeom>
          <a:solidFill>
            <a:srgbClr val="354E68"/>
          </a:solidFill>
          <a:ln w="0">
            <a:noFill/>
          </a:ln>
        </p:spPr>
        <p:txBody>
          <a:bodyPr lIns="142875" tIns="152400" rIns="238125" bIns="76200" anchor="ctr">
            <a:noAutofit/>
          </a:bodyPr>
          <a:lstStyle/>
          <a:p>
            <a:pPr algn="ctr">
              <a:defRPr lang="en-US" altLang="zh-CN" sz="2550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altLang="zh-CN" sz="2550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有限差分</a:t>
            </a:r>
          </a:p>
        </p:txBody>
      </p:sp>
      <p:sp>
        <p:nvSpPr>
          <p:cNvPr id="8" name="text-16">
            <a:extLst>
              <a:ext uri="{FF2B5EF4-FFF2-40B4-BE49-F238E27FC236}">
                <a16:creationId xmlns:a16="http://schemas.microsoft.com/office/drawing/2014/main" id="{87D700EA-72A8-4339-B619-BE5F9B2D8219}"/>
              </a:ext>
            </a:extLst>
          </p:cNvPr>
          <p:cNvSpPr>
            <a:spLocks noGrp="1"/>
          </p:cNvSpPr>
          <p:nvPr/>
        </p:nvSpPr>
        <p:spPr>
          <a:xfrm>
            <a:off x="904875" y="4905375"/>
            <a:ext cx="3000375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lang="en-US" altLang="zh-CN" sz="2625" b="0">
                <a:solidFill>
                  <a:srgbClr val="303A43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altLang="zh-CN" sz="2625" b="0">
                <a:solidFill>
                  <a:srgbClr val="303A43"/>
                </a:solidFill>
                <a:latin typeface="Times New Roman"/>
                <a:ea typeface="Microsoft YaHei"/>
                <a:cs typeface="Times New Roman"/>
              </a:rPr>
              <a:t>得到 Poisson</a:t>
            </a:r>
          </a:p>
          <a:p>
            <a:pPr>
              <a:defRPr lang="en-US" altLang="zh-CN" sz="2625" b="0">
                <a:solidFill>
                  <a:srgbClr val="303A43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altLang="zh-CN" sz="2625" b="0">
                <a:solidFill>
                  <a:srgbClr val="303A43"/>
                </a:solidFill>
                <a:latin typeface="Times New Roman"/>
                <a:ea typeface="Microsoft YaHei"/>
                <a:cs typeface="Times New Roman"/>
              </a:rPr>
              <a:t>基础数值解</a:t>
            </a:r>
          </a:p>
        </p:txBody>
      </p:sp>
      <p:sp>
        <p:nvSpPr>
          <p:cNvPr id="9" name="text-17">
            <a:extLst>
              <a:ext uri="{FF2B5EF4-FFF2-40B4-BE49-F238E27FC236}">
                <a16:creationId xmlns:a16="http://schemas.microsoft.com/office/drawing/2014/main" id="{C9E677EC-61B4-47D3-B4E7-584DBC53CEA2}"/>
              </a:ext>
            </a:extLst>
          </p:cNvPr>
          <p:cNvSpPr>
            <a:spLocks noGrp="1"/>
          </p:cNvSpPr>
          <p:nvPr/>
        </p:nvSpPr>
        <p:spPr>
          <a:xfrm>
            <a:off x="3571875" y="2905125"/>
            <a:ext cx="7429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lang="en-US" altLang="zh-CN" sz="3600" b="0">
                <a:solidFill>
                  <a:srgbClr val="3B9D9A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altLang="zh-CN" sz="3600" b="0">
                <a:solidFill>
                  <a:srgbClr val="3B9D9A"/>
                </a:solidFill>
                <a:latin typeface="Times New Roman"/>
                <a:ea typeface="Microsoft YaHei"/>
                <a:cs typeface="Times New Roman"/>
              </a:rPr>
              <a:t>→</a:t>
            </a:r>
          </a:p>
        </p:txBody>
      </p:sp>
      <p:sp>
        <p:nvSpPr>
          <p:cNvPr id="10" name="text-18">
            <a:extLst>
              <a:ext uri="{FF2B5EF4-FFF2-40B4-BE49-F238E27FC236}">
                <a16:creationId xmlns:a16="http://schemas.microsoft.com/office/drawing/2014/main" id="{3E04EE33-001C-4167-9050-B62BAED94E96}"/>
              </a:ext>
            </a:extLst>
          </p:cNvPr>
          <p:cNvSpPr>
            <a:spLocks noGrp="1"/>
          </p:cNvSpPr>
          <p:nvPr/>
        </p:nvSpPr>
        <p:spPr>
          <a:xfrm>
            <a:off x="4286250" y="2781300"/>
            <a:ext cx="27622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lang="en-US" altLang="zh-CN" sz="4200" b="1">
                <a:solidFill>
                  <a:srgbClr val="9B7D40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altLang="zh-CN" sz="4200" b="1">
                <a:solidFill>
                  <a:srgbClr val="9B7D40"/>
                </a:solidFill>
                <a:latin typeface="Times New Roman"/>
                <a:ea typeface="Microsoft YaHei"/>
                <a:cs typeface="Times New Roman"/>
              </a:rPr>
              <a:t>02</a:t>
            </a:r>
          </a:p>
        </p:txBody>
      </p:sp>
      <p:sp>
        <p:nvSpPr>
          <p:cNvPr id="11" name="流程节点-19">
            <a:extLst>
              <a:ext uri="{FF2B5EF4-FFF2-40B4-BE49-F238E27FC236}">
                <a16:creationId xmlns:a16="http://schemas.microsoft.com/office/drawing/2014/main" id="{38CE922F-B30C-4232-92BC-0DA59CE68378}"/>
              </a:ext>
            </a:extLst>
          </p:cNvPr>
          <p:cNvSpPr>
            <a:spLocks noGrp="1"/>
          </p:cNvSpPr>
          <p:nvPr/>
        </p:nvSpPr>
        <p:spPr>
          <a:xfrm>
            <a:off x="4286250" y="3543300"/>
            <a:ext cx="3209925" cy="1143000"/>
          </a:xfrm>
          <a:prstGeom prst="chevron">
            <a:avLst/>
          </a:prstGeom>
          <a:solidFill>
            <a:srgbClr val="287D7B"/>
          </a:solidFill>
          <a:ln w="0">
            <a:noFill/>
          </a:ln>
        </p:spPr>
        <p:txBody>
          <a:bodyPr lIns="142875" tIns="152400" rIns="238125" bIns="76200" anchor="ctr">
            <a:noAutofit/>
          </a:bodyPr>
          <a:lstStyle/>
          <a:p>
            <a:pPr algn="ctr">
              <a:defRPr lang="en-US" altLang="zh-CN" sz="2550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altLang="zh-CN" sz="2550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Richardson</a:t>
            </a:r>
          </a:p>
          <a:p>
            <a:pPr algn="ctr">
              <a:defRPr lang="en-US" altLang="zh-CN" sz="2550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altLang="zh-CN" sz="2550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外推</a:t>
            </a:r>
          </a:p>
        </p:txBody>
      </p:sp>
      <p:sp>
        <p:nvSpPr>
          <p:cNvPr id="12" name="text-20">
            <a:extLst>
              <a:ext uri="{FF2B5EF4-FFF2-40B4-BE49-F238E27FC236}">
                <a16:creationId xmlns:a16="http://schemas.microsoft.com/office/drawing/2014/main" id="{4BAE0F69-E8F7-451B-BEFF-6CF2AC2C3F1B}"/>
              </a:ext>
            </a:extLst>
          </p:cNvPr>
          <p:cNvSpPr>
            <a:spLocks noGrp="1"/>
          </p:cNvSpPr>
          <p:nvPr/>
        </p:nvSpPr>
        <p:spPr>
          <a:xfrm>
            <a:off x="4286250" y="4905375"/>
            <a:ext cx="3000375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lang="en-US" altLang="zh-CN" sz="2625" b="0">
                <a:solidFill>
                  <a:srgbClr val="303A43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altLang="zh-CN" sz="2625" b="0">
                <a:solidFill>
                  <a:srgbClr val="303A43"/>
                </a:solidFill>
                <a:latin typeface="Times New Roman"/>
                <a:ea typeface="Microsoft YaHei"/>
                <a:cs typeface="Times New Roman"/>
              </a:rPr>
              <a:t>消去主误差项</a:t>
            </a:r>
          </a:p>
          <a:p>
            <a:pPr>
              <a:defRPr lang="en-US" altLang="zh-CN" sz="2625" b="0">
                <a:solidFill>
                  <a:srgbClr val="303A43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altLang="zh-CN" sz="2625" b="0">
                <a:solidFill>
                  <a:srgbClr val="303A43"/>
                </a:solidFill>
                <a:latin typeface="Times New Roman"/>
                <a:ea typeface="Microsoft YaHei"/>
                <a:cs typeface="Times New Roman"/>
              </a:rPr>
              <a:t>提高收敛阶</a:t>
            </a:r>
          </a:p>
        </p:txBody>
      </p:sp>
      <p:sp>
        <p:nvSpPr>
          <p:cNvPr id="13" name="text-21">
            <a:extLst>
              <a:ext uri="{FF2B5EF4-FFF2-40B4-BE49-F238E27FC236}">
                <a16:creationId xmlns:a16="http://schemas.microsoft.com/office/drawing/2014/main" id="{80A5F53A-0746-4838-92F7-B66402590B26}"/>
              </a:ext>
            </a:extLst>
          </p:cNvPr>
          <p:cNvSpPr>
            <a:spLocks noGrp="1"/>
          </p:cNvSpPr>
          <p:nvPr/>
        </p:nvSpPr>
        <p:spPr>
          <a:xfrm>
            <a:off x="6953250" y="2905125"/>
            <a:ext cx="7429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lang="en-US" altLang="zh-CN" sz="3600" b="0">
                <a:solidFill>
                  <a:srgbClr val="3B9D9A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altLang="zh-CN" sz="3600" b="0">
                <a:solidFill>
                  <a:srgbClr val="3B9D9A"/>
                </a:solidFill>
                <a:latin typeface="Times New Roman"/>
                <a:ea typeface="Microsoft YaHei"/>
                <a:cs typeface="Times New Roman"/>
              </a:rPr>
              <a:t>→</a:t>
            </a:r>
          </a:p>
        </p:txBody>
      </p:sp>
      <p:sp>
        <p:nvSpPr>
          <p:cNvPr id="14" name="text-22">
            <a:extLst>
              <a:ext uri="{FF2B5EF4-FFF2-40B4-BE49-F238E27FC236}">
                <a16:creationId xmlns:a16="http://schemas.microsoft.com/office/drawing/2014/main" id="{857E3006-4B80-405A-970F-0FD7DB610422}"/>
              </a:ext>
            </a:extLst>
          </p:cNvPr>
          <p:cNvSpPr>
            <a:spLocks noGrp="1"/>
          </p:cNvSpPr>
          <p:nvPr/>
        </p:nvSpPr>
        <p:spPr>
          <a:xfrm>
            <a:off x="7667625" y="2781300"/>
            <a:ext cx="27622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lang="en-US" altLang="zh-CN" sz="4200" b="1">
                <a:solidFill>
                  <a:srgbClr val="287D7B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altLang="zh-CN" sz="4200" b="1">
                <a:solidFill>
                  <a:srgbClr val="287D7B"/>
                </a:solidFill>
                <a:latin typeface="Times New Roman"/>
                <a:ea typeface="Microsoft YaHei"/>
                <a:cs typeface="Times New Roman"/>
              </a:rPr>
              <a:t>03</a:t>
            </a:r>
          </a:p>
        </p:txBody>
      </p:sp>
      <p:sp>
        <p:nvSpPr>
          <p:cNvPr id="15" name="流程节点-23">
            <a:extLst>
              <a:ext uri="{FF2B5EF4-FFF2-40B4-BE49-F238E27FC236}">
                <a16:creationId xmlns:a16="http://schemas.microsoft.com/office/drawing/2014/main" id="{726F9156-A3C7-4988-8A1F-CEE2F0E36ABA}"/>
              </a:ext>
            </a:extLst>
          </p:cNvPr>
          <p:cNvSpPr>
            <a:spLocks noGrp="1"/>
          </p:cNvSpPr>
          <p:nvPr/>
        </p:nvSpPr>
        <p:spPr>
          <a:xfrm>
            <a:off x="7667625" y="3543300"/>
            <a:ext cx="3209925" cy="1143000"/>
          </a:xfrm>
          <a:prstGeom prst="chevron">
            <a:avLst/>
          </a:prstGeom>
          <a:solidFill>
            <a:srgbClr val="3B9D9A"/>
          </a:solidFill>
          <a:ln w="0">
            <a:noFill/>
          </a:ln>
        </p:spPr>
        <p:txBody>
          <a:bodyPr lIns="142875" tIns="152400" rIns="238125" bIns="76200" anchor="ctr">
            <a:noAutofit/>
          </a:bodyPr>
          <a:lstStyle/>
          <a:p>
            <a:pPr algn="ctr">
              <a:defRPr lang="en-US" altLang="zh-CN" sz="2550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altLang="zh-CN" sz="2550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RK4</a:t>
            </a:r>
          </a:p>
          <a:p>
            <a:pPr algn="ctr">
              <a:defRPr lang="en-US" altLang="zh-CN" sz="2550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altLang="zh-CN" sz="2550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初值求解</a:t>
            </a:r>
          </a:p>
        </p:txBody>
      </p:sp>
      <p:sp>
        <p:nvSpPr>
          <p:cNvPr id="16" name="text-24">
            <a:extLst>
              <a:ext uri="{FF2B5EF4-FFF2-40B4-BE49-F238E27FC236}">
                <a16:creationId xmlns:a16="http://schemas.microsoft.com/office/drawing/2014/main" id="{3A1A47E7-4D47-4B7A-8EC9-8533E991F0CB}"/>
              </a:ext>
            </a:extLst>
          </p:cNvPr>
          <p:cNvSpPr>
            <a:spLocks noGrp="1"/>
          </p:cNvSpPr>
          <p:nvPr/>
        </p:nvSpPr>
        <p:spPr>
          <a:xfrm>
            <a:off x="7667625" y="4905375"/>
            <a:ext cx="3000375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lang="en-US" altLang="zh-CN" sz="2625" b="0">
                <a:solidFill>
                  <a:srgbClr val="303A43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altLang="zh-CN" sz="2625" b="0">
                <a:solidFill>
                  <a:srgbClr val="303A43"/>
                </a:solidFill>
                <a:latin typeface="Times New Roman"/>
                <a:ea typeface="Microsoft YaHei"/>
                <a:cs typeface="Times New Roman"/>
              </a:rPr>
              <a:t>实现四阶段更新</a:t>
            </a:r>
          </a:p>
          <a:p>
            <a:pPr>
              <a:defRPr lang="en-US" altLang="zh-CN" sz="2625" b="0">
                <a:solidFill>
                  <a:srgbClr val="303A43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altLang="zh-CN" sz="2625" b="0">
                <a:solidFill>
                  <a:srgbClr val="303A43"/>
                </a:solidFill>
                <a:latin typeface="Times New Roman"/>
                <a:ea typeface="Microsoft YaHei"/>
                <a:cs typeface="Times New Roman"/>
              </a:rPr>
              <a:t>检验初值解精度</a:t>
            </a:r>
          </a:p>
        </p:txBody>
      </p:sp>
      <p:sp>
        <p:nvSpPr>
          <p:cNvPr id="17" name="text-25">
            <a:extLst>
              <a:ext uri="{FF2B5EF4-FFF2-40B4-BE49-F238E27FC236}">
                <a16:creationId xmlns:a16="http://schemas.microsoft.com/office/drawing/2014/main" id="{19F26B1A-E499-4F8F-B7A2-49715CB6D8A2}"/>
              </a:ext>
            </a:extLst>
          </p:cNvPr>
          <p:cNvSpPr>
            <a:spLocks noGrp="1"/>
          </p:cNvSpPr>
          <p:nvPr/>
        </p:nvSpPr>
        <p:spPr>
          <a:xfrm>
            <a:off x="10334625" y="2905125"/>
            <a:ext cx="7429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lang="en-US" altLang="zh-CN" sz="3600" b="0">
                <a:solidFill>
                  <a:srgbClr val="3B9D9A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altLang="zh-CN" sz="3600" b="0">
                <a:solidFill>
                  <a:srgbClr val="3B9D9A"/>
                </a:solidFill>
                <a:latin typeface="Times New Roman"/>
                <a:ea typeface="Microsoft YaHei"/>
                <a:cs typeface="Times New Roman"/>
              </a:rPr>
              <a:t>→</a:t>
            </a:r>
          </a:p>
        </p:txBody>
      </p:sp>
      <p:sp>
        <p:nvSpPr>
          <p:cNvPr id="18" name="text-26">
            <a:extLst>
              <a:ext uri="{FF2B5EF4-FFF2-40B4-BE49-F238E27FC236}">
                <a16:creationId xmlns:a16="http://schemas.microsoft.com/office/drawing/2014/main" id="{7968AD9C-A0A9-4B35-A85F-5F20332E20EF}"/>
              </a:ext>
            </a:extLst>
          </p:cNvPr>
          <p:cNvSpPr>
            <a:spLocks noGrp="1"/>
          </p:cNvSpPr>
          <p:nvPr/>
        </p:nvSpPr>
        <p:spPr>
          <a:xfrm>
            <a:off x="11049000" y="2781300"/>
            <a:ext cx="27622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lang="en-US" altLang="zh-CN" sz="4200" b="1">
                <a:solidFill>
                  <a:srgbClr val="287D7B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altLang="zh-CN" sz="4200" b="1">
                <a:solidFill>
                  <a:srgbClr val="287D7B"/>
                </a:solidFill>
                <a:latin typeface="Times New Roman"/>
                <a:ea typeface="Microsoft YaHei"/>
                <a:cs typeface="Times New Roman"/>
              </a:rPr>
              <a:t>04</a:t>
            </a:r>
          </a:p>
        </p:txBody>
      </p:sp>
      <p:sp>
        <p:nvSpPr>
          <p:cNvPr id="19" name="流程节点-27">
            <a:extLst>
              <a:ext uri="{FF2B5EF4-FFF2-40B4-BE49-F238E27FC236}">
                <a16:creationId xmlns:a16="http://schemas.microsoft.com/office/drawing/2014/main" id="{7A86611E-5818-4486-9FF7-2661B4A5A21A}"/>
              </a:ext>
            </a:extLst>
          </p:cNvPr>
          <p:cNvSpPr>
            <a:spLocks noGrp="1"/>
          </p:cNvSpPr>
          <p:nvPr/>
        </p:nvSpPr>
        <p:spPr>
          <a:xfrm>
            <a:off x="11049000" y="3543300"/>
            <a:ext cx="3209925" cy="1143000"/>
          </a:xfrm>
          <a:prstGeom prst="chevron">
            <a:avLst/>
          </a:prstGeom>
          <a:solidFill>
            <a:srgbClr val="9B7D40"/>
          </a:solidFill>
          <a:ln w="0">
            <a:noFill/>
          </a:ln>
        </p:spPr>
        <p:txBody>
          <a:bodyPr lIns="142875" tIns="152400" rIns="238125" bIns="76200" anchor="ctr">
            <a:noAutofit/>
          </a:bodyPr>
          <a:lstStyle/>
          <a:p>
            <a:pPr algn="ctr">
              <a:defRPr lang="en-US" altLang="zh-CN" sz="2550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altLang="zh-CN" sz="2550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线性打靶</a:t>
            </a:r>
          </a:p>
        </p:txBody>
      </p:sp>
      <p:sp>
        <p:nvSpPr>
          <p:cNvPr id="20" name="text-28">
            <a:extLst>
              <a:ext uri="{FF2B5EF4-FFF2-40B4-BE49-F238E27FC236}">
                <a16:creationId xmlns:a16="http://schemas.microsoft.com/office/drawing/2014/main" id="{083E09C9-DB8F-46DB-BB15-9D1956E55606}"/>
              </a:ext>
            </a:extLst>
          </p:cNvPr>
          <p:cNvSpPr>
            <a:spLocks noGrp="1"/>
          </p:cNvSpPr>
          <p:nvPr/>
        </p:nvSpPr>
        <p:spPr>
          <a:xfrm>
            <a:off x="11049000" y="4905375"/>
            <a:ext cx="3000375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lang="en-US" altLang="zh-CN" sz="2625" b="0">
                <a:solidFill>
                  <a:srgbClr val="303A43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altLang="zh-CN" sz="2625" b="0">
                <a:solidFill>
                  <a:srgbClr val="303A43"/>
                </a:solidFill>
                <a:latin typeface="Times New Roman"/>
                <a:ea typeface="Microsoft YaHei"/>
                <a:cs typeface="Times New Roman"/>
              </a:rPr>
              <a:t>复用向量 RK4</a:t>
            </a:r>
          </a:p>
          <a:p>
            <a:pPr>
              <a:defRPr lang="en-US" altLang="zh-CN" sz="2625" b="0">
                <a:solidFill>
                  <a:srgbClr val="303A43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altLang="zh-CN" sz="2625" b="0">
                <a:solidFill>
                  <a:srgbClr val="303A43"/>
                </a:solidFill>
                <a:latin typeface="Times New Roman"/>
                <a:ea typeface="Microsoft YaHei"/>
                <a:cs typeface="Times New Roman"/>
              </a:rPr>
              <a:t>回到 Poisson 问题</a:t>
            </a:r>
          </a:p>
        </p:txBody>
      </p:sp>
      <p:sp>
        <p:nvSpPr>
          <p:cNvPr id="21" name="结论-29">
            <a:extLst>
              <a:ext uri="{FF2B5EF4-FFF2-40B4-BE49-F238E27FC236}">
                <a16:creationId xmlns:a16="http://schemas.microsoft.com/office/drawing/2014/main" id="{22C39D0E-DF06-45A1-96EC-4797C94C4C19}"/>
              </a:ext>
            </a:extLst>
          </p:cNvPr>
          <p:cNvSpPr>
            <a:spLocks noGrp="1"/>
          </p:cNvSpPr>
          <p:nvPr/>
        </p:nvSpPr>
        <p:spPr>
          <a:xfrm>
            <a:off x="904875" y="6334125"/>
            <a:ext cx="13430250" cy="552450"/>
          </a:xfrm>
          <a:prstGeom prst="rect">
            <a:avLst/>
          </a:prstGeom>
          <a:solidFill>
            <a:srgbClr val="EDF6F5"/>
          </a:solidFill>
          <a:ln w="0">
            <a:noFill/>
          </a:ln>
        </p:spPr>
        <p:txBody>
          <a:bodyPr lIns="133350" tIns="76200" rIns="133350" bIns="0">
            <a:noAutofit/>
          </a:bodyPr>
          <a:lstStyle/>
          <a:p>
            <a:pPr>
              <a:defRPr lang="en-US" altLang="zh-CN" sz="2625" b="1">
                <a:solidFill>
                  <a:srgbClr val="287D7B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altLang="zh-CN" sz="2625" b="1">
                <a:solidFill>
                  <a:srgbClr val="287D7B"/>
                </a:solidFill>
                <a:latin typeface="Times New Roman"/>
                <a:ea typeface="Microsoft YaHei"/>
                <a:cs typeface="Times New Roman"/>
              </a:rPr>
              <a:t>每个阶段：理论算法  →  MATLAB 编程  →  保存数据  →  分析与绘图</a:t>
            </a:r>
          </a:p>
        </p:txBody>
      </p:sp>
    </p:spTree>
    <p:extLst>
      <p:ext uri="{BB962C8B-B14F-4D97-AF65-F5344CB8AC3E}">
        <p14:creationId xmlns:p14="http://schemas.microsoft.com/office/powerpoint/2010/main" val="1987657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 animBg="1"/>
      <p:bldP spid="12" grpId="0"/>
      <p:bldP spid="14" grpId="0"/>
      <p:bldP spid="15" grpId="0" animBg="1"/>
      <p:bldP spid="16" grpId="0"/>
      <p:bldP spid="18" grpId="0"/>
      <p:bldP spid="19" grpId="0" animBg="1"/>
      <p:bldP spid="2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5240000" cy="8572500"/>
          </a:xfrm>
          <a:prstGeom prst="rect">
            <a:avLst/>
          </a:prstGeom>
        </p:spPr>
      </p:pic>
      <p:sp>
        <p:nvSpPr>
          <p:cNvPr id="2" name="title-30">
            <a:extLst>
              <a:ext uri="{FF2B5EF4-FFF2-40B4-BE49-F238E27FC236}">
                <a16:creationId xmlns:a16="http://schemas.microsoft.com/office/drawing/2014/main" id="{3CE778B0-8267-4351-A294-675EF3B8B6E2}"/>
              </a:ext>
            </a:extLst>
          </p:cNvPr>
          <p:cNvSpPr>
            <a:spLocks noGrp="1"/>
          </p:cNvSpPr>
          <p:nvPr/>
        </p:nvSpPr>
        <p:spPr>
          <a:xfrm>
            <a:off x="1381125" y="742950"/>
            <a:ext cx="11525250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lang="en-US" altLang="zh-CN" sz="3675" b="1">
                <a:solidFill>
                  <a:srgbClr val="303A43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altLang="zh-CN" sz="3675" b="1">
                <a:solidFill>
                  <a:srgbClr val="303A43"/>
                </a:solidFill>
                <a:latin typeface="Times New Roman"/>
                <a:ea typeface="Microsoft YaHei"/>
                <a:cs typeface="Times New Roman"/>
              </a:rPr>
              <a:t>数学模型与 MATLAB 程序框架</a:t>
            </a:r>
          </a:p>
        </p:txBody>
      </p:sp>
      <p:sp>
        <p:nvSpPr>
          <p:cNvPr id="5" name="text-33">
            <a:extLst>
              <a:ext uri="{FF2B5EF4-FFF2-40B4-BE49-F238E27FC236}">
                <a16:creationId xmlns:a16="http://schemas.microsoft.com/office/drawing/2014/main" id="{70EC6604-5ADB-433F-B6CB-7E482CD3BD4C}"/>
              </a:ext>
            </a:extLst>
          </p:cNvPr>
          <p:cNvSpPr>
            <a:spLocks noGrp="1"/>
          </p:cNvSpPr>
          <p:nvPr/>
        </p:nvSpPr>
        <p:spPr>
          <a:xfrm>
            <a:off x="904875" y="1905000"/>
            <a:ext cx="64770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lang="en-US" altLang="zh-CN" sz="2700" b="1">
                <a:solidFill>
                  <a:srgbClr val="287D7B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altLang="zh-CN" sz="2700" b="1">
                <a:solidFill>
                  <a:srgbClr val="287D7B"/>
                </a:solidFill>
                <a:latin typeface="Times New Roman"/>
                <a:ea typeface="Microsoft YaHei"/>
                <a:cs typeface="Times New Roman"/>
              </a:rPr>
              <a:t>Poisson 边值问题</a:t>
            </a:r>
          </a:p>
        </p:txBody>
      </p:sp>
      <p:sp>
        <p:nvSpPr>
          <p:cNvPr id="6" name="text-34">
            <a:extLst>
              <a:ext uri="{FF2B5EF4-FFF2-40B4-BE49-F238E27FC236}">
                <a16:creationId xmlns:a16="http://schemas.microsoft.com/office/drawing/2014/main" id="{B59C2B1E-6FBC-4251-B464-7051CA2B253C}"/>
              </a:ext>
            </a:extLst>
          </p:cNvPr>
          <p:cNvSpPr>
            <a:spLocks noGrp="1"/>
          </p:cNvSpPr>
          <p:nvPr/>
        </p:nvSpPr>
        <p:spPr>
          <a:xfrm>
            <a:off x="7953375" y="1905000"/>
            <a:ext cx="638175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lang="en-US" altLang="zh-CN" sz="2700" b="1">
                <a:solidFill>
                  <a:srgbClr val="287D7B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altLang="zh-CN" sz="2700" b="1">
                <a:solidFill>
                  <a:srgbClr val="287D7B"/>
                </a:solidFill>
                <a:latin typeface="Times New Roman"/>
                <a:ea typeface="Microsoft YaHei"/>
                <a:cs typeface="Times New Roman"/>
              </a:rPr>
              <a:t>常微分方程初值问题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-35">
                <a:extLst>
                  <a:ext uri="{FF2B5EF4-FFF2-40B4-BE49-F238E27FC236}">
                    <a16:creationId xmlns:a16="http://schemas.microsoft.com/office/drawing/2014/main" id="{CDF27371-0674-4484-91DB-781420C1BA5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04875" y="2590800"/>
                <a:ext cx="6238875" cy="6477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0" tIns="0" rIns="0" bIns="0">
                <a:noAutofit/>
              </a:bodyPr>
              <a:lstStyle/>
              <a:p>
                <a:pPr>
                  <a:defRPr lang="en-US" altLang="zh-CN" sz="3525" b="0">
                    <a:solidFill>
                      <a:srgbClr val="354E68"/>
                    </a:solidFill>
                    <a:latin typeface="Times New Roman"/>
                    <a:ea typeface="Microsoft YaHei"/>
                    <a:cs typeface="Times New Roman"/>
                  </a:defRPr>
                </a:pPr>
                <a14:m>
                  <m:oMathPara xmlns:m="http://schemas.openxmlformats.org/officeDocument/2006/math">
                    <m:oMath>
                      <m:r>
                        <a:rPr lang="en-US" altLang="zh-CN" sz="3525" b="0" i="1" dirty="0" smtClean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𝑢</m:t>
                      </m:r>
                      <m:r>
                        <a:rPr lang="en-US" altLang="zh-CN" sz="3525" b="0" i="1" dirty="0" smtClean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″(</m:t>
                      </m:r>
                      <m:r>
                        <a:rPr lang="en-US" altLang="zh-CN" sz="3525" b="0" i="1" dirty="0" smtClean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𝑥</m:t>
                      </m:r>
                      <m:r>
                        <a:rPr lang="en-US" altLang="zh-CN" sz="3525" b="0" i="1" dirty="0" smtClean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) = </m:t>
                      </m:r>
                      <m:r>
                        <m:rPr>
                          <m:sty m:val="p"/>
                        </m:rPr>
                        <a:rPr lang="en-US" altLang="zh-CN" sz="3525" b="0" i="1" dirty="0" smtClean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exp</m:t>
                      </m:r>
                      <m:r>
                        <a:rPr lang="en-US" altLang="zh-CN" sz="3525" b="0" i="1" dirty="0" smtClean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⁡(−</m:t>
                      </m:r>
                      <m:r>
                        <a:rPr lang="en-US" altLang="zh-CN" sz="3525" b="0" i="1" dirty="0" smtClean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𝑥</m:t>
                      </m:r>
                      <m:r>
                        <a:rPr lang="en-US" altLang="zh-CN" sz="3525" b="0" i="1" dirty="0" smtClean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²)</m:t>
                      </m:r>
                    </m:oMath>
                  </m:oMathPara>
                </a14:m>
                <a:endParaRPr lang="en-US" altLang="zh-CN" sz="3525" b="0" dirty="0">
                  <a:solidFill>
                    <a:srgbClr val="354E68"/>
                  </a:solidFill>
                  <a:latin typeface="Times New Roman"/>
                  <a:ea typeface="Microsoft YaHei"/>
                  <a:cs typeface="Times New Roman"/>
                </a:endParaRPr>
              </a:p>
            </p:txBody>
          </p:sp>
        </mc:Choice>
        <mc:Fallback>
          <p:sp>
            <p:nvSpPr>
              <p:cNvPr id="7" name="text-35">
                <a:extLst>
                  <a:ext uri="{FF2B5EF4-FFF2-40B4-BE49-F238E27FC236}">
                    <a16:creationId xmlns:a16="http://schemas.microsoft.com/office/drawing/2014/main" id="{CDF27371-0674-4484-91DB-781420C1BA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875" y="2590800"/>
                <a:ext cx="6238875" cy="6477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-36">
                <a:extLst>
                  <a:ext uri="{FF2B5EF4-FFF2-40B4-BE49-F238E27FC236}">
                    <a16:creationId xmlns:a16="http://schemas.microsoft.com/office/drawing/2014/main" id="{485FBD54-845E-4D0D-930E-C213E03A47C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04875" y="3400425"/>
                <a:ext cx="6238875" cy="5429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0" tIns="0" rIns="0" bIns="0">
                <a:noAutofit/>
              </a:bodyPr>
              <a:lstStyle/>
              <a:p>
                <a:pPr>
                  <a:defRPr lang="en-US" altLang="zh-CN" sz="2625" b="0">
                    <a:solidFill>
                      <a:srgbClr val="354E68"/>
                    </a:solidFill>
                    <a:latin typeface="Times New Roman"/>
                    <a:ea typeface="Microsoft YaHei"/>
                    <a:cs typeface="Times New Roman"/>
                  </a:defRPr>
                </a:pPr>
                <a14:m>
                  <m:oMathPara xmlns:m="http://schemas.openxmlformats.org/officeDocument/2006/math">
                    <m:oMath>
                      <m:r>
                        <a:rPr lang="en-US" altLang="zh-CN" sz="2625" b="0" i="1" dirty="0" smtClean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𝑥</m:t>
                      </m:r>
                      <m:r>
                        <a:rPr lang="en-US" altLang="zh-CN" sz="2625" b="0" i="1" dirty="0" smtClean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 ∈ [−1, 1]，</m:t>
                      </m:r>
                      <m:r>
                        <a:rPr lang="en-US" altLang="zh-CN" sz="2625" b="0" i="1" dirty="0" smtClean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𝑢</m:t>
                      </m:r>
                      <m:r>
                        <a:rPr lang="en-US" altLang="zh-CN" sz="2625" b="0" i="1" dirty="0" smtClean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(−1) = </m:t>
                      </m:r>
                      <m:r>
                        <a:rPr lang="en-US" altLang="zh-CN" sz="2625" b="0" i="1" dirty="0" smtClean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𝑢</m:t>
                      </m:r>
                      <m:r>
                        <a:rPr lang="en-US" altLang="zh-CN" sz="2625" b="0" i="1" dirty="0" smtClean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(1) = 0</m:t>
                      </m:r>
                    </m:oMath>
                  </m:oMathPara>
                </a14:m>
                <a:endParaRPr lang="en-US" altLang="zh-CN" sz="2625" b="0" dirty="0">
                  <a:solidFill>
                    <a:srgbClr val="354E68"/>
                  </a:solidFill>
                  <a:latin typeface="Times New Roman"/>
                  <a:ea typeface="Microsoft YaHei"/>
                  <a:cs typeface="Times New Roman"/>
                </a:endParaRPr>
              </a:p>
            </p:txBody>
          </p:sp>
        </mc:Choice>
        <mc:Fallback>
          <p:sp>
            <p:nvSpPr>
              <p:cNvPr id="8" name="text-36">
                <a:extLst>
                  <a:ext uri="{FF2B5EF4-FFF2-40B4-BE49-F238E27FC236}">
                    <a16:creationId xmlns:a16="http://schemas.microsoft.com/office/drawing/2014/main" id="{485FBD54-845E-4D0D-930E-C213E03A47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875" y="3400425"/>
                <a:ext cx="6238875" cy="54292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-37">
                <a:extLst>
                  <a:ext uri="{FF2B5EF4-FFF2-40B4-BE49-F238E27FC236}">
                    <a16:creationId xmlns:a16="http://schemas.microsoft.com/office/drawing/2014/main" id="{3264F4BC-7130-46D6-BF50-78CCA9642EF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67625" y="2590800"/>
                <a:ext cx="6238875" cy="6477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0" tIns="0" rIns="0" bIns="0">
                <a:noAutofit/>
              </a:bodyPr>
              <a:lstStyle/>
              <a:p>
                <a:pPr>
                  <a:defRPr lang="en-US" altLang="zh-CN" sz="3525" b="0">
                    <a:solidFill>
                      <a:srgbClr val="354E68"/>
                    </a:solidFill>
                    <a:latin typeface="Times New Roman"/>
                    <a:ea typeface="Microsoft YaHei"/>
                    <a:cs typeface="Times New Roman"/>
                  </a:defRPr>
                </a:pPr>
                <a14:m>
                  <m:oMathPara xmlns:m="http://schemas.openxmlformats.org/officeDocument/2006/math">
                    <m:oMath>
                      <m:r>
                        <a:rPr lang="en-US" altLang="zh-CN" sz="3525" b="0" i="1" dirty="0" smtClean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𝑦</m:t>
                      </m:r>
                      <m:r>
                        <a:rPr lang="en-US" altLang="zh-CN" sz="3525" b="0" i="1" dirty="0" smtClean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′(</m:t>
                      </m:r>
                      <m:r>
                        <a:rPr lang="en-US" altLang="zh-CN" sz="3525" b="0" i="1" dirty="0" smtClean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𝑡</m:t>
                      </m:r>
                      <m:r>
                        <a:rPr lang="en-US" altLang="zh-CN" sz="3525" b="0" i="1" dirty="0" smtClean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) = −</m:t>
                      </m:r>
                      <m:r>
                        <a:rPr lang="en-US" altLang="zh-CN" sz="3525" b="0" i="1" dirty="0" smtClean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𝑦</m:t>
                      </m:r>
                      <m:r>
                        <a:rPr lang="en-US" altLang="zh-CN" sz="3525" b="0" i="1" dirty="0" smtClean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 + </m:t>
                      </m:r>
                      <m:r>
                        <a:rPr lang="en-US" altLang="zh-CN" sz="3525" b="0" i="1" dirty="0" smtClean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𝑡</m:t>
                      </m:r>
                      <m:r>
                        <a:rPr lang="en-US" altLang="zh-CN" sz="3525" b="0" i="1" dirty="0" smtClean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² + 3</m:t>
                      </m:r>
                    </m:oMath>
                  </m:oMathPara>
                </a14:m>
                <a:endParaRPr lang="en-US" altLang="zh-CN" sz="3525" b="0" dirty="0">
                  <a:solidFill>
                    <a:srgbClr val="354E68"/>
                  </a:solidFill>
                  <a:latin typeface="Times New Roman"/>
                  <a:ea typeface="Microsoft YaHei"/>
                  <a:cs typeface="Times New Roman"/>
                </a:endParaRPr>
              </a:p>
            </p:txBody>
          </p:sp>
        </mc:Choice>
        <mc:Fallback>
          <p:sp>
            <p:nvSpPr>
              <p:cNvPr id="9" name="text-37">
                <a:extLst>
                  <a:ext uri="{FF2B5EF4-FFF2-40B4-BE49-F238E27FC236}">
                    <a16:creationId xmlns:a16="http://schemas.microsoft.com/office/drawing/2014/main" id="{3264F4BC-7130-46D6-BF50-78CCA9642E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7625" y="2590800"/>
                <a:ext cx="6238875" cy="6477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-38">
                <a:extLst>
                  <a:ext uri="{FF2B5EF4-FFF2-40B4-BE49-F238E27FC236}">
                    <a16:creationId xmlns:a16="http://schemas.microsoft.com/office/drawing/2014/main" id="{DFB6C28D-9D19-4296-8023-7DBBA88979EC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67625" y="3400425"/>
                <a:ext cx="6572250" cy="5429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0" tIns="0" rIns="0" bIns="0">
                <a:noAutofit/>
              </a:bodyPr>
              <a:lstStyle/>
              <a:p>
                <a:pPr>
                  <a:defRPr lang="en-US" altLang="zh-CN" sz="2850" b="0">
                    <a:solidFill>
                      <a:srgbClr val="354E68"/>
                    </a:solidFill>
                    <a:latin typeface="Times New Roman"/>
                    <a:ea typeface="Microsoft YaHei"/>
                    <a:cs typeface="Times New Roman"/>
                  </a:defRPr>
                </a:pPr>
                <a14:m>
                  <m:oMathPara xmlns:m="http://schemas.openxmlformats.org/officeDocument/2006/math">
                    <m:oMath>
                      <m:r>
                        <a:rPr lang="en-US" altLang="zh-CN" sz="2850" b="0" i="1" dirty="0" smtClean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𝑡</m:t>
                      </m:r>
                      <m:r>
                        <a:rPr lang="en-US" altLang="zh-CN" sz="2850" b="0" i="1" dirty="0" smtClean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 ∈ [0, 3]，</m:t>
                      </m:r>
                      <m:r>
                        <a:rPr lang="en-US" altLang="zh-CN" sz="2850" b="0" i="1" dirty="0" smtClean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𝑦</m:t>
                      </m:r>
                      <m:r>
                        <a:rPr lang="en-US" altLang="zh-CN" sz="2850" b="0" i="1" dirty="0" smtClean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(0) = 1</m:t>
                      </m:r>
                    </m:oMath>
                  </m:oMathPara>
                </a14:m>
                <a:endParaRPr lang="en-US" altLang="zh-CN" sz="2850" b="0" dirty="0">
                  <a:solidFill>
                    <a:srgbClr val="354E68"/>
                  </a:solidFill>
                  <a:latin typeface="Times New Roman"/>
                  <a:ea typeface="Microsoft YaHei"/>
                  <a:cs typeface="Times New Roman"/>
                </a:endParaRPr>
              </a:p>
            </p:txBody>
          </p:sp>
        </mc:Choice>
        <mc:Fallback>
          <p:sp>
            <p:nvSpPr>
              <p:cNvPr id="10" name="text-38">
                <a:extLst>
                  <a:ext uri="{FF2B5EF4-FFF2-40B4-BE49-F238E27FC236}">
                    <a16:creationId xmlns:a16="http://schemas.microsoft.com/office/drawing/2014/main" id="{DFB6C28D-9D19-4296-8023-7DBBA88979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7625" y="3400425"/>
                <a:ext cx="6572250" cy="54292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-39">
            <a:extLst>
              <a:ext uri="{FF2B5EF4-FFF2-40B4-BE49-F238E27FC236}">
                <a16:creationId xmlns:a16="http://schemas.microsoft.com/office/drawing/2014/main" id="{C256AA39-0740-4995-86B7-E29AE1BBB7E3}"/>
              </a:ext>
            </a:extLst>
          </p:cNvPr>
          <p:cNvSpPr>
            <a:spLocks noGrp="1"/>
          </p:cNvSpPr>
          <p:nvPr/>
        </p:nvSpPr>
        <p:spPr>
          <a:xfrm>
            <a:off x="904875" y="4381500"/>
            <a:ext cx="1304925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lang="en-US" altLang="zh-CN" sz="2700" b="1">
                <a:solidFill>
                  <a:srgbClr val="287D7B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altLang="zh-CN" sz="2700" b="1">
                <a:solidFill>
                  <a:srgbClr val="287D7B"/>
                </a:solidFill>
                <a:latin typeface="Times New Roman"/>
                <a:ea typeface="Microsoft YaHei"/>
                <a:cs typeface="Times New Roman"/>
              </a:rPr>
              <a:t>统一入口与可复核结果</a:t>
            </a:r>
          </a:p>
        </p:txBody>
      </p:sp>
      <p:sp>
        <p:nvSpPr>
          <p:cNvPr id="12" name="流程节点-40">
            <a:extLst>
              <a:ext uri="{FF2B5EF4-FFF2-40B4-BE49-F238E27FC236}">
                <a16:creationId xmlns:a16="http://schemas.microsoft.com/office/drawing/2014/main" id="{53A955AF-5DB2-4F37-BAF8-37EA27BC4287}"/>
              </a:ext>
            </a:extLst>
          </p:cNvPr>
          <p:cNvSpPr>
            <a:spLocks noGrp="1"/>
          </p:cNvSpPr>
          <p:nvPr/>
        </p:nvSpPr>
        <p:spPr>
          <a:xfrm>
            <a:off x="904875" y="5067300"/>
            <a:ext cx="2857500" cy="781050"/>
          </a:xfrm>
          <a:prstGeom prst="rect">
            <a:avLst/>
          </a:prstGeom>
          <a:solidFill>
            <a:srgbClr val="354E68"/>
          </a:solidFill>
          <a:ln w="0">
            <a:noFill/>
          </a:ln>
        </p:spPr>
        <p:txBody>
          <a:bodyPr lIns="142875" tIns="152400" rIns="238125" bIns="76200" anchor="ctr">
            <a:noAutofit/>
          </a:bodyPr>
          <a:lstStyle/>
          <a:p>
            <a:pPr algn="ctr">
              <a:defRPr lang="en-US" altLang="zh-CN" sz="2550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altLang="zh-CN" sz="2550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runAll.m</a:t>
            </a:r>
          </a:p>
        </p:txBody>
      </p:sp>
      <p:sp>
        <p:nvSpPr>
          <p:cNvPr id="13" name="text-41">
            <a:extLst>
              <a:ext uri="{FF2B5EF4-FFF2-40B4-BE49-F238E27FC236}">
                <a16:creationId xmlns:a16="http://schemas.microsoft.com/office/drawing/2014/main" id="{446E80B6-218D-4BE2-9ED1-4736F5D139AA}"/>
              </a:ext>
            </a:extLst>
          </p:cNvPr>
          <p:cNvSpPr>
            <a:spLocks noGrp="1"/>
          </p:cNvSpPr>
          <p:nvPr/>
        </p:nvSpPr>
        <p:spPr>
          <a:xfrm>
            <a:off x="3829050" y="5219700"/>
            <a:ext cx="4381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lang="en-US" altLang="zh-CN" sz="2475" b="0">
                <a:solidFill>
                  <a:srgbClr val="287D7B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altLang="zh-CN" sz="2475" b="0">
                <a:solidFill>
                  <a:srgbClr val="287D7B"/>
                </a:solidFill>
                <a:latin typeface="Times New Roman"/>
                <a:ea typeface="Microsoft YaHei"/>
                <a:cs typeface="Times New Roman"/>
              </a:rPr>
              <a:t>→</a:t>
            </a:r>
          </a:p>
        </p:txBody>
      </p:sp>
      <p:sp>
        <p:nvSpPr>
          <p:cNvPr id="14" name="流程节点-42">
            <a:extLst>
              <a:ext uri="{FF2B5EF4-FFF2-40B4-BE49-F238E27FC236}">
                <a16:creationId xmlns:a16="http://schemas.microsoft.com/office/drawing/2014/main" id="{DEE0AABD-7C2C-4BC3-A87A-AD1ADC878272}"/>
              </a:ext>
            </a:extLst>
          </p:cNvPr>
          <p:cNvSpPr>
            <a:spLocks noGrp="1"/>
          </p:cNvSpPr>
          <p:nvPr/>
        </p:nvSpPr>
        <p:spPr>
          <a:xfrm>
            <a:off x="4286250" y="5067300"/>
            <a:ext cx="2857500" cy="781050"/>
          </a:xfrm>
          <a:prstGeom prst="rect">
            <a:avLst/>
          </a:prstGeom>
          <a:solidFill>
            <a:srgbClr val="287D7B"/>
          </a:solidFill>
          <a:ln w="0">
            <a:noFill/>
          </a:ln>
        </p:spPr>
        <p:txBody>
          <a:bodyPr lIns="142875" tIns="152400" rIns="238125" bIns="76200" anchor="ctr">
            <a:noAutofit/>
          </a:bodyPr>
          <a:lstStyle/>
          <a:p>
            <a:pPr algn="ctr">
              <a:defRPr lang="en-US" altLang="zh-CN" sz="2550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altLang="zh-CN" sz="2550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独立求解函数</a:t>
            </a:r>
          </a:p>
        </p:txBody>
      </p:sp>
      <p:sp>
        <p:nvSpPr>
          <p:cNvPr id="15" name="text-43">
            <a:extLst>
              <a:ext uri="{FF2B5EF4-FFF2-40B4-BE49-F238E27FC236}">
                <a16:creationId xmlns:a16="http://schemas.microsoft.com/office/drawing/2014/main" id="{1A1A7D36-6C56-43AF-AF72-EE6CA9683D92}"/>
              </a:ext>
            </a:extLst>
          </p:cNvPr>
          <p:cNvSpPr>
            <a:spLocks noGrp="1"/>
          </p:cNvSpPr>
          <p:nvPr/>
        </p:nvSpPr>
        <p:spPr>
          <a:xfrm>
            <a:off x="7210425" y="5219700"/>
            <a:ext cx="4381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lang="en-US" altLang="zh-CN" sz="2475" b="0">
                <a:solidFill>
                  <a:srgbClr val="287D7B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altLang="zh-CN" sz="2475" b="0">
                <a:solidFill>
                  <a:srgbClr val="287D7B"/>
                </a:solidFill>
                <a:latin typeface="Times New Roman"/>
                <a:ea typeface="Microsoft YaHei"/>
                <a:cs typeface="Times New Roman"/>
              </a:rPr>
              <a:t>→</a:t>
            </a:r>
          </a:p>
        </p:txBody>
      </p:sp>
      <p:sp>
        <p:nvSpPr>
          <p:cNvPr id="16" name="流程节点-44">
            <a:extLst>
              <a:ext uri="{FF2B5EF4-FFF2-40B4-BE49-F238E27FC236}">
                <a16:creationId xmlns:a16="http://schemas.microsoft.com/office/drawing/2014/main" id="{A2ABBD4E-C71F-4BCF-9C87-746DC7542918}"/>
              </a:ext>
            </a:extLst>
          </p:cNvPr>
          <p:cNvSpPr>
            <a:spLocks noGrp="1"/>
          </p:cNvSpPr>
          <p:nvPr/>
        </p:nvSpPr>
        <p:spPr>
          <a:xfrm>
            <a:off x="7667625" y="5067300"/>
            <a:ext cx="2857500" cy="781050"/>
          </a:xfrm>
          <a:prstGeom prst="rect">
            <a:avLst/>
          </a:prstGeom>
          <a:solidFill>
            <a:srgbClr val="3B9D9A"/>
          </a:solidFill>
          <a:ln w="0">
            <a:noFill/>
          </a:ln>
        </p:spPr>
        <p:txBody>
          <a:bodyPr lIns="142875" tIns="152400" rIns="238125" bIns="76200" anchor="ctr">
            <a:noAutofit/>
          </a:bodyPr>
          <a:lstStyle/>
          <a:p>
            <a:pPr algn="ctr">
              <a:defRPr lang="en-US" altLang="zh-CN" sz="2550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altLang="zh-CN" sz="2550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CSV / MAT</a:t>
            </a:r>
          </a:p>
        </p:txBody>
      </p:sp>
      <p:sp>
        <p:nvSpPr>
          <p:cNvPr id="17" name="text-45">
            <a:extLst>
              <a:ext uri="{FF2B5EF4-FFF2-40B4-BE49-F238E27FC236}">
                <a16:creationId xmlns:a16="http://schemas.microsoft.com/office/drawing/2014/main" id="{6B7D08B8-F8E0-4564-848B-B8683C562AA1}"/>
              </a:ext>
            </a:extLst>
          </p:cNvPr>
          <p:cNvSpPr>
            <a:spLocks noGrp="1"/>
          </p:cNvSpPr>
          <p:nvPr/>
        </p:nvSpPr>
        <p:spPr>
          <a:xfrm>
            <a:off x="10591800" y="5219700"/>
            <a:ext cx="4381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lang="en-US" altLang="zh-CN" sz="2475" b="0">
                <a:solidFill>
                  <a:srgbClr val="287D7B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altLang="zh-CN" sz="2475" b="0">
                <a:solidFill>
                  <a:srgbClr val="287D7B"/>
                </a:solidFill>
                <a:latin typeface="Times New Roman"/>
                <a:ea typeface="Microsoft YaHei"/>
                <a:cs typeface="Times New Roman"/>
              </a:rPr>
              <a:t>→</a:t>
            </a:r>
          </a:p>
        </p:txBody>
      </p:sp>
      <p:sp>
        <p:nvSpPr>
          <p:cNvPr id="18" name="流程节点-46">
            <a:extLst>
              <a:ext uri="{FF2B5EF4-FFF2-40B4-BE49-F238E27FC236}">
                <a16:creationId xmlns:a16="http://schemas.microsoft.com/office/drawing/2014/main" id="{DE5AA043-C0F6-40D8-A133-3EE5AE10DDF8}"/>
              </a:ext>
            </a:extLst>
          </p:cNvPr>
          <p:cNvSpPr>
            <a:spLocks noGrp="1"/>
          </p:cNvSpPr>
          <p:nvPr/>
        </p:nvSpPr>
        <p:spPr>
          <a:xfrm>
            <a:off x="11049000" y="5067300"/>
            <a:ext cx="2857500" cy="781050"/>
          </a:xfrm>
          <a:prstGeom prst="rect">
            <a:avLst/>
          </a:prstGeom>
          <a:solidFill>
            <a:srgbClr val="9B7D40"/>
          </a:solidFill>
          <a:ln w="0">
            <a:noFill/>
          </a:ln>
        </p:spPr>
        <p:txBody>
          <a:bodyPr lIns="142875" tIns="152400" rIns="238125" bIns="76200" anchor="ctr">
            <a:noAutofit/>
          </a:bodyPr>
          <a:lstStyle/>
          <a:p>
            <a:pPr algn="ctr">
              <a:defRPr lang="en-US" altLang="zh-CN" sz="2550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altLang="zh-CN" sz="2550" b="1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PNG 图表</a:t>
            </a:r>
          </a:p>
        </p:txBody>
      </p:sp>
      <p:sp>
        <p:nvSpPr>
          <p:cNvPr id="19" name="text-47">
            <a:extLst>
              <a:ext uri="{FF2B5EF4-FFF2-40B4-BE49-F238E27FC236}">
                <a16:creationId xmlns:a16="http://schemas.microsoft.com/office/drawing/2014/main" id="{2EDE93B2-E274-43FB-8765-07670AD3219E}"/>
              </a:ext>
            </a:extLst>
          </p:cNvPr>
          <p:cNvSpPr>
            <a:spLocks noGrp="1"/>
          </p:cNvSpPr>
          <p:nvPr/>
        </p:nvSpPr>
        <p:spPr>
          <a:xfrm>
            <a:off x="904875" y="6134100"/>
            <a:ext cx="19050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lang="en-US" altLang="zh-CN" sz="2550" b="1">
                <a:solidFill>
                  <a:srgbClr val="9B7D40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altLang="zh-CN" sz="2550" b="1">
                <a:solidFill>
                  <a:srgbClr val="9B7D40"/>
                </a:solidFill>
                <a:latin typeface="Times New Roman"/>
                <a:ea typeface="Microsoft YaHei"/>
                <a:cs typeface="Times New Roman"/>
              </a:rPr>
              <a:t>关键接口</a:t>
            </a:r>
          </a:p>
        </p:txBody>
      </p:sp>
      <p:sp>
        <p:nvSpPr>
          <p:cNvPr id="20" name="text-48">
            <a:extLst>
              <a:ext uri="{FF2B5EF4-FFF2-40B4-BE49-F238E27FC236}">
                <a16:creationId xmlns:a16="http://schemas.microsoft.com/office/drawing/2014/main" id="{3DEDACA6-93EE-4634-B661-AE2BD3FC6A80}"/>
              </a:ext>
            </a:extLst>
          </p:cNvPr>
          <p:cNvSpPr>
            <a:spLocks noGrp="1"/>
          </p:cNvSpPr>
          <p:nvPr/>
        </p:nvSpPr>
        <p:spPr>
          <a:xfrm>
            <a:off x="2876550" y="6124575"/>
            <a:ext cx="1066800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lang="en-US" altLang="zh-CN" sz="2700" b="0">
                <a:solidFill>
                  <a:srgbClr val="303A43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altLang="zh-CN" sz="2700" b="0">
                <a:solidFill>
                  <a:srgbClr val="303A43"/>
                </a:solidFill>
                <a:latin typeface="Times New Roman"/>
                <a:ea typeface="Microsoft YaHei"/>
                <a:cs typeface="Times New Roman"/>
              </a:rPr>
              <a:t>solvePoissonFD    richardsonExtrapolatePoisson</a:t>
            </a:r>
          </a:p>
          <a:p>
            <a:pPr>
              <a:defRPr lang="en-US" altLang="zh-CN" sz="2700" b="0">
                <a:solidFill>
                  <a:srgbClr val="303A43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altLang="zh-CN" sz="2700" b="0">
                <a:solidFill>
                  <a:srgbClr val="303A43"/>
                </a:solidFill>
                <a:latin typeface="Times New Roman"/>
                <a:ea typeface="Microsoft YaHei"/>
                <a:cs typeface="Times New Roman"/>
              </a:rPr>
              <a:t>rk4Solve               solvePoissonShooting</a:t>
            </a:r>
          </a:p>
        </p:txBody>
      </p:sp>
    </p:spTree>
    <p:extLst>
      <p:ext uri="{BB962C8B-B14F-4D97-AF65-F5344CB8AC3E}">
        <p14:creationId xmlns:p14="http://schemas.microsoft.com/office/powerpoint/2010/main" val="1446304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  <p:bldP spid="1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5240000" cy="8572500"/>
          </a:xfrm>
          <a:prstGeom prst="rect">
            <a:avLst/>
          </a:prstGeom>
        </p:spPr>
      </p:pic>
      <p:sp>
        <p:nvSpPr>
          <p:cNvPr id="2" name="title-49">
            <a:extLst>
              <a:ext uri="{FF2B5EF4-FFF2-40B4-BE49-F238E27FC236}">
                <a16:creationId xmlns:a16="http://schemas.microsoft.com/office/drawing/2014/main" id="{D46A7B65-3774-48C9-B03D-A944B7265AD4}"/>
              </a:ext>
            </a:extLst>
          </p:cNvPr>
          <p:cNvSpPr>
            <a:spLocks noGrp="1"/>
          </p:cNvSpPr>
          <p:nvPr/>
        </p:nvSpPr>
        <p:spPr>
          <a:xfrm>
            <a:off x="1381125" y="742950"/>
            <a:ext cx="11525250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lang="en-US" altLang="zh-CN" sz="3675" b="1">
                <a:solidFill>
                  <a:srgbClr val="303A43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altLang="zh-CN" sz="3675" b="1">
                <a:solidFill>
                  <a:srgbClr val="303A43"/>
                </a:solidFill>
                <a:latin typeface="Times New Roman"/>
                <a:ea typeface="Microsoft YaHei"/>
                <a:cs typeface="Times New Roman"/>
              </a:rPr>
              <a:t>有限差分：三点格式与稀疏求解</a:t>
            </a:r>
          </a:p>
        </p:txBody>
      </p:sp>
      <p:sp>
        <p:nvSpPr>
          <p:cNvPr id="5" name="text-52">
            <a:extLst>
              <a:ext uri="{FF2B5EF4-FFF2-40B4-BE49-F238E27FC236}">
                <a16:creationId xmlns:a16="http://schemas.microsoft.com/office/drawing/2014/main" id="{D02D5671-0F42-4189-8F31-341F5F0D4B6E}"/>
              </a:ext>
            </a:extLst>
          </p:cNvPr>
          <p:cNvSpPr>
            <a:spLocks noGrp="1"/>
          </p:cNvSpPr>
          <p:nvPr/>
        </p:nvSpPr>
        <p:spPr>
          <a:xfrm>
            <a:off x="904875" y="1838325"/>
            <a:ext cx="752475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lang="en-US" altLang="zh-CN" sz="2700" b="1">
                <a:solidFill>
                  <a:srgbClr val="287D7B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altLang="zh-CN" sz="2700" b="1">
                <a:solidFill>
                  <a:srgbClr val="287D7B"/>
                </a:solidFill>
                <a:latin typeface="Times New Roman"/>
                <a:ea typeface="Microsoft YaHei"/>
                <a:cs typeface="Times New Roman"/>
              </a:rPr>
              <a:t>理论：中心差分离散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-53">
                <a:extLst>
                  <a:ext uri="{FF2B5EF4-FFF2-40B4-BE49-F238E27FC236}">
                    <a16:creationId xmlns:a16="http://schemas.microsoft.com/office/drawing/2014/main" id="{CA610D5F-F4B6-4ECB-8380-39F5E12DB8B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04875" y="2476500"/>
                <a:ext cx="6715125" cy="5524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0" tIns="0" rIns="0" bIns="0">
                <a:noAutofit/>
              </a:bodyPr>
              <a:lstStyle/>
              <a:p>
                <a:pPr>
                  <a:defRPr lang="en-US" altLang="zh-CN" sz="3150" b="0">
                    <a:solidFill>
                      <a:srgbClr val="354E68"/>
                    </a:solidFill>
                    <a:latin typeface="Times New Roman"/>
                    <a:ea typeface="Microsoft YaHei"/>
                    <a:cs typeface="Times New Roman"/>
                  </a:defRPr>
                </a:pPr>
                <a14:m>
                  <m:oMathPara xmlns:m="http://schemas.openxmlformats.org/officeDocument/2006/math">
                    <m:oMath>
                      <m:r>
                        <a:rPr lang="en-US" altLang="zh-CN" sz="2800" b="0" i="1" dirty="0" smtClean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ℎ</m:t>
                      </m:r>
                      <m:r>
                        <a:rPr lang="en-US" altLang="zh-CN" sz="2800" b="0" i="1" dirty="0" smtClean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 = </m:t>
                      </m:r>
                      <m:f>
                        <m:fPr>
                          <m:ctrlPr>
                            <a:rPr lang="en-US" altLang="zh-CN" sz="2800" b="0" i="1" dirty="0" smtClean="0">
                              <a:solidFill>
                                <a:srgbClr val="354E68"/>
                              </a:solidFill>
                              <a:latin typeface="Cambria Math" panose="02040503050406030204" pitchFamily="18" charset="0"/>
                              <a:ea typeface="Microsoft YaHei"/>
                              <a:cs typeface="Times New Roman"/>
                            </a:rPr>
                          </m:ctrlPr>
                        </m:fPr>
                        <m:num>
                          <m:r>
                            <a:rPr lang="en-US" altLang="zh-CN" sz="2800" b="0" i="1" dirty="0" smtClean="0">
                              <a:solidFill>
                                <a:srgbClr val="354E68"/>
                              </a:solidFill>
                              <a:latin typeface="Cambria Math" panose="02040503050406030204" pitchFamily="18" charset="0"/>
                              <a:ea typeface="Microsoft YaHei"/>
                              <a:cs typeface="Times New Roman"/>
                            </a:rPr>
                            <m:t>2</m:t>
                          </m:r>
                        </m:num>
                        <m:den>
                          <m:r>
                            <a:rPr lang="en-US" altLang="zh-CN" sz="2800" b="0" i="1" dirty="0" smtClean="0">
                              <a:solidFill>
                                <a:srgbClr val="354E68"/>
                              </a:solidFill>
                              <a:latin typeface="Cambria Math" panose="02040503050406030204" pitchFamily="18" charset="0"/>
                              <a:ea typeface="Microsoft YaHei"/>
                              <a:cs typeface="Times New Roman"/>
                            </a:rPr>
                            <m:t>𝑁</m:t>
                          </m:r>
                        </m:den>
                      </m:f>
                      <m:r>
                        <a:rPr lang="en-US" altLang="zh-CN" sz="2800" b="0" i="1" dirty="0" smtClean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,  </m:t>
                      </m:r>
                      <m:r>
                        <a:rPr lang="en-US" altLang="zh-CN" sz="2800" b="0" i="1" dirty="0" err="1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𝑥</m:t>
                      </m:r>
                      <m:r>
                        <a:rPr lang="en-US" altLang="zh-CN" sz="2800" b="0" i="1" dirty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ᵢ = −1 + </m:t>
                      </m:r>
                      <m:r>
                        <a:rPr lang="en-US" altLang="zh-CN" sz="2800" b="0" i="1" dirty="0" err="1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𝑖ℎ</m:t>
                      </m:r>
                    </m:oMath>
                  </m:oMathPara>
                </a14:m>
                <a:endParaRPr lang="en-US" altLang="zh-CN" sz="2800" b="0" dirty="0">
                  <a:solidFill>
                    <a:srgbClr val="354E68"/>
                  </a:solidFill>
                  <a:latin typeface="Times New Roman"/>
                  <a:ea typeface="Microsoft YaHei"/>
                  <a:cs typeface="Times New Roman"/>
                </a:endParaRPr>
              </a:p>
            </p:txBody>
          </p:sp>
        </mc:Choice>
        <mc:Fallback>
          <p:sp>
            <p:nvSpPr>
              <p:cNvPr id="6" name="text-53">
                <a:extLst>
                  <a:ext uri="{FF2B5EF4-FFF2-40B4-BE49-F238E27FC236}">
                    <a16:creationId xmlns:a16="http://schemas.microsoft.com/office/drawing/2014/main" id="{CA610D5F-F4B6-4ECB-8380-39F5E12DB8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875" y="2476500"/>
                <a:ext cx="6715125" cy="552450"/>
              </a:xfrm>
              <a:prstGeom prst="rect">
                <a:avLst/>
              </a:prstGeom>
              <a:blipFill>
                <a:blip r:embed="rId4"/>
                <a:stretch>
                  <a:fillRect b="-45055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-54">
                <a:extLst>
                  <a:ext uri="{FF2B5EF4-FFF2-40B4-BE49-F238E27FC236}">
                    <a16:creationId xmlns:a16="http://schemas.microsoft.com/office/drawing/2014/main" id="{9EB7AB0E-A361-4511-A1A3-CD010A36280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04875" y="3171825"/>
                <a:ext cx="6715125" cy="6381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0" tIns="0" rIns="0" bIns="0">
                <a:noAutofit/>
              </a:bodyPr>
              <a:lstStyle/>
              <a:p>
                <a:pPr>
                  <a:defRPr lang="en-US" altLang="zh-CN" sz="3000" b="0">
                    <a:solidFill>
                      <a:srgbClr val="354E68"/>
                    </a:solidFill>
                    <a:latin typeface="Times New Roman"/>
                    <a:ea typeface="Microsoft YaHei"/>
                    <a:cs typeface="Times New Roman"/>
                  </a:defRPr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altLang="zh-CN" sz="2800" i="1" dirty="0">
                              <a:solidFill>
                                <a:srgbClr val="354E68"/>
                              </a:solidFill>
                              <a:latin typeface="Cambria Math" panose="02040503050406030204" pitchFamily="18" charset="0"/>
                              <a:ea typeface="Microsoft YaHei"/>
                              <a:cs typeface="Times New Roman"/>
                            </a:rPr>
                          </m:ctrlPr>
                        </m:fPr>
                        <m:num>
                          <m:r>
                            <a:rPr lang="en-US" altLang="zh-CN" sz="2800" i="1" dirty="0">
                              <a:solidFill>
                                <a:srgbClr val="354E68"/>
                              </a:solidFill>
                              <a:latin typeface="Cambria Math" panose="02040503050406030204" pitchFamily="18" charset="0"/>
                              <a:ea typeface="Microsoft YaHei"/>
                              <a:cs typeface="Times New Roman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800" i="1" dirty="0">
                              <a:solidFill>
                                <a:srgbClr val="354E68"/>
                              </a:solidFill>
                              <a:latin typeface="Cambria Math" panose="02040503050406030204" pitchFamily="18" charset="0"/>
                              <a:ea typeface="Microsoft YaHei"/>
                              <a:cs typeface="Times New Roman"/>
                            </a:rPr>
                            <m:t>ℎ</m:t>
                          </m:r>
                          <m:r>
                            <a:rPr lang="en-US" altLang="zh-CN" sz="2800" i="1" dirty="0">
                              <a:solidFill>
                                <a:srgbClr val="354E68"/>
                              </a:solidFill>
                              <a:latin typeface="Cambria Math" panose="02040503050406030204" pitchFamily="18" charset="0"/>
                              <a:ea typeface="Microsoft YaHei"/>
                              <a:cs typeface="Times New Roman"/>
                            </a:rPr>
                            <m:t>²</m:t>
                          </m:r>
                        </m:den>
                      </m:f>
                      <m:r>
                        <a:rPr lang="en-US" altLang="zh-CN" sz="2800" b="0" i="1" dirty="0" smtClean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(</m:t>
                      </m:r>
                      <m:r>
                        <a:rPr lang="en-US" altLang="zh-CN" sz="2800" b="0" i="1" dirty="0" smtClean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𝑈</m:t>
                      </m:r>
                      <m:r>
                        <a:rPr lang="en-US" altLang="zh-CN" sz="2800" b="0" i="1" dirty="0" smtClean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ᵢ₋₁ − 2</m:t>
                      </m:r>
                      <m:r>
                        <a:rPr lang="en-US" altLang="zh-CN" sz="2800" b="0" i="1" dirty="0" smtClean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𝑈</m:t>
                      </m:r>
                      <m:r>
                        <a:rPr lang="en-US" altLang="zh-CN" sz="2800" b="0" i="1" dirty="0" smtClean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ᵢ + </m:t>
                      </m:r>
                      <m:r>
                        <a:rPr lang="en-US" altLang="zh-CN" sz="2800" b="0" i="1" dirty="0" smtClean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𝑈</m:t>
                      </m:r>
                      <m:r>
                        <a:rPr lang="en-US" altLang="zh-CN" sz="2800" b="0" i="1" dirty="0" smtClean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ᵢ₊₁) = </m:t>
                      </m:r>
                      <m:r>
                        <m:rPr>
                          <m:sty m:val="p"/>
                        </m:rPr>
                        <a:rPr lang="en-US" altLang="zh-CN" sz="2800" b="0" i="1" dirty="0" smtClean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exp</m:t>
                      </m:r>
                      <m:r>
                        <a:rPr lang="en-US" altLang="zh-CN" sz="2800" b="0" i="1" dirty="0" smtClean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⁡(−</m:t>
                      </m:r>
                      <m:r>
                        <a:rPr lang="en-US" altLang="zh-CN" sz="2800" b="0" i="1" dirty="0" smtClean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𝑥</m:t>
                      </m:r>
                      <m:r>
                        <a:rPr lang="en-US" altLang="zh-CN" sz="2800" b="0" i="1" dirty="0" smtClean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ᵢ²)</m:t>
                      </m:r>
                    </m:oMath>
                  </m:oMathPara>
                </a14:m>
                <a:endParaRPr lang="en-US" altLang="zh-CN" sz="2800" b="0" dirty="0">
                  <a:solidFill>
                    <a:srgbClr val="354E68"/>
                  </a:solidFill>
                  <a:latin typeface="Times New Roman"/>
                  <a:ea typeface="Microsoft YaHei"/>
                  <a:cs typeface="Times New Roman"/>
                </a:endParaRPr>
              </a:p>
            </p:txBody>
          </p:sp>
        </mc:Choice>
        <mc:Fallback>
          <p:sp>
            <p:nvSpPr>
              <p:cNvPr id="7" name="text-54">
                <a:extLst>
                  <a:ext uri="{FF2B5EF4-FFF2-40B4-BE49-F238E27FC236}">
                    <a16:creationId xmlns:a16="http://schemas.microsoft.com/office/drawing/2014/main" id="{9EB7AB0E-A361-4511-A1A3-CD010A3628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875" y="3171825"/>
                <a:ext cx="6715125" cy="638175"/>
              </a:xfrm>
              <a:prstGeom prst="rect">
                <a:avLst/>
              </a:prstGeom>
              <a:blipFill>
                <a:blip r:embed="rId5"/>
                <a:stretch>
                  <a:fillRect b="-26667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-55">
                <a:extLst>
                  <a:ext uri="{FF2B5EF4-FFF2-40B4-BE49-F238E27FC236}">
                    <a16:creationId xmlns:a16="http://schemas.microsoft.com/office/drawing/2014/main" id="{63CBC6FF-8DD1-41BB-8945-7E18B284CFB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04875" y="3990975"/>
                <a:ext cx="6715125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0" tIns="0" rIns="0" bIns="0">
                <a:noAutofit/>
              </a:bodyPr>
              <a:lstStyle/>
              <a:p>
                <a:pPr>
                  <a:defRPr lang="en-US" altLang="zh-CN" sz="2925" b="0">
                    <a:solidFill>
                      <a:srgbClr val="354E68"/>
                    </a:solidFill>
                    <a:latin typeface="Times New Roman"/>
                    <a:ea typeface="Microsoft YaHei"/>
                    <a:cs typeface="Times New Roman"/>
                  </a:defRPr>
                </a:pPr>
                <a14:m>
                  <m:oMathPara xmlns:m="http://schemas.openxmlformats.org/officeDocument/2006/math">
                    <m:oMath>
                      <m:r>
                        <a:rPr lang="en-US" altLang="zh-CN" sz="2800" b="0" i="1" dirty="0" smtClean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𝐴</m:t>
                      </m:r>
                      <m:r>
                        <a:rPr lang="en-US" altLang="zh-CN" sz="2800" b="0" i="1" dirty="0" smtClean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 </m:t>
                      </m:r>
                      <m:r>
                        <a:rPr lang="en-US" altLang="zh-CN" sz="2800" b="0" i="1" dirty="0" smtClean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𝑈</m:t>
                      </m:r>
                      <m:r>
                        <a:rPr lang="en-US" altLang="zh-CN" sz="2800" b="0" i="1" dirty="0" smtClean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 = </m:t>
                      </m:r>
                      <m:r>
                        <a:rPr lang="en-US" altLang="zh-CN" sz="2800" b="0" i="1" dirty="0" err="1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𝑓</m:t>
                      </m:r>
                      <m:r>
                        <a:rPr lang="en-US" altLang="zh-CN" sz="2800" b="0" i="1" dirty="0" smtClean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,  </m:t>
                      </m:r>
                      <m:r>
                        <a:rPr lang="en-US" altLang="zh-CN" sz="2800" b="0" i="1" dirty="0" err="1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𝐴</m:t>
                      </m:r>
                      <m:r>
                        <a:rPr lang="en-US" altLang="zh-CN" sz="2800" b="0" i="1" dirty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 = </m:t>
                      </m:r>
                      <m:f>
                        <m:fPr>
                          <m:ctrlPr>
                            <a:rPr lang="en-US" altLang="zh-CN" sz="2800" b="0" i="1" dirty="0" smtClean="0">
                              <a:solidFill>
                                <a:srgbClr val="354E68"/>
                              </a:solidFill>
                              <a:latin typeface="Cambria Math" panose="02040503050406030204" pitchFamily="18" charset="0"/>
                              <a:ea typeface="Microsoft YaHei"/>
                              <a:cs typeface="Times New Roman"/>
                            </a:rPr>
                          </m:ctrlPr>
                        </m:fPr>
                        <m:num>
                          <m:r>
                            <a:rPr lang="en-US" altLang="zh-CN" sz="2800" b="0" i="1" dirty="0" smtClean="0">
                              <a:solidFill>
                                <a:srgbClr val="354E68"/>
                              </a:solidFill>
                              <a:latin typeface="Cambria Math" panose="02040503050406030204" pitchFamily="18" charset="0"/>
                              <a:ea typeface="Microsoft YaHei"/>
                              <a:cs typeface="Times New Roman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800" i="1" dirty="0">
                              <a:solidFill>
                                <a:srgbClr val="354E68"/>
                              </a:solidFill>
                              <a:latin typeface="Cambria Math" panose="02040503050406030204" pitchFamily="18" charset="0"/>
                              <a:ea typeface="Microsoft YaHei"/>
                              <a:cs typeface="Times New Roman"/>
                            </a:rPr>
                            <m:t>ℎ</m:t>
                          </m:r>
                          <m:r>
                            <a:rPr lang="en-US" altLang="zh-CN" sz="2800" i="1" dirty="0">
                              <a:solidFill>
                                <a:srgbClr val="354E68"/>
                              </a:solidFill>
                              <a:latin typeface="Cambria Math" panose="02040503050406030204" pitchFamily="18" charset="0"/>
                              <a:ea typeface="Microsoft YaHei"/>
                              <a:cs typeface="Times New Roman"/>
                            </a:rPr>
                            <m:t>²</m:t>
                          </m:r>
                        </m:den>
                      </m:f>
                      <m:r>
                        <a:rPr lang="en-US" altLang="zh-CN" sz="2800" b="0" i="1" dirty="0" err="1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𝑡𝑟𝑖𝑑𝑖𝑎𝑔</m:t>
                      </m:r>
                      <m:r>
                        <a:rPr lang="en-US" altLang="zh-CN" sz="2800" b="0" i="1" dirty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(1, −2, 1) </m:t>
                      </m:r>
                    </m:oMath>
                  </m:oMathPara>
                </a14:m>
                <a:endParaRPr lang="en-US" altLang="zh-CN" sz="2800" b="0" dirty="0">
                  <a:solidFill>
                    <a:srgbClr val="354E68"/>
                  </a:solidFill>
                  <a:latin typeface="Times New Roman"/>
                  <a:ea typeface="Microsoft YaHei"/>
                  <a:cs typeface="Times New Roman"/>
                </a:endParaRPr>
              </a:p>
            </p:txBody>
          </p:sp>
        </mc:Choice>
        <mc:Fallback>
          <p:sp>
            <p:nvSpPr>
              <p:cNvPr id="8" name="text-55">
                <a:extLst>
                  <a:ext uri="{FF2B5EF4-FFF2-40B4-BE49-F238E27FC236}">
                    <a16:creationId xmlns:a16="http://schemas.microsoft.com/office/drawing/2014/main" id="{63CBC6FF-8DD1-41BB-8945-7E18B284CF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875" y="3990975"/>
                <a:ext cx="6715125" cy="619125"/>
              </a:xfrm>
              <a:prstGeom prst="rect">
                <a:avLst/>
              </a:prstGeom>
              <a:blipFill>
                <a:blip r:embed="rId6"/>
                <a:stretch>
                  <a:fillRect b="-31683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-57">
            <a:extLst>
              <a:ext uri="{FF2B5EF4-FFF2-40B4-BE49-F238E27FC236}">
                <a16:creationId xmlns:a16="http://schemas.microsoft.com/office/drawing/2014/main" id="{A8FF5810-A14E-4282-931C-73ACF6028C56}"/>
              </a:ext>
            </a:extLst>
          </p:cNvPr>
          <p:cNvSpPr>
            <a:spLocks noGrp="1"/>
          </p:cNvSpPr>
          <p:nvPr/>
        </p:nvSpPr>
        <p:spPr>
          <a:xfrm>
            <a:off x="904875" y="5010150"/>
            <a:ext cx="80010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lang="en-US" altLang="zh-CN" sz="2700" b="1">
                <a:solidFill>
                  <a:srgbClr val="287D7B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altLang="zh-CN" sz="2700" b="1">
                <a:solidFill>
                  <a:srgbClr val="287D7B"/>
                </a:solidFill>
                <a:latin typeface="Times New Roman"/>
                <a:ea typeface="Microsoft YaHei"/>
                <a:cs typeface="Times New Roman"/>
              </a:rPr>
              <a:t>编程：稀疏组装与直接求解</a:t>
            </a:r>
          </a:p>
        </p:txBody>
      </p:sp>
      <p:sp>
        <p:nvSpPr>
          <p:cNvPr id="12" name="text-58">
            <a:extLst>
              <a:ext uri="{FF2B5EF4-FFF2-40B4-BE49-F238E27FC236}">
                <a16:creationId xmlns:a16="http://schemas.microsoft.com/office/drawing/2014/main" id="{0CC10E93-3F14-4E9D-8507-A55E65BEDA95}"/>
              </a:ext>
            </a:extLst>
          </p:cNvPr>
          <p:cNvSpPr>
            <a:spLocks noGrp="1"/>
          </p:cNvSpPr>
          <p:nvPr/>
        </p:nvSpPr>
        <p:spPr>
          <a:xfrm>
            <a:off x="904875" y="5629275"/>
            <a:ext cx="7953375" cy="106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lang="en-US" altLang="zh-CN" sz="2400" b="0">
                <a:solidFill>
                  <a:srgbClr val="354E68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altLang="zh-CN" sz="2400" b="0">
                <a:solidFill>
                  <a:srgbClr val="354E68"/>
                </a:solidFill>
                <a:latin typeface="Times New Roman"/>
                <a:ea typeface="Microsoft YaHei"/>
                <a:cs typeface="Times New Roman"/>
              </a:rPr>
              <a:t>A = spdiags([e, -2*e, e], -1:1, N-1, N-1)/h^2;</a:t>
            </a:r>
          </a:p>
          <a:p>
            <a:pPr>
              <a:defRPr lang="en-US" altLang="zh-CN" sz="2400" b="0">
                <a:solidFill>
                  <a:srgbClr val="354E68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altLang="zh-CN" sz="2400" b="0">
                <a:solidFill>
                  <a:srgbClr val="354E68"/>
                </a:solidFill>
                <a:latin typeface="Times New Roman"/>
                <a:ea typeface="Microsoft YaHei"/>
                <a:cs typeface="Times New Roman"/>
              </a:rPr>
              <a:t>U = A \ f;</a:t>
            </a:r>
          </a:p>
        </p:txBody>
      </p:sp>
      <p:sp>
        <p:nvSpPr>
          <p:cNvPr id="13" name="结论-59">
            <a:extLst>
              <a:ext uri="{FF2B5EF4-FFF2-40B4-BE49-F238E27FC236}">
                <a16:creationId xmlns:a16="http://schemas.microsoft.com/office/drawing/2014/main" id="{B0DD7265-8D8D-421D-93A9-14664511C570}"/>
              </a:ext>
            </a:extLst>
          </p:cNvPr>
          <p:cNvSpPr>
            <a:spLocks noGrp="1"/>
          </p:cNvSpPr>
          <p:nvPr/>
        </p:nvSpPr>
        <p:spPr>
          <a:xfrm>
            <a:off x="904875" y="6972300"/>
            <a:ext cx="13430250" cy="552450"/>
          </a:xfrm>
          <a:prstGeom prst="rect">
            <a:avLst/>
          </a:prstGeom>
          <a:solidFill>
            <a:srgbClr val="EDF6F5"/>
          </a:solidFill>
          <a:ln w="0">
            <a:noFill/>
          </a:ln>
        </p:spPr>
        <p:txBody>
          <a:bodyPr lIns="133350" tIns="76200" rIns="133350" bIns="0">
            <a:noAutofit/>
          </a:bodyPr>
          <a:lstStyle/>
          <a:p>
            <a:pPr>
              <a:defRPr lang="en-US" altLang="zh-CN" sz="2625" b="1">
                <a:solidFill>
                  <a:srgbClr val="287D7B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altLang="zh-CN" sz="2625" b="1">
                <a:solidFill>
                  <a:srgbClr val="287D7B"/>
                </a:solidFill>
                <a:latin typeface="Times New Roman"/>
                <a:ea typeface="Microsoft YaHei"/>
                <a:cs typeface="Times New Roman"/>
              </a:rPr>
              <a:t>边界值已知，内部未知量为 N − 1 个；离散截断误差为 O(h²)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406A9380-2E2B-063F-F2AA-4C4E0A3F2FE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0" y="1724025"/>
            <a:ext cx="4868555" cy="4868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419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5240000" cy="8572500"/>
          </a:xfrm>
          <a:prstGeom prst="rect">
            <a:avLst/>
          </a:prstGeom>
        </p:spPr>
      </p:pic>
      <p:sp>
        <p:nvSpPr>
          <p:cNvPr id="2" name="title-60">
            <a:extLst>
              <a:ext uri="{FF2B5EF4-FFF2-40B4-BE49-F238E27FC236}">
                <a16:creationId xmlns:a16="http://schemas.microsoft.com/office/drawing/2014/main" id="{A1DE33C0-9782-42C6-B671-13133F8978AB}"/>
              </a:ext>
            </a:extLst>
          </p:cNvPr>
          <p:cNvSpPr>
            <a:spLocks noGrp="1"/>
          </p:cNvSpPr>
          <p:nvPr/>
        </p:nvSpPr>
        <p:spPr>
          <a:xfrm>
            <a:off x="1381125" y="742950"/>
            <a:ext cx="11525250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lang="en-US" altLang="zh-CN" sz="3675" b="1">
                <a:solidFill>
                  <a:srgbClr val="303A43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altLang="zh-CN" sz="3675" b="1">
                <a:solidFill>
                  <a:srgbClr val="303A43"/>
                </a:solidFill>
                <a:latin typeface="Times New Roman"/>
                <a:ea typeface="Microsoft YaHei"/>
                <a:cs typeface="Times New Roman"/>
              </a:rPr>
              <a:t>基础数值解与二阶收敛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-63">
                <a:extLst>
                  <a:ext uri="{FF2B5EF4-FFF2-40B4-BE49-F238E27FC236}">
                    <a16:creationId xmlns:a16="http://schemas.microsoft.com/office/drawing/2014/main" id="{4951B72D-576A-4498-9163-CC3FFF25628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04875" y="1847850"/>
                <a:ext cx="6477000" cy="4953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0" tIns="0" rIns="0" bIns="0">
                <a:noAutofit/>
              </a:bodyPr>
              <a:lstStyle/>
              <a:p>
                <a:pPr>
                  <a:defRPr lang="en-US" altLang="zh-CN" sz="2700" b="1">
                    <a:solidFill>
                      <a:srgbClr val="287D7B"/>
                    </a:solidFill>
                    <a:latin typeface="Times New Roman"/>
                    <a:ea typeface="Microsoft YaHei"/>
                    <a:cs typeface="Times New Roman"/>
                  </a:defRPr>
                </a:pPr>
                <a:r>
                  <a:rPr lang="en-US" altLang="zh-CN" sz="2700" b="1" dirty="0" err="1">
                    <a:solidFill>
                      <a:srgbClr val="287D7B"/>
                    </a:solidFill>
                    <a:latin typeface="Times New Roman"/>
                    <a:ea typeface="Microsoft YaHei"/>
                    <a:cs typeface="Times New Roman"/>
                  </a:rPr>
                  <a:t>代表网格</a:t>
                </a:r>
                <a:r>
                  <a:rPr lang="en-US" altLang="zh-CN" sz="2700" b="1" dirty="0">
                    <a:solidFill>
                      <a:srgbClr val="287D7B"/>
                    </a:solidFill>
                    <a:latin typeface="Times New Roman"/>
                    <a:ea typeface="Microsoft YaHei"/>
                    <a:cs typeface="Times New Roman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700" b="1" i="1" dirty="0" smtClean="0">
                        <a:solidFill>
                          <a:srgbClr val="287D7B"/>
                        </a:solidFill>
                        <a:latin typeface="Cambria Math" panose="02040503050406030204" pitchFamily="18" charset="0"/>
                        <a:ea typeface="Microsoft YaHei"/>
                        <a:cs typeface="Times New Roman"/>
                      </a:rPr>
                      <m:t>𝑵</m:t>
                    </m:r>
                    <m:r>
                      <a:rPr lang="en-US" altLang="zh-CN" sz="2700" b="1" i="1" dirty="0" smtClean="0">
                        <a:solidFill>
                          <a:srgbClr val="287D7B"/>
                        </a:solidFill>
                        <a:latin typeface="Cambria Math" panose="02040503050406030204" pitchFamily="18" charset="0"/>
                        <a:ea typeface="Microsoft YaHei"/>
                        <a:cs typeface="Times New Roman"/>
                      </a:rPr>
                      <m:t> = </m:t>
                    </m:r>
                    <m:r>
                      <a:rPr lang="en-US" altLang="zh-CN" sz="2700" b="1" i="1" dirty="0" smtClean="0">
                        <a:solidFill>
                          <a:srgbClr val="287D7B"/>
                        </a:solidFill>
                        <a:latin typeface="Cambria Math" panose="02040503050406030204" pitchFamily="18" charset="0"/>
                        <a:ea typeface="Microsoft YaHei"/>
                        <a:cs typeface="Times New Roman"/>
                      </a:rPr>
                      <m:t>𝟏𝟔</m:t>
                    </m:r>
                  </m:oMath>
                </a14:m>
                <a:endParaRPr lang="en-US" altLang="zh-CN" sz="2700" b="1" dirty="0">
                  <a:solidFill>
                    <a:srgbClr val="287D7B"/>
                  </a:solidFill>
                  <a:latin typeface="Times New Roman"/>
                  <a:ea typeface="Microsoft YaHei"/>
                  <a:cs typeface="Times New Roman"/>
                </a:endParaRPr>
              </a:p>
            </p:txBody>
          </p:sp>
        </mc:Choice>
        <mc:Fallback>
          <p:sp>
            <p:nvSpPr>
              <p:cNvPr id="5" name="text-63">
                <a:extLst>
                  <a:ext uri="{FF2B5EF4-FFF2-40B4-BE49-F238E27FC236}">
                    <a16:creationId xmlns:a16="http://schemas.microsoft.com/office/drawing/2014/main" id="{4951B72D-576A-4498-9163-CC3FFF2562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875" y="1847850"/>
                <a:ext cx="6477000" cy="495300"/>
              </a:xfrm>
              <a:prstGeom prst="rect">
                <a:avLst/>
              </a:prstGeom>
              <a:blipFill>
                <a:blip r:embed="rId4"/>
                <a:stretch>
                  <a:fillRect l="-3198" t="-19753" b="-25926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-64">
            <a:extLst>
              <a:ext uri="{FF2B5EF4-FFF2-40B4-BE49-F238E27FC236}">
                <a16:creationId xmlns:a16="http://schemas.microsoft.com/office/drawing/2014/main" id="{4C88E807-46EB-4A9E-BF7D-C5D25CFEC964}"/>
              </a:ext>
            </a:extLst>
          </p:cNvPr>
          <p:cNvSpPr>
            <a:spLocks noGrp="1"/>
          </p:cNvSpPr>
          <p:nvPr/>
        </p:nvSpPr>
        <p:spPr>
          <a:xfrm>
            <a:off x="7953375" y="1847850"/>
            <a:ext cx="638175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lang="en-US" altLang="zh-CN" sz="2700" b="1">
                <a:solidFill>
                  <a:srgbClr val="287D7B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altLang="zh-CN" sz="2700" b="1">
                <a:solidFill>
                  <a:srgbClr val="287D7B"/>
                </a:solidFill>
                <a:latin typeface="Times New Roman"/>
                <a:ea typeface="Microsoft YaHei"/>
                <a:cs typeface="Times New Roman"/>
              </a:rPr>
              <a:t>最大节点误差随步长变化</a:t>
            </a: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29353" y="2569661"/>
            <a:ext cx="5782169" cy="3976102"/>
          </a:xfrm>
          <a:prstGeom prst="rect">
            <a:avLst/>
          </a:prstGeom>
        </p:spPr>
      </p:pic>
      <p:sp>
        <p:nvSpPr>
          <p:cNvPr id="9" name="结论-65">
            <a:extLst>
              <a:ext uri="{FF2B5EF4-FFF2-40B4-BE49-F238E27FC236}">
                <a16:creationId xmlns:a16="http://schemas.microsoft.com/office/drawing/2014/main" id="{4AE3802C-A459-42F9-AE6D-89115759B4BD}"/>
              </a:ext>
            </a:extLst>
          </p:cNvPr>
          <p:cNvSpPr>
            <a:spLocks noGrp="1"/>
          </p:cNvSpPr>
          <p:nvPr/>
        </p:nvSpPr>
        <p:spPr>
          <a:xfrm>
            <a:off x="904875" y="6972300"/>
            <a:ext cx="13430250" cy="552450"/>
          </a:xfrm>
          <a:prstGeom prst="rect">
            <a:avLst/>
          </a:prstGeom>
          <a:solidFill>
            <a:srgbClr val="EDF6F5"/>
          </a:solidFill>
          <a:ln w="0">
            <a:noFill/>
          </a:ln>
        </p:spPr>
        <p:txBody>
          <a:bodyPr lIns="133350" tIns="76200" rIns="133350" bIns="0">
            <a:noAutofit/>
          </a:bodyPr>
          <a:lstStyle/>
          <a:p>
            <a:pPr>
              <a:defRPr lang="en-US" altLang="zh-CN" sz="2625" b="1">
                <a:solidFill>
                  <a:srgbClr val="287D7B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altLang="zh-CN" sz="2625" b="1">
                <a:solidFill>
                  <a:srgbClr val="287D7B"/>
                </a:solidFill>
                <a:latin typeface="Times New Roman"/>
                <a:ea typeface="Microsoft YaHei"/>
                <a:cs typeface="Times New Roman"/>
              </a:rPr>
              <a:t>拟合阶 p = 2.0025；步长减半，最大误差约缩小到 1/4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FEE04EE-AB4E-78F1-C877-B037A777CDF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22201" y="2422147"/>
            <a:ext cx="5042347" cy="3976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787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5240000" cy="8572500"/>
          </a:xfrm>
          <a:prstGeom prst="rect">
            <a:avLst/>
          </a:prstGeom>
        </p:spPr>
      </p:pic>
      <p:sp>
        <p:nvSpPr>
          <p:cNvPr id="2" name="title-66">
            <a:extLst>
              <a:ext uri="{FF2B5EF4-FFF2-40B4-BE49-F238E27FC236}">
                <a16:creationId xmlns:a16="http://schemas.microsoft.com/office/drawing/2014/main" id="{0044F67C-4E23-4548-98AA-71CD251B683C}"/>
              </a:ext>
            </a:extLst>
          </p:cNvPr>
          <p:cNvSpPr>
            <a:spLocks noGrp="1"/>
          </p:cNvSpPr>
          <p:nvPr/>
        </p:nvSpPr>
        <p:spPr>
          <a:xfrm>
            <a:off x="1381125" y="742950"/>
            <a:ext cx="11525250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lang="en-US" altLang="zh-CN" sz="3675" b="1">
                <a:solidFill>
                  <a:srgbClr val="303A43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altLang="zh-CN" sz="3675" b="1">
                <a:solidFill>
                  <a:srgbClr val="303A43"/>
                </a:solidFill>
                <a:latin typeface="Times New Roman"/>
                <a:ea typeface="Microsoft YaHei"/>
                <a:cs typeface="Times New Roman"/>
              </a:rPr>
              <a:t>Richardson 外推：消去二阶主误差</a:t>
            </a:r>
          </a:p>
        </p:txBody>
      </p:sp>
      <p:sp>
        <p:nvSpPr>
          <p:cNvPr id="5" name="text-69">
            <a:extLst>
              <a:ext uri="{FF2B5EF4-FFF2-40B4-BE49-F238E27FC236}">
                <a16:creationId xmlns:a16="http://schemas.microsoft.com/office/drawing/2014/main" id="{26A9510B-F2B0-44A1-BC40-23732256C376}"/>
              </a:ext>
            </a:extLst>
          </p:cNvPr>
          <p:cNvSpPr>
            <a:spLocks noGrp="1"/>
          </p:cNvSpPr>
          <p:nvPr/>
        </p:nvSpPr>
        <p:spPr>
          <a:xfrm>
            <a:off x="904875" y="1847850"/>
            <a:ext cx="657225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lang="en-US" altLang="zh-CN" sz="2700" b="1">
                <a:solidFill>
                  <a:srgbClr val="287D7B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altLang="zh-CN" sz="2700" b="1">
                <a:solidFill>
                  <a:srgbClr val="287D7B"/>
                </a:solidFill>
                <a:latin typeface="Times New Roman"/>
                <a:ea typeface="Microsoft YaHei"/>
                <a:cs typeface="Times New Roman"/>
              </a:rPr>
              <a:t>理论与节点对齐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-70">
                <a:extLst>
                  <a:ext uri="{FF2B5EF4-FFF2-40B4-BE49-F238E27FC236}">
                    <a16:creationId xmlns:a16="http://schemas.microsoft.com/office/drawing/2014/main" id="{9EF025B2-4F77-484F-ABDD-8FB7CFE64FB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04875" y="2514600"/>
                <a:ext cx="6667500" cy="5905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0" tIns="0" rIns="0" bIns="0">
                <a:noAutofit/>
              </a:bodyPr>
              <a:lstStyle/>
              <a:p>
                <a:pPr>
                  <a:defRPr lang="en-US" altLang="zh-CN" sz="3150" b="0">
                    <a:solidFill>
                      <a:srgbClr val="354E68"/>
                    </a:solidFill>
                    <a:latin typeface="Times New Roman"/>
                    <a:ea typeface="Microsoft YaHei"/>
                    <a:cs typeface="Times New Roman"/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zh-CN" altLang="en-US" sz="3150" i="1" dirty="0">
                              <a:solidFill>
                                <a:srgbClr val="354E68"/>
                              </a:solidFill>
                              <a:latin typeface="Cambria Math" panose="02040503050406030204" pitchFamily="18" charset="0"/>
                              <a:ea typeface="Microsoft YaHei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zh-CN" altLang="en-US" sz="3150" i="1" dirty="0">
                              <a:solidFill>
                                <a:srgbClr val="354E68"/>
                              </a:solidFill>
                              <a:latin typeface="Cambria Math" panose="02040503050406030204" pitchFamily="18" charset="0"/>
                              <a:ea typeface="Microsoft YaHei"/>
                              <a:cs typeface="Times New Roman"/>
                            </a:rPr>
                            <m:t>𝑈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3150" i="1" dirty="0">
                              <a:solidFill>
                                <a:srgbClr val="354E68"/>
                              </a:solidFill>
                              <a:latin typeface="Cambria Math" panose="02040503050406030204" pitchFamily="18" charset="0"/>
                              <a:ea typeface="Microsoft YaHei"/>
                              <a:cs typeface="Times New Roman"/>
                            </a:rPr>
                            <m:t>h</m:t>
                          </m:r>
                        </m:sub>
                      </m:sSub>
                      <m:r>
                        <a:rPr lang="zh-CN" altLang="en-US" sz="3150" b="0" i="1" dirty="0" smtClean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 </m:t>
                      </m:r>
                      <m:r>
                        <a:rPr lang="en-US" altLang="zh-CN" sz="3150" b="0" i="1" dirty="0" smtClean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= </m:t>
                      </m:r>
                      <m:r>
                        <a:rPr lang="en-US" altLang="zh-CN" sz="3150" b="0" i="1" dirty="0" smtClean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𝑢</m:t>
                      </m:r>
                      <m:r>
                        <a:rPr lang="en-US" altLang="zh-CN" sz="3150" b="0" i="1" dirty="0" smtClean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 + </m:t>
                      </m:r>
                      <m:r>
                        <a:rPr lang="en-US" altLang="zh-CN" sz="3150" b="0" i="1" dirty="0" smtClean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𝑐</m:t>
                      </m:r>
                      <m:r>
                        <a:rPr lang="en-US" altLang="zh-CN" sz="3150" b="0" i="1" dirty="0" smtClean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₂</m:t>
                      </m:r>
                      <m:r>
                        <a:rPr lang="en-US" altLang="zh-CN" sz="3150" b="0" i="1" dirty="0" smtClean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ℎ</m:t>
                      </m:r>
                      <m:r>
                        <a:rPr lang="en-US" altLang="zh-CN" sz="3150" b="0" i="1" dirty="0" smtClean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² + </m:t>
                      </m:r>
                      <m:r>
                        <m:rPr>
                          <m:sty m:val="p"/>
                        </m:rPr>
                        <a:rPr lang="en-US" altLang="zh-CN" sz="3150" i="1" dirty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o</m:t>
                      </m:r>
                      <m:r>
                        <a:rPr lang="en-US" altLang="zh-CN" sz="3150" b="0" i="1" dirty="0" smtClean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(</m:t>
                      </m:r>
                      <m:r>
                        <a:rPr lang="en-US" altLang="zh-CN" sz="3150" b="0" i="1" dirty="0" smtClean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ℎ</m:t>
                      </m:r>
                      <m:r>
                        <a:rPr lang="en-US" altLang="zh-CN" sz="3150" b="0" i="1" dirty="0" smtClean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⁴)</m:t>
                      </m:r>
                    </m:oMath>
                  </m:oMathPara>
                </a14:m>
                <a:endParaRPr lang="en-US" altLang="zh-CN" sz="3150" b="0" dirty="0">
                  <a:solidFill>
                    <a:srgbClr val="354E68"/>
                  </a:solidFill>
                  <a:latin typeface="Times New Roman"/>
                  <a:ea typeface="Microsoft YaHei"/>
                  <a:cs typeface="Times New Roman"/>
                </a:endParaRPr>
              </a:p>
            </p:txBody>
          </p:sp>
        </mc:Choice>
        <mc:Fallback>
          <p:sp>
            <p:nvSpPr>
              <p:cNvPr id="6" name="text-70">
                <a:extLst>
                  <a:ext uri="{FF2B5EF4-FFF2-40B4-BE49-F238E27FC236}">
                    <a16:creationId xmlns:a16="http://schemas.microsoft.com/office/drawing/2014/main" id="{9EF025B2-4F77-484F-ABDD-8FB7CFE64F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875" y="2514600"/>
                <a:ext cx="6667500" cy="5905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-71">
                <a:extLst>
                  <a:ext uri="{FF2B5EF4-FFF2-40B4-BE49-F238E27FC236}">
                    <a16:creationId xmlns:a16="http://schemas.microsoft.com/office/drawing/2014/main" id="{10A20D1F-2299-4553-8C44-98EAABCD2F31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04875" y="3456847"/>
                <a:ext cx="6858000" cy="6667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0" tIns="0" rIns="0" bIns="0">
                <a:noAutofit/>
              </a:bodyPr>
              <a:lstStyle/>
              <a:p>
                <a:pPr>
                  <a:defRPr lang="en-US" altLang="zh-CN" sz="3150" b="0">
                    <a:solidFill>
                      <a:srgbClr val="287D7B"/>
                    </a:solidFill>
                    <a:latin typeface="Times New Roman"/>
                    <a:ea typeface="Microsoft YaHei"/>
                    <a:cs typeface="Times New Roman"/>
                  </a:defRPr>
                </a:pPr>
                <a14:m>
                  <m:oMathPara xmlns:m="http://schemas.openxmlformats.org/officeDocument/2006/math">
                    <m:oMath>
                      <m:r>
                        <a:rPr lang="en-US" altLang="zh-CN" sz="3150" b="0" i="1" dirty="0" smtClean="0">
                          <a:solidFill>
                            <a:srgbClr val="287D7B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𝑈</m:t>
                      </m:r>
                      <m:r>
                        <a:rPr lang="en-US" altLang="zh-CN" sz="3150" b="0" i="1" dirty="0" smtClean="0">
                          <a:solidFill>
                            <a:srgbClr val="287D7B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ᴿ = </m:t>
                      </m:r>
                      <m:f>
                        <m:fPr>
                          <m:ctrlPr>
                            <a:rPr lang="en-US" altLang="zh-CN" sz="3150" i="1" dirty="0">
                              <a:solidFill>
                                <a:srgbClr val="287D7B"/>
                              </a:solidFill>
                              <a:latin typeface="Cambria Math" panose="02040503050406030204" pitchFamily="18" charset="0"/>
                              <a:ea typeface="Microsoft YaHei"/>
                              <a:cs typeface="Times New Roman"/>
                            </a:rPr>
                          </m:ctrlPr>
                        </m:fPr>
                        <m:num>
                          <m:r>
                            <a:rPr lang="en-US" altLang="zh-CN" sz="3150" i="1" dirty="0">
                              <a:solidFill>
                                <a:srgbClr val="287D7B"/>
                              </a:solidFill>
                              <a:latin typeface="Cambria Math" panose="02040503050406030204" pitchFamily="18" charset="0"/>
                              <a:ea typeface="Microsoft YaHei"/>
                              <a:cs typeface="Times New Roman"/>
                            </a:rPr>
                            <m:t>[4</m:t>
                          </m:r>
                          <m:sSub>
                            <m:sSubPr>
                              <m:ctrlPr>
                                <a:rPr lang="en-US" altLang="zh-CN" sz="3150" i="1" dirty="0">
                                  <a:solidFill>
                                    <a:srgbClr val="287D7B"/>
                                  </a:solidFill>
                                  <a:latin typeface="Cambria Math" panose="02040503050406030204" pitchFamily="18" charset="0"/>
                                  <a:ea typeface="Microsoft YaHei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3150" i="1" dirty="0">
                                  <a:solidFill>
                                    <a:srgbClr val="287D7B"/>
                                  </a:solidFill>
                                  <a:latin typeface="Cambria Math" panose="02040503050406030204" pitchFamily="18" charset="0"/>
                                  <a:ea typeface="Microsoft YaHei"/>
                                  <a:cs typeface="Times New Roman"/>
                                </a:rPr>
                                <m:t>U</m:t>
                              </m:r>
                            </m:e>
                            <m:sub>
                              <m:r>
                                <a:rPr lang="en-US" altLang="zh-CN" sz="3150" i="1" dirty="0">
                                  <a:solidFill>
                                    <a:srgbClr val="287D7B"/>
                                  </a:solidFill>
                                  <a:latin typeface="Cambria Math" panose="02040503050406030204" pitchFamily="18" charset="0"/>
                                  <a:ea typeface="Microsoft YaHei"/>
                                  <a:cs typeface="Times New Roman"/>
                                </a:rPr>
                                <m:t>ℎ</m:t>
                              </m:r>
                              <m:r>
                                <a:rPr lang="en-US" altLang="zh-CN" sz="3150" i="1" dirty="0">
                                  <a:solidFill>
                                    <a:srgbClr val="287D7B"/>
                                  </a:solidFill>
                                  <a:latin typeface="Cambria Math" panose="02040503050406030204" pitchFamily="18" charset="0"/>
                                  <a:ea typeface="Microsoft YaHei"/>
                                  <a:cs typeface="Times New Roman"/>
                                </a:rPr>
                                <m:t>/2</m:t>
                              </m:r>
                            </m:sub>
                          </m:sSub>
                          <m:r>
                            <a:rPr lang="en-US" altLang="zh-CN" sz="3150" i="1" dirty="0">
                              <a:solidFill>
                                <a:srgbClr val="287D7B"/>
                              </a:solidFill>
                              <a:latin typeface="Cambria Math" panose="02040503050406030204" pitchFamily="18" charset="0"/>
                              <a:ea typeface="Microsoft YaHei"/>
                              <a:cs typeface="Times New Roman"/>
                            </a:rPr>
                            <m:t>− </m:t>
                          </m:r>
                          <m:sSub>
                            <m:sSubPr>
                              <m:ctrlPr>
                                <a:rPr lang="zh-CN" altLang="en-US" sz="3150" i="1" dirty="0">
                                  <a:solidFill>
                                    <a:srgbClr val="287D7B"/>
                                  </a:solidFill>
                                  <a:latin typeface="Cambria Math" panose="02040503050406030204" pitchFamily="18" charset="0"/>
                                  <a:ea typeface="Microsoft YaHei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a:rPr lang="zh-CN" altLang="en-US" sz="3150" i="1" dirty="0">
                                  <a:solidFill>
                                    <a:srgbClr val="287D7B"/>
                                  </a:solidFill>
                                  <a:latin typeface="Cambria Math" panose="02040503050406030204" pitchFamily="18" charset="0"/>
                                  <a:ea typeface="Microsoft YaHei"/>
                                  <a:cs typeface="Times New Roman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altLang="zh-CN" sz="3150" i="1" dirty="0">
                                  <a:solidFill>
                                    <a:srgbClr val="287D7B"/>
                                  </a:solidFill>
                                  <a:latin typeface="Cambria Math" panose="02040503050406030204" pitchFamily="18" charset="0"/>
                                  <a:ea typeface="Microsoft YaHei"/>
                                  <a:cs typeface="Times New Roman"/>
                                </a:rPr>
                                <m:t>ℎ</m:t>
                              </m:r>
                            </m:sub>
                          </m:sSub>
                          <m:r>
                            <a:rPr lang="zh-CN" altLang="en-US" sz="3150" i="1" dirty="0">
                              <a:solidFill>
                                <a:srgbClr val="287D7B"/>
                              </a:solidFill>
                              <a:latin typeface="Cambria Math" panose="02040503050406030204" pitchFamily="18" charset="0"/>
                              <a:ea typeface="Microsoft YaHei"/>
                              <a:cs typeface="Times New Roman"/>
                            </a:rPr>
                            <m:t> </m:t>
                          </m:r>
                          <m:r>
                            <a:rPr lang="en-US" altLang="zh-CN" sz="3150" i="1" dirty="0">
                              <a:solidFill>
                                <a:srgbClr val="287D7B"/>
                              </a:solidFill>
                              <a:latin typeface="Cambria Math" panose="02040503050406030204" pitchFamily="18" charset="0"/>
                              <a:ea typeface="Microsoft YaHei"/>
                              <a:cs typeface="Times New Roman"/>
                            </a:rPr>
                            <m:t>]</m:t>
                          </m:r>
                        </m:num>
                        <m:den>
                          <m:r>
                            <a:rPr lang="en-US" altLang="zh-CN" sz="3150" b="0" i="1" dirty="0" smtClean="0">
                              <a:solidFill>
                                <a:srgbClr val="287D7B"/>
                              </a:solidFill>
                              <a:latin typeface="Cambria Math" panose="02040503050406030204" pitchFamily="18" charset="0"/>
                              <a:ea typeface="Microsoft YaHei"/>
                              <a:cs typeface="Times New Roman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US" altLang="zh-CN" sz="3150" b="0" dirty="0">
                  <a:solidFill>
                    <a:srgbClr val="287D7B"/>
                  </a:solidFill>
                  <a:latin typeface="Times New Roman"/>
                  <a:ea typeface="Microsoft YaHei"/>
                  <a:cs typeface="Times New Roman"/>
                </a:endParaRPr>
              </a:p>
            </p:txBody>
          </p:sp>
        </mc:Choice>
        <mc:Fallback>
          <p:sp>
            <p:nvSpPr>
              <p:cNvPr id="7" name="text-71">
                <a:extLst>
                  <a:ext uri="{FF2B5EF4-FFF2-40B4-BE49-F238E27FC236}">
                    <a16:creationId xmlns:a16="http://schemas.microsoft.com/office/drawing/2014/main" id="{10A20D1F-2299-4553-8C44-98EAABCD2F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875" y="3456847"/>
                <a:ext cx="6858000" cy="666750"/>
              </a:xfrm>
              <a:prstGeom prst="rect">
                <a:avLst/>
              </a:prstGeom>
              <a:blipFill>
                <a:blip r:embed="rId5"/>
                <a:stretch>
                  <a:fillRect b="-41284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1" name="表格 20"/>
          <p:cNvGraphicFramePr/>
          <p:nvPr>
            <p:extLst>
              <p:ext uri="{D42A27DB-BD31-4B8C-83A1-F6EECF244321}">
                <p14:modId xmlns:p14="http://schemas.microsoft.com/office/powerpoint/2010/main" val="1340252886"/>
              </p:ext>
            </p:extLst>
          </p:nvPr>
        </p:nvGraphicFramePr>
        <p:xfrm>
          <a:off x="904875" y="5019675"/>
          <a:ext cx="6858000" cy="1524000"/>
        </p:xfrm>
        <a:graphic>
          <a:graphicData uri="http://schemas.openxmlformats.org/drawingml/2006/table">
            <a:tbl>
              <a:tblPr/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marL="0" algn="ctr">
                        <a:buNone/>
                      </a:pPr>
                      <a:r>
                        <a:rPr lang="en-US" altLang="zh-CN" sz="2550" b="1" dirty="0">
                          <a:solidFill>
                            <a:srgbClr val="303A43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N / 2N</a:t>
                      </a:r>
                    </a:p>
                  </a:txBody>
                  <a:tcPr marL="101600" marR="101600" marT="114300" marB="76200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303A43"/>
                      </a:solidFill>
                    </a:lnT>
                    <a:lnB w="12700">
                      <a:solidFill>
                        <a:srgbClr val="303A4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buNone/>
                      </a:pPr>
                      <a:r>
                        <a:rPr lang="en-US" altLang="zh-CN" sz="2550" b="1" dirty="0">
                          <a:solidFill>
                            <a:srgbClr val="303A43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差分误差</a:t>
                      </a:r>
                    </a:p>
                  </a:txBody>
                  <a:tcPr marL="101600" marR="101600" marT="114300" marB="76200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303A43"/>
                      </a:solidFill>
                    </a:lnT>
                    <a:lnB w="12700">
                      <a:solidFill>
                        <a:srgbClr val="303A4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buNone/>
                      </a:pPr>
                      <a:r>
                        <a:rPr lang="en-US" altLang="zh-CN" sz="2550" b="1" dirty="0">
                          <a:solidFill>
                            <a:srgbClr val="303A43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外推误差</a:t>
                      </a:r>
                    </a:p>
                  </a:txBody>
                  <a:tcPr marL="101600" marR="101600" marT="114300" marB="76200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303A43"/>
                      </a:solidFill>
                    </a:lnT>
                    <a:lnB w="12700">
                      <a:solidFill>
                        <a:srgbClr val="303A4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550" b="0" dirty="0">
                          <a:solidFill>
                            <a:srgbClr val="303A43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16 / 32</a:t>
                      </a:r>
                    </a:p>
                  </a:txBody>
                  <a:tcPr marL="101600" marR="101600" marT="114300" marB="762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03A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303A4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550" b="0" dirty="0">
                          <a:solidFill>
                            <a:srgbClr val="303A43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8.26 × 10⁻⁴</a:t>
                      </a:r>
                    </a:p>
                  </a:txBody>
                  <a:tcPr marL="101600" marR="101600" marT="114300" marB="762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03A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303A4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buNone/>
                      </a:pPr>
                      <a:r>
                        <a:rPr lang="en-US" altLang="zh-CN" sz="2550" b="0" dirty="0">
                          <a:solidFill>
                            <a:srgbClr val="303A43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7.00 × 10⁻⁷</a:t>
                      </a:r>
                    </a:p>
                  </a:txBody>
                  <a:tcPr marL="101600" marR="101600" marT="114300" marB="762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03A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303A4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text-73">
            <a:extLst>
              <a:ext uri="{FF2B5EF4-FFF2-40B4-BE49-F238E27FC236}">
                <a16:creationId xmlns:a16="http://schemas.microsoft.com/office/drawing/2014/main" id="{793FEEA4-893B-4ED4-A214-E5C560EAA82B}"/>
              </a:ext>
            </a:extLst>
          </p:cNvPr>
          <p:cNvSpPr>
            <a:spLocks noGrp="1"/>
          </p:cNvSpPr>
          <p:nvPr/>
        </p:nvSpPr>
        <p:spPr>
          <a:xfrm>
            <a:off x="8096250" y="1847850"/>
            <a:ext cx="619125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lang="en-US" altLang="zh-CN" sz="2700" b="1">
                <a:solidFill>
                  <a:srgbClr val="287D7B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altLang="zh-CN" sz="2700" b="1">
                <a:solidFill>
                  <a:srgbClr val="287D7B"/>
                </a:solidFill>
                <a:latin typeface="Times New Roman"/>
                <a:ea typeface="Microsoft YaHei"/>
                <a:cs typeface="Times New Roman"/>
              </a:rPr>
              <a:t>同一组粗网格节点上的误差</a:t>
            </a: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26922" y="2737393"/>
            <a:ext cx="4529905" cy="3631114"/>
          </a:xfrm>
          <a:prstGeom prst="rect">
            <a:avLst/>
          </a:prstGeom>
        </p:spPr>
      </p:pic>
      <p:sp>
        <p:nvSpPr>
          <p:cNvPr id="12" name="结论-74">
            <a:extLst>
              <a:ext uri="{FF2B5EF4-FFF2-40B4-BE49-F238E27FC236}">
                <a16:creationId xmlns:a16="http://schemas.microsoft.com/office/drawing/2014/main" id="{38EB1614-6D1C-491E-96E6-CFB6E3056531}"/>
              </a:ext>
            </a:extLst>
          </p:cNvPr>
          <p:cNvSpPr>
            <a:spLocks noGrp="1"/>
          </p:cNvSpPr>
          <p:nvPr/>
        </p:nvSpPr>
        <p:spPr>
          <a:xfrm>
            <a:off x="904875" y="6972300"/>
            <a:ext cx="13430250" cy="552450"/>
          </a:xfrm>
          <a:prstGeom prst="rect">
            <a:avLst/>
          </a:prstGeom>
          <a:solidFill>
            <a:srgbClr val="EDF6F5"/>
          </a:solidFill>
          <a:ln w="0">
            <a:noFill/>
          </a:ln>
        </p:spPr>
        <p:txBody>
          <a:bodyPr lIns="133350" tIns="76200" rIns="133350" bIns="0">
            <a:noAutofit/>
          </a:bodyPr>
          <a:lstStyle/>
          <a:p>
            <a:pPr>
              <a:defRPr lang="en-US" altLang="zh-CN" sz="2625" b="1">
                <a:solidFill>
                  <a:srgbClr val="287D7B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altLang="zh-CN" sz="2625" b="1" dirty="0">
                <a:solidFill>
                  <a:srgbClr val="287D7B"/>
                </a:solidFill>
                <a:latin typeface="Times New Roman"/>
                <a:ea typeface="Microsoft YaHei"/>
                <a:cs typeface="Times New Roman"/>
              </a:rPr>
              <a:t>外推后相邻观测阶接近 4；精度提升使用了额外的细网格计算</a:t>
            </a:r>
          </a:p>
        </p:txBody>
      </p:sp>
    </p:spTree>
    <p:extLst>
      <p:ext uri="{BB962C8B-B14F-4D97-AF65-F5344CB8AC3E}">
        <p14:creationId xmlns:p14="http://schemas.microsoft.com/office/powerpoint/2010/main" val="79490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5240000" cy="8572500"/>
          </a:xfrm>
          <a:prstGeom prst="rect">
            <a:avLst/>
          </a:prstGeom>
        </p:spPr>
      </p:pic>
      <p:sp>
        <p:nvSpPr>
          <p:cNvPr id="2" name="title-75">
            <a:extLst>
              <a:ext uri="{FF2B5EF4-FFF2-40B4-BE49-F238E27FC236}">
                <a16:creationId xmlns:a16="http://schemas.microsoft.com/office/drawing/2014/main" id="{0B5D2A21-D23C-45BD-BB85-15B83A9F512A}"/>
              </a:ext>
            </a:extLst>
          </p:cNvPr>
          <p:cNvSpPr>
            <a:spLocks noGrp="1"/>
          </p:cNvSpPr>
          <p:nvPr/>
        </p:nvSpPr>
        <p:spPr>
          <a:xfrm>
            <a:off x="1381125" y="742950"/>
            <a:ext cx="11525250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lang="en-US" altLang="zh-CN" sz="3675" b="1">
                <a:solidFill>
                  <a:srgbClr val="303A43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altLang="zh-CN" sz="3675" b="1">
                <a:solidFill>
                  <a:srgbClr val="303A43"/>
                </a:solidFill>
                <a:latin typeface="Times New Roman"/>
                <a:ea typeface="Microsoft YaHei"/>
                <a:cs typeface="Times New Roman"/>
              </a:rPr>
              <a:t>RK4：四阶段斜率与向量状态接口</a:t>
            </a:r>
          </a:p>
        </p:txBody>
      </p:sp>
      <p:sp>
        <p:nvSpPr>
          <p:cNvPr id="5" name="text-78">
            <a:extLst>
              <a:ext uri="{FF2B5EF4-FFF2-40B4-BE49-F238E27FC236}">
                <a16:creationId xmlns:a16="http://schemas.microsoft.com/office/drawing/2014/main" id="{CB952C04-C43F-4A2F-86CF-2478D27C0C86}"/>
              </a:ext>
            </a:extLst>
          </p:cNvPr>
          <p:cNvSpPr>
            <a:spLocks noGrp="1"/>
          </p:cNvSpPr>
          <p:nvPr/>
        </p:nvSpPr>
        <p:spPr>
          <a:xfrm>
            <a:off x="904875" y="1847850"/>
            <a:ext cx="809625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lang="en-US" altLang="zh-CN" sz="2700" b="1">
                <a:solidFill>
                  <a:srgbClr val="287D7B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altLang="zh-CN" sz="2700" b="1">
                <a:solidFill>
                  <a:srgbClr val="287D7B"/>
                </a:solidFill>
                <a:latin typeface="Times New Roman"/>
                <a:ea typeface="Microsoft YaHei"/>
                <a:cs typeface="Times New Roman"/>
              </a:rPr>
              <a:t>四次右端函数调用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-79">
                <a:extLst>
                  <a:ext uri="{FF2B5EF4-FFF2-40B4-BE49-F238E27FC236}">
                    <a16:creationId xmlns:a16="http://schemas.microsoft.com/office/drawing/2014/main" id="{E42E3CB7-3160-4174-94D5-D54C806AA64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04876" y="2514600"/>
                <a:ext cx="6046126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0" tIns="0" rIns="0" bIns="0">
                <a:noAutofit/>
              </a:bodyPr>
              <a:lstStyle/>
              <a:p>
                <a:pPr>
                  <a:defRPr lang="en-US" altLang="zh-CN" sz="3150" b="0">
                    <a:solidFill>
                      <a:srgbClr val="354E68"/>
                    </a:solidFill>
                    <a:latin typeface="Times New Roman"/>
                    <a:ea typeface="Microsoft YaHei"/>
                    <a:cs typeface="Times New Roman"/>
                  </a:defRPr>
                </a:pPr>
                <a14:m>
                  <m:oMathPara xmlns:m="http://schemas.openxmlformats.org/officeDocument/2006/math">
                    <m:oMath>
                      <m:r>
                        <a:rPr lang="en-US" altLang="zh-CN" sz="3150" b="0" i="1" dirty="0" smtClean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𝑘</m:t>
                      </m:r>
                      <m:r>
                        <a:rPr lang="en-US" altLang="zh-CN" sz="3150" b="0" i="1" dirty="0" smtClean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₁ = </m:t>
                      </m:r>
                      <m:r>
                        <a:rPr lang="en-US" altLang="zh-CN" sz="3150" b="0" i="1" dirty="0" smtClean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𝑓</m:t>
                      </m:r>
                      <m:r>
                        <a:rPr lang="en-US" altLang="zh-CN" sz="3150" b="0" i="1" dirty="0" smtClean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(</m:t>
                      </m:r>
                      <m:r>
                        <a:rPr lang="en-US" altLang="zh-CN" sz="3150" b="0" i="1" dirty="0" smtClean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𝑡</m:t>
                      </m:r>
                      <m:r>
                        <a:rPr lang="en-US" altLang="zh-CN" sz="3150" b="0" i="1" dirty="0" smtClean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ₙ, </m:t>
                      </m:r>
                      <m:r>
                        <a:rPr lang="en-US" altLang="zh-CN" sz="3150" b="0" i="1" dirty="0" smtClean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𝑌</m:t>
                      </m:r>
                      <m:r>
                        <a:rPr lang="en-US" altLang="zh-CN" sz="3150" b="0" i="1" dirty="0" smtClean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ₙ)</m:t>
                      </m:r>
                    </m:oMath>
                  </m:oMathPara>
                </a14:m>
                <a:endParaRPr lang="en-US" altLang="zh-CN" sz="3150" b="0" dirty="0">
                  <a:solidFill>
                    <a:srgbClr val="354E68"/>
                  </a:solidFill>
                  <a:latin typeface="Times New Roman"/>
                  <a:ea typeface="Microsoft YaHei"/>
                  <a:cs typeface="Times New Roman"/>
                </a:endParaRPr>
              </a:p>
            </p:txBody>
          </p:sp>
        </mc:Choice>
        <mc:Fallback>
          <p:sp>
            <p:nvSpPr>
              <p:cNvPr id="6" name="text-79">
                <a:extLst>
                  <a:ext uri="{FF2B5EF4-FFF2-40B4-BE49-F238E27FC236}">
                    <a16:creationId xmlns:a16="http://schemas.microsoft.com/office/drawing/2014/main" id="{E42E3CB7-3160-4174-94D5-D54C806AA6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876" y="2514600"/>
                <a:ext cx="6046126" cy="61912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-80">
                <a:extLst>
                  <a:ext uri="{FF2B5EF4-FFF2-40B4-BE49-F238E27FC236}">
                    <a16:creationId xmlns:a16="http://schemas.microsoft.com/office/drawing/2014/main" id="{CA024115-B2E9-4865-B518-ADCDB45BBF81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04874" y="3047402"/>
                <a:ext cx="6046125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0" tIns="0" rIns="0" bIns="0">
                <a:noAutofit/>
              </a:bodyPr>
              <a:lstStyle/>
              <a:p>
                <a:pPr>
                  <a:defRPr lang="en-US" altLang="zh-CN" sz="3150" b="0">
                    <a:solidFill>
                      <a:srgbClr val="354E68"/>
                    </a:solidFill>
                    <a:latin typeface="Times New Roman"/>
                    <a:ea typeface="Microsoft YaHei"/>
                    <a:cs typeface="Times New Roman"/>
                  </a:defRPr>
                </a:pPr>
                <a14:m>
                  <m:oMathPara xmlns:m="http://schemas.openxmlformats.org/officeDocument/2006/math">
                    <m:oMath>
                      <m:r>
                        <a:rPr lang="en-US" altLang="zh-CN" sz="3150" b="0" i="1" dirty="0" smtClean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𝑘</m:t>
                      </m:r>
                      <m:r>
                        <a:rPr lang="en-US" altLang="zh-CN" sz="3150" b="0" i="1" dirty="0" smtClean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₂ = </m:t>
                      </m:r>
                      <m:r>
                        <a:rPr lang="en-US" altLang="zh-CN" sz="3150" b="0" i="1" dirty="0" smtClean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𝑓</m:t>
                      </m:r>
                      <m:r>
                        <a:rPr lang="en-US" altLang="zh-CN" sz="3150" b="0" i="1" dirty="0" smtClean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(</m:t>
                      </m:r>
                      <m:r>
                        <a:rPr lang="en-US" altLang="zh-CN" sz="3150" b="0" i="1" dirty="0" smtClean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𝑡</m:t>
                      </m:r>
                      <m:r>
                        <a:rPr lang="en-US" altLang="zh-CN" sz="3150" b="0" i="1" dirty="0" smtClean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ₙ +</m:t>
                      </m:r>
                      <m:f>
                        <m:fPr>
                          <m:ctrlPr>
                            <a:rPr lang="en-US" altLang="zh-CN" sz="3150" i="1" dirty="0">
                              <a:solidFill>
                                <a:srgbClr val="354E68"/>
                              </a:solidFill>
                              <a:latin typeface="Cambria Math" panose="02040503050406030204" pitchFamily="18" charset="0"/>
                              <a:ea typeface="Microsoft YaHei"/>
                              <a:cs typeface="Times New Roman"/>
                            </a:rPr>
                          </m:ctrlPr>
                        </m:fPr>
                        <m:num>
                          <m:r>
                            <a:rPr lang="en-US" altLang="zh-CN" sz="3150" i="1" dirty="0">
                              <a:solidFill>
                                <a:srgbClr val="354E68"/>
                              </a:solidFill>
                              <a:latin typeface="Cambria Math" panose="02040503050406030204" pitchFamily="18" charset="0"/>
                              <a:ea typeface="Microsoft YaHei"/>
                              <a:cs typeface="Times New Roman"/>
                            </a:rPr>
                            <m:t>ℎ</m:t>
                          </m:r>
                        </m:num>
                        <m:den>
                          <m:r>
                            <a:rPr lang="en-US" altLang="zh-CN" sz="3150" b="0" i="1" dirty="0" smtClean="0">
                              <a:solidFill>
                                <a:srgbClr val="354E68"/>
                              </a:solidFill>
                              <a:latin typeface="Cambria Math" panose="02040503050406030204" pitchFamily="18" charset="0"/>
                              <a:ea typeface="Microsoft YaHei"/>
                              <a:cs typeface="Times New Roman"/>
                            </a:rPr>
                            <m:t>2</m:t>
                          </m:r>
                        </m:den>
                      </m:f>
                      <m:r>
                        <a:rPr lang="en-US" altLang="zh-CN" sz="3150" b="0" i="1" dirty="0" smtClean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, </m:t>
                      </m:r>
                      <m:r>
                        <a:rPr lang="en-US" altLang="zh-CN" sz="3150" b="0" i="1" dirty="0" smtClean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𝑌</m:t>
                      </m:r>
                      <m:r>
                        <a:rPr lang="en-US" altLang="zh-CN" sz="3150" b="0" i="1" dirty="0" smtClean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ₙ +</m:t>
                      </m:r>
                      <m:f>
                        <m:fPr>
                          <m:ctrlPr>
                            <a:rPr lang="en-US" altLang="zh-CN" sz="3150" i="1" dirty="0">
                              <a:solidFill>
                                <a:srgbClr val="354E68"/>
                              </a:solidFill>
                              <a:latin typeface="Cambria Math" panose="02040503050406030204" pitchFamily="18" charset="0"/>
                              <a:ea typeface="Microsoft YaHei"/>
                              <a:cs typeface="Times New Roman"/>
                            </a:rPr>
                          </m:ctrlPr>
                        </m:fPr>
                        <m:num>
                          <m:r>
                            <a:rPr lang="en-US" altLang="zh-CN" sz="3150" i="1" dirty="0">
                              <a:solidFill>
                                <a:srgbClr val="354E68"/>
                              </a:solidFill>
                              <a:latin typeface="Cambria Math" panose="02040503050406030204" pitchFamily="18" charset="0"/>
                              <a:ea typeface="Microsoft YaHei"/>
                              <a:cs typeface="Times New Roman"/>
                            </a:rPr>
                            <m:t>ℎ</m:t>
                          </m:r>
                        </m:num>
                        <m:den>
                          <m:r>
                            <a:rPr lang="en-US" altLang="zh-CN" sz="3150" i="1" dirty="0">
                              <a:solidFill>
                                <a:srgbClr val="354E68"/>
                              </a:solidFill>
                              <a:latin typeface="Cambria Math" panose="02040503050406030204" pitchFamily="18" charset="0"/>
                              <a:ea typeface="Microsoft YaHei"/>
                              <a:cs typeface="Times New Roman"/>
                            </a:rPr>
                            <m:t>2</m:t>
                          </m:r>
                        </m:den>
                      </m:f>
                      <m:r>
                        <a:rPr lang="en-US" altLang="zh-CN" sz="3150" b="0" i="1" dirty="0" err="1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𝑘</m:t>
                      </m:r>
                      <m:r>
                        <a:rPr lang="en-US" altLang="zh-CN" sz="3150" b="0" i="1" dirty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₁)</m:t>
                      </m:r>
                    </m:oMath>
                  </m:oMathPara>
                </a14:m>
                <a:endParaRPr lang="en-US" altLang="zh-CN" sz="3150" b="0" dirty="0">
                  <a:solidFill>
                    <a:srgbClr val="354E68"/>
                  </a:solidFill>
                  <a:latin typeface="Times New Roman"/>
                  <a:ea typeface="Microsoft YaHei"/>
                  <a:cs typeface="Times New Roman"/>
                </a:endParaRPr>
              </a:p>
            </p:txBody>
          </p:sp>
        </mc:Choice>
        <mc:Fallback>
          <p:sp>
            <p:nvSpPr>
              <p:cNvPr id="7" name="text-80">
                <a:extLst>
                  <a:ext uri="{FF2B5EF4-FFF2-40B4-BE49-F238E27FC236}">
                    <a16:creationId xmlns:a16="http://schemas.microsoft.com/office/drawing/2014/main" id="{CA024115-B2E9-4865-B518-ADCDB45BBF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874" y="3047402"/>
                <a:ext cx="6046125" cy="619125"/>
              </a:xfrm>
              <a:prstGeom prst="rect">
                <a:avLst/>
              </a:prstGeom>
              <a:blipFill>
                <a:blip r:embed="rId5"/>
                <a:stretch>
                  <a:fillRect b="-47525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-81">
                <a:extLst>
                  <a:ext uri="{FF2B5EF4-FFF2-40B4-BE49-F238E27FC236}">
                    <a16:creationId xmlns:a16="http://schemas.microsoft.com/office/drawing/2014/main" id="{2BC56903-E5BB-458B-B10E-64F513B4C51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04875" y="4128817"/>
                <a:ext cx="6046125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0" tIns="0" rIns="0" bIns="0">
                <a:noAutofit/>
              </a:bodyPr>
              <a:lstStyle/>
              <a:p>
                <a:pPr>
                  <a:defRPr lang="en-US" altLang="zh-CN" sz="3150" b="0">
                    <a:solidFill>
                      <a:srgbClr val="354E68"/>
                    </a:solidFill>
                    <a:latin typeface="Times New Roman"/>
                    <a:ea typeface="Microsoft YaHei"/>
                    <a:cs typeface="Times New Roman"/>
                  </a:defRPr>
                </a:pPr>
                <a14:m>
                  <m:oMathPara xmlns:m="http://schemas.openxmlformats.org/officeDocument/2006/math">
                    <m:oMath>
                      <m:r>
                        <a:rPr lang="en-US" altLang="zh-CN" sz="3150" b="0" i="1" dirty="0" smtClean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𝑘</m:t>
                      </m:r>
                      <m:r>
                        <a:rPr lang="en-US" altLang="zh-CN" sz="3150" b="0" i="1" dirty="0" smtClean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₃ = </m:t>
                      </m:r>
                      <m:r>
                        <a:rPr lang="en-US" altLang="zh-CN" sz="3150" b="0" i="1" dirty="0" smtClean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𝑓</m:t>
                      </m:r>
                      <m:r>
                        <a:rPr lang="en-US" altLang="zh-CN" sz="3150" b="0" i="1" dirty="0" smtClean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(</m:t>
                      </m:r>
                      <m:r>
                        <a:rPr lang="en-US" altLang="zh-CN" sz="3150" b="0" i="1" dirty="0" smtClean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𝑡</m:t>
                      </m:r>
                      <m:r>
                        <a:rPr lang="en-US" altLang="zh-CN" sz="3150" b="0" i="1" dirty="0" smtClean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ₙ +</m:t>
                      </m:r>
                      <m:f>
                        <m:fPr>
                          <m:ctrlPr>
                            <a:rPr lang="en-US" altLang="zh-CN" sz="3150" i="1" dirty="0">
                              <a:solidFill>
                                <a:srgbClr val="354E68"/>
                              </a:solidFill>
                              <a:latin typeface="Cambria Math" panose="02040503050406030204" pitchFamily="18" charset="0"/>
                              <a:ea typeface="Microsoft YaHei"/>
                              <a:cs typeface="Times New Roman"/>
                            </a:rPr>
                          </m:ctrlPr>
                        </m:fPr>
                        <m:num>
                          <m:r>
                            <a:rPr lang="en-US" altLang="zh-CN" sz="3150" i="1" dirty="0">
                              <a:solidFill>
                                <a:srgbClr val="354E68"/>
                              </a:solidFill>
                              <a:latin typeface="Cambria Math" panose="02040503050406030204" pitchFamily="18" charset="0"/>
                              <a:ea typeface="Microsoft YaHei"/>
                              <a:cs typeface="Times New Roman"/>
                            </a:rPr>
                            <m:t>ℎ</m:t>
                          </m:r>
                        </m:num>
                        <m:den>
                          <m:r>
                            <a:rPr lang="en-US" altLang="zh-CN" sz="3150" i="1" dirty="0">
                              <a:solidFill>
                                <a:srgbClr val="354E68"/>
                              </a:solidFill>
                              <a:latin typeface="Cambria Math" panose="02040503050406030204" pitchFamily="18" charset="0"/>
                              <a:ea typeface="Microsoft YaHei"/>
                              <a:cs typeface="Times New Roman"/>
                            </a:rPr>
                            <m:t>2</m:t>
                          </m:r>
                        </m:den>
                      </m:f>
                      <m:r>
                        <a:rPr lang="en-US" altLang="zh-CN" sz="3150" b="0" i="1" dirty="0" smtClean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, </m:t>
                      </m:r>
                      <m:r>
                        <a:rPr lang="en-US" altLang="zh-CN" sz="3150" b="0" i="1" dirty="0" smtClean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𝑌</m:t>
                      </m:r>
                      <m:r>
                        <a:rPr lang="en-US" altLang="zh-CN" sz="3150" b="0" i="1" dirty="0" smtClean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ₙ +</m:t>
                      </m:r>
                      <m:f>
                        <m:fPr>
                          <m:ctrlPr>
                            <a:rPr lang="en-US" altLang="zh-CN" sz="3150" i="1" dirty="0">
                              <a:solidFill>
                                <a:srgbClr val="354E68"/>
                              </a:solidFill>
                              <a:latin typeface="Cambria Math" panose="02040503050406030204" pitchFamily="18" charset="0"/>
                              <a:ea typeface="Microsoft YaHei"/>
                              <a:cs typeface="Times New Roman"/>
                            </a:rPr>
                          </m:ctrlPr>
                        </m:fPr>
                        <m:num>
                          <m:r>
                            <a:rPr lang="en-US" altLang="zh-CN" sz="3150" i="1" dirty="0">
                              <a:solidFill>
                                <a:srgbClr val="354E68"/>
                              </a:solidFill>
                              <a:latin typeface="Cambria Math" panose="02040503050406030204" pitchFamily="18" charset="0"/>
                              <a:ea typeface="Microsoft YaHei"/>
                              <a:cs typeface="Times New Roman"/>
                            </a:rPr>
                            <m:t>ℎ</m:t>
                          </m:r>
                        </m:num>
                        <m:den>
                          <m:r>
                            <a:rPr lang="en-US" altLang="zh-CN" sz="3150" i="1" dirty="0">
                              <a:solidFill>
                                <a:srgbClr val="354E68"/>
                              </a:solidFill>
                              <a:latin typeface="Cambria Math" panose="02040503050406030204" pitchFamily="18" charset="0"/>
                              <a:ea typeface="Microsoft YaHei"/>
                              <a:cs typeface="Times New Roman"/>
                            </a:rPr>
                            <m:t>2</m:t>
                          </m:r>
                        </m:den>
                      </m:f>
                      <m:r>
                        <a:rPr lang="en-US" altLang="zh-CN" sz="3150" b="0" i="1" dirty="0" err="1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𝑘</m:t>
                      </m:r>
                      <m:r>
                        <a:rPr lang="en-US" altLang="zh-CN" sz="3150" b="0" i="1" dirty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₂)</m:t>
                      </m:r>
                    </m:oMath>
                  </m:oMathPara>
                </a14:m>
                <a:endParaRPr lang="en-US" altLang="zh-CN" sz="3150" b="0" dirty="0">
                  <a:solidFill>
                    <a:srgbClr val="354E68"/>
                  </a:solidFill>
                  <a:latin typeface="Times New Roman"/>
                  <a:ea typeface="Microsoft YaHei"/>
                  <a:cs typeface="Times New Roman"/>
                </a:endParaRPr>
              </a:p>
            </p:txBody>
          </p:sp>
        </mc:Choice>
        <mc:Fallback>
          <p:sp>
            <p:nvSpPr>
              <p:cNvPr id="8" name="text-81">
                <a:extLst>
                  <a:ext uri="{FF2B5EF4-FFF2-40B4-BE49-F238E27FC236}">
                    <a16:creationId xmlns:a16="http://schemas.microsoft.com/office/drawing/2014/main" id="{2BC56903-E5BB-458B-B10E-64F513B4C5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875" y="4128817"/>
                <a:ext cx="6046125" cy="619125"/>
              </a:xfrm>
              <a:prstGeom prst="rect">
                <a:avLst/>
              </a:prstGeom>
              <a:blipFill>
                <a:blip r:embed="rId6"/>
                <a:stretch>
                  <a:fillRect b="-47059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-82">
                <a:extLst>
                  <a:ext uri="{FF2B5EF4-FFF2-40B4-BE49-F238E27FC236}">
                    <a16:creationId xmlns:a16="http://schemas.microsoft.com/office/drawing/2014/main" id="{C89AA3CD-DE25-434D-82DA-FBB59E5C158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04875" y="5210232"/>
                <a:ext cx="6046125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0" tIns="0" rIns="0" bIns="0">
                <a:noAutofit/>
              </a:bodyPr>
              <a:lstStyle/>
              <a:p>
                <a:pPr>
                  <a:defRPr lang="en-US" altLang="zh-CN" sz="3150" b="0">
                    <a:solidFill>
                      <a:srgbClr val="354E68"/>
                    </a:solidFill>
                    <a:latin typeface="Times New Roman"/>
                    <a:ea typeface="Microsoft YaHei"/>
                    <a:cs typeface="Times New Roman"/>
                  </a:defRPr>
                </a:pPr>
                <a14:m>
                  <m:oMathPara xmlns:m="http://schemas.openxmlformats.org/officeDocument/2006/math">
                    <m:oMath>
                      <m:r>
                        <a:rPr lang="en-US" altLang="zh-CN" sz="3150" b="0" i="1" dirty="0" smtClean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𝑘</m:t>
                      </m:r>
                      <m:r>
                        <a:rPr lang="en-US" altLang="zh-CN" sz="3150" b="0" i="1" dirty="0" smtClean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₄ = </m:t>
                      </m:r>
                      <m:r>
                        <a:rPr lang="en-US" altLang="zh-CN" sz="3150" b="0" i="1" dirty="0" smtClean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𝑓</m:t>
                      </m:r>
                      <m:r>
                        <a:rPr lang="en-US" altLang="zh-CN" sz="3150" b="0" i="1" dirty="0" smtClean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(</m:t>
                      </m:r>
                      <m:r>
                        <a:rPr lang="en-US" altLang="zh-CN" sz="3150" b="0" i="1" dirty="0" smtClean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𝑡</m:t>
                      </m:r>
                      <m:r>
                        <a:rPr lang="en-US" altLang="zh-CN" sz="3150" b="0" i="1" dirty="0" smtClean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ₙ + </m:t>
                      </m:r>
                      <m:r>
                        <a:rPr lang="en-US" altLang="zh-CN" sz="3150" b="0" i="1" dirty="0" smtClean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ℎ</m:t>
                      </m:r>
                      <m:r>
                        <a:rPr lang="en-US" altLang="zh-CN" sz="3150" b="0" i="1" dirty="0" smtClean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, </m:t>
                      </m:r>
                      <m:r>
                        <a:rPr lang="en-US" altLang="zh-CN" sz="3150" b="0" i="1" dirty="0" smtClean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𝑌</m:t>
                      </m:r>
                      <m:r>
                        <a:rPr lang="en-US" altLang="zh-CN" sz="3150" b="0" i="1" dirty="0" smtClean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ₙ + </m:t>
                      </m:r>
                      <m:r>
                        <a:rPr lang="en-US" altLang="zh-CN" sz="3150" b="0" i="1" dirty="0" err="1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ℎ𝑘</m:t>
                      </m:r>
                      <m:r>
                        <a:rPr lang="en-US" altLang="zh-CN" sz="3150" b="0" i="1" dirty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₃)</m:t>
                      </m:r>
                    </m:oMath>
                  </m:oMathPara>
                </a14:m>
                <a:endParaRPr lang="en-US" altLang="zh-CN" sz="3150" b="0" dirty="0">
                  <a:solidFill>
                    <a:srgbClr val="354E68"/>
                  </a:solidFill>
                  <a:latin typeface="Times New Roman"/>
                  <a:ea typeface="Microsoft YaHei"/>
                  <a:cs typeface="Times New Roman"/>
                </a:endParaRPr>
              </a:p>
            </p:txBody>
          </p:sp>
        </mc:Choice>
        <mc:Fallback>
          <p:sp>
            <p:nvSpPr>
              <p:cNvPr id="9" name="text-82">
                <a:extLst>
                  <a:ext uri="{FF2B5EF4-FFF2-40B4-BE49-F238E27FC236}">
                    <a16:creationId xmlns:a16="http://schemas.microsoft.com/office/drawing/2014/main" id="{C89AA3CD-DE25-434D-82DA-FBB59E5C15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875" y="5210232"/>
                <a:ext cx="6046125" cy="61912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-83">
            <a:extLst>
              <a:ext uri="{FF2B5EF4-FFF2-40B4-BE49-F238E27FC236}">
                <a16:creationId xmlns:a16="http://schemas.microsoft.com/office/drawing/2014/main" id="{C317BFF5-A85C-446C-9D18-E4FA0C4E1E79}"/>
              </a:ext>
            </a:extLst>
          </p:cNvPr>
          <p:cNvSpPr>
            <a:spLocks noGrp="1"/>
          </p:cNvSpPr>
          <p:nvPr/>
        </p:nvSpPr>
        <p:spPr>
          <a:xfrm>
            <a:off x="7477125" y="1871662"/>
            <a:ext cx="514350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lang="en-US" altLang="zh-CN" sz="2475" b="1">
                <a:solidFill>
                  <a:srgbClr val="287D7B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altLang="zh-CN" sz="2475" b="1" dirty="0">
                <a:solidFill>
                  <a:srgbClr val="287D7B"/>
                </a:solidFill>
                <a:latin typeface="Times New Roman"/>
                <a:ea typeface="Microsoft YaHei"/>
                <a:cs typeface="Times New Roman"/>
              </a:rPr>
              <a:t>RK4</a:t>
            </a:r>
            <a:r>
              <a:rPr lang="zh-CN" altLang="en-US" sz="2475" b="1" dirty="0">
                <a:solidFill>
                  <a:srgbClr val="287D7B"/>
                </a:solidFill>
                <a:latin typeface="Times New Roman"/>
                <a:ea typeface="Microsoft YaHei"/>
                <a:cs typeface="Times New Roman"/>
              </a:rPr>
              <a:t>算法图解</a:t>
            </a:r>
            <a:endParaRPr lang="en-US" altLang="zh-CN" sz="2475" b="1" dirty="0">
              <a:solidFill>
                <a:srgbClr val="287D7B"/>
              </a:solidFill>
              <a:latin typeface="Times New Roman"/>
              <a:ea typeface="Microsoft YaHei"/>
              <a:cs typeface="Times New Roman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-84">
                <a:extLst>
                  <a:ext uri="{FF2B5EF4-FFF2-40B4-BE49-F238E27FC236}">
                    <a16:creationId xmlns:a16="http://schemas.microsoft.com/office/drawing/2014/main" id="{48E7189C-A597-4775-8050-64DA0724E43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33450" y="5900667"/>
                <a:ext cx="8067675" cy="999223"/>
              </a:xfrm>
              <a:prstGeom prst="rect">
                <a:avLst/>
              </a:prstGeom>
              <a:solidFill>
                <a:srgbClr val="EDF6F5"/>
              </a:solidFill>
              <a:ln w="0">
                <a:noFill/>
              </a:ln>
            </p:spPr>
            <p:txBody>
              <a:bodyPr lIns="133350" tIns="76200" rIns="133350" bIns="0">
                <a:noAutofit/>
              </a:bodyPr>
              <a:lstStyle/>
              <a:p>
                <a:pPr>
                  <a:defRPr lang="en-US" altLang="zh-CN" sz="3000" b="1">
                    <a:solidFill>
                      <a:srgbClr val="354E68"/>
                    </a:solidFill>
                    <a:latin typeface="Times New Roman"/>
                    <a:ea typeface="Microsoft YaHei"/>
                    <a:cs typeface="Times New Roman"/>
                  </a:defRPr>
                </a:pPr>
                <a14:m>
                  <m:oMathPara xmlns:m="http://schemas.openxmlformats.org/officeDocument/2006/math">
                    <m:oMath>
                      <m:r>
                        <a:rPr lang="en-US" altLang="zh-CN" sz="3000" b="1" i="1" dirty="0" smtClean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𝒀</m:t>
                      </m:r>
                      <m:r>
                        <a:rPr lang="en-US" altLang="zh-CN" sz="3000" b="1" i="1" dirty="0" smtClean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ₙ₊₁ = </m:t>
                      </m:r>
                      <m:r>
                        <a:rPr lang="en-US" altLang="zh-CN" sz="3000" b="1" i="1" dirty="0" smtClean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𝒀</m:t>
                      </m:r>
                      <m:r>
                        <a:rPr lang="en-US" altLang="zh-CN" sz="3000" b="1" i="1" dirty="0" smtClean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ₙ + </m:t>
                      </m:r>
                      <m:f>
                        <m:fPr>
                          <m:ctrlPr>
                            <a:rPr lang="en-US" altLang="zh-CN" sz="3000" b="1" i="1" dirty="0">
                              <a:solidFill>
                                <a:srgbClr val="354E68"/>
                              </a:solidFill>
                              <a:latin typeface="Cambria Math" panose="02040503050406030204" pitchFamily="18" charset="0"/>
                              <a:ea typeface="Microsoft YaHei"/>
                              <a:cs typeface="Times New Roman"/>
                            </a:rPr>
                          </m:ctrlPr>
                        </m:fPr>
                        <m:num>
                          <m:r>
                            <a:rPr lang="en-US" altLang="zh-CN" sz="3000" b="1" i="1" dirty="0">
                              <a:solidFill>
                                <a:srgbClr val="354E68"/>
                              </a:solidFill>
                              <a:latin typeface="Cambria Math" panose="02040503050406030204" pitchFamily="18" charset="0"/>
                              <a:ea typeface="Microsoft YaHei"/>
                              <a:cs typeface="Times New Roman"/>
                            </a:rPr>
                            <m:t>𝒉</m:t>
                          </m:r>
                        </m:num>
                        <m:den>
                          <m:r>
                            <a:rPr lang="en-US" altLang="zh-CN" sz="3000" b="1" i="1" dirty="0">
                              <a:solidFill>
                                <a:srgbClr val="354E68"/>
                              </a:solidFill>
                              <a:latin typeface="Cambria Math" panose="02040503050406030204" pitchFamily="18" charset="0"/>
                              <a:ea typeface="Microsoft YaHei"/>
                              <a:cs typeface="Times New Roman"/>
                            </a:rPr>
                            <m:t>𝟔</m:t>
                          </m:r>
                        </m:den>
                      </m:f>
                      <m:r>
                        <a:rPr lang="en-US" altLang="zh-CN" sz="3000" b="1" i="1" dirty="0" smtClean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(</m:t>
                      </m:r>
                      <m:r>
                        <a:rPr lang="en-US" altLang="zh-CN" sz="3000" b="1" i="1" dirty="0" smtClean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𝒌</m:t>
                      </m:r>
                      <m:r>
                        <a:rPr lang="en-US" altLang="zh-CN" sz="3000" b="1" i="1" dirty="0" smtClean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₁ + </m:t>
                      </m:r>
                      <m:r>
                        <a:rPr lang="en-US" altLang="zh-CN" sz="3000" b="1" i="1" dirty="0" smtClean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𝟐</m:t>
                      </m:r>
                      <m:r>
                        <a:rPr lang="en-US" altLang="zh-CN" sz="3000" b="1" i="1" dirty="0" smtClean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𝒌</m:t>
                      </m:r>
                      <m:r>
                        <a:rPr lang="en-US" altLang="zh-CN" sz="3000" b="1" i="1" dirty="0" smtClean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₂ + </m:t>
                      </m:r>
                      <m:r>
                        <a:rPr lang="en-US" altLang="zh-CN" sz="3000" b="1" i="1" dirty="0" smtClean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𝟐</m:t>
                      </m:r>
                      <m:r>
                        <a:rPr lang="en-US" altLang="zh-CN" sz="3000" b="1" i="1" dirty="0" smtClean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𝒌</m:t>
                      </m:r>
                      <m:r>
                        <a:rPr lang="en-US" altLang="zh-CN" sz="3000" b="1" i="1" dirty="0" smtClean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₃ + </m:t>
                      </m:r>
                      <m:r>
                        <a:rPr lang="en-US" altLang="zh-CN" sz="3000" b="1" i="1" dirty="0" smtClean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𝒌</m:t>
                      </m:r>
                      <m:r>
                        <a:rPr lang="en-US" altLang="zh-CN" sz="3000" b="1" i="1" dirty="0" smtClean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₄)</m:t>
                      </m:r>
                    </m:oMath>
                  </m:oMathPara>
                </a14:m>
                <a:endParaRPr lang="en-US" altLang="zh-CN" sz="3000" b="1" dirty="0">
                  <a:solidFill>
                    <a:srgbClr val="354E68"/>
                  </a:solidFill>
                  <a:latin typeface="Times New Roman"/>
                  <a:ea typeface="Microsoft YaHei"/>
                  <a:cs typeface="Times New Roman"/>
                </a:endParaRPr>
              </a:p>
            </p:txBody>
          </p:sp>
        </mc:Choice>
        <mc:Fallback>
          <p:sp>
            <p:nvSpPr>
              <p:cNvPr id="12" name="text-84">
                <a:extLst>
                  <a:ext uri="{FF2B5EF4-FFF2-40B4-BE49-F238E27FC236}">
                    <a16:creationId xmlns:a16="http://schemas.microsoft.com/office/drawing/2014/main" id="{48E7189C-A597-4775-8050-64DA0724E4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450" y="5900667"/>
                <a:ext cx="8067675" cy="99922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-85">
                <a:extLst>
                  <a:ext uri="{FF2B5EF4-FFF2-40B4-BE49-F238E27FC236}">
                    <a16:creationId xmlns:a16="http://schemas.microsoft.com/office/drawing/2014/main" id="{ADAAEE84-AA63-4AE0-825C-46C679C0ED2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04875" y="7077075"/>
                <a:ext cx="13144500" cy="5429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0" tIns="0" rIns="0" bIns="0">
                <a:noAutofit/>
              </a:bodyPr>
              <a:lstStyle/>
              <a:p>
                <a:pPr>
                  <a:defRPr lang="en-US" altLang="zh-CN" sz="2550" b="0">
                    <a:solidFill>
                      <a:srgbClr val="303A43"/>
                    </a:solidFill>
                    <a:latin typeface="Times New Roman"/>
                    <a:ea typeface="Microsoft YaHei"/>
                    <a:cs typeface="Times New Roman"/>
                  </a:defRPr>
                </a:pPr>
                <a:r>
                  <a:rPr lang="en-US" altLang="zh-CN" sz="2550" b="0" dirty="0">
                    <a:solidFill>
                      <a:srgbClr val="303A43"/>
                    </a:solidFill>
                    <a:latin typeface="Times New Roman"/>
                    <a:ea typeface="Microsoft YaHei"/>
                    <a:cs typeface="Times New Roman"/>
                  </a:rPr>
                  <a:t>接口同时支持标量 </a:t>
                </a:r>
                <a14:m>
                  <m:oMath xmlns:m="http://schemas.openxmlformats.org/officeDocument/2006/math">
                    <m:r>
                      <a:rPr lang="en-US" altLang="zh-CN" sz="2550" b="0" i="1" dirty="0" smtClean="0">
                        <a:solidFill>
                          <a:srgbClr val="303A43"/>
                        </a:solidFill>
                        <a:latin typeface="Cambria Math" panose="02040503050406030204" pitchFamily="18" charset="0"/>
                        <a:ea typeface="Microsoft YaHei"/>
                        <a:cs typeface="Times New Roman"/>
                      </a:rPr>
                      <m:t>𝑦</m:t>
                    </m:r>
                  </m:oMath>
                </a14:m>
                <a:r>
                  <a:rPr lang="en-US" altLang="zh-CN" sz="2550" b="0" dirty="0">
                    <a:solidFill>
                      <a:srgbClr val="303A43"/>
                    </a:solidFill>
                    <a:latin typeface="Times New Roman"/>
                    <a:ea typeface="Microsoft YaHei"/>
                    <a:cs typeface="Times New Roman"/>
                  </a:rPr>
                  <a:t> 与两分量状态 </a:t>
                </a:r>
                <a14:m>
                  <m:oMath xmlns:m="http://schemas.openxmlformats.org/officeDocument/2006/math">
                    <m:r>
                      <a:rPr lang="en-US" altLang="zh-CN" sz="2550" b="0" i="1" dirty="0" smtClean="0">
                        <a:solidFill>
                          <a:srgbClr val="303A43"/>
                        </a:solidFill>
                        <a:latin typeface="Cambria Math" panose="02040503050406030204" pitchFamily="18" charset="0"/>
                        <a:ea typeface="Microsoft YaHei"/>
                        <a:cs typeface="Times New Roman"/>
                      </a:rPr>
                      <m:t>[</m:t>
                    </m:r>
                    <m:r>
                      <a:rPr lang="en-US" altLang="zh-CN" sz="2550" b="0" i="1" dirty="0" smtClean="0">
                        <a:solidFill>
                          <a:srgbClr val="303A43"/>
                        </a:solidFill>
                        <a:latin typeface="Cambria Math" panose="02040503050406030204" pitchFamily="18" charset="0"/>
                        <a:ea typeface="Microsoft YaHei"/>
                        <a:cs typeface="Times New Roman"/>
                      </a:rPr>
                      <m:t>𝑢</m:t>
                    </m:r>
                    <m:r>
                      <a:rPr lang="en-US" altLang="zh-CN" sz="2550" b="0" i="1" dirty="0" smtClean="0">
                        <a:solidFill>
                          <a:srgbClr val="303A43"/>
                        </a:solidFill>
                        <a:latin typeface="Cambria Math" panose="02040503050406030204" pitchFamily="18" charset="0"/>
                        <a:ea typeface="Microsoft YaHei"/>
                        <a:cs typeface="Times New Roman"/>
                      </a:rPr>
                      <m:t>, </m:t>
                    </m:r>
                    <m:r>
                      <a:rPr lang="en-US" altLang="zh-CN" sz="2550" b="0" i="1" dirty="0" smtClean="0">
                        <a:solidFill>
                          <a:srgbClr val="303A43"/>
                        </a:solidFill>
                        <a:latin typeface="Cambria Math" panose="02040503050406030204" pitchFamily="18" charset="0"/>
                        <a:ea typeface="Microsoft YaHei"/>
                        <a:cs typeface="Times New Roman"/>
                      </a:rPr>
                      <m:t>𝑣</m:t>
                    </m:r>
                    <m:r>
                      <a:rPr lang="en-US" altLang="zh-CN" sz="2550" b="0" i="1" dirty="0" smtClean="0">
                        <a:solidFill>
                          <a:srgbClr val="303A43"/>
                        </a:solidFill>
                        <a:latin typeface="Cambria Math" panose="02040503050406030204" pitchFamily="18" charset="0"/>
                        <a:ea typeface="Microsoft YaHei"/>
                        <a:cs typeface="Times New Roman"/>
                      </a:rPr>
                      <m:t>]ᵀ</m:t>
                    </m:r>
                  </m:oMath>
                </a14:m>
                <a:r>
                  <a:rPr lang="en-US" altLang="zh-CN" sz="2550" b="0" dirty="0">
                    <a:solidFill>
                      <a:srgbClr val="303A43"/>
                    </a:solidFill>
                    <a:latin typeface="Times New Roman"/>
                    <a:ea typeface="Microsoft YaHei"/>
                    <a:cs typeface="Times New Roman"/>
                  </a:rPr>
                  <a:t>，为打靶法复用做准备</a:t>
                </a:r>
              </a:p>
            </p:txBody>
          </p:sp>
        </mc:Choice>
        <mc:Fallback>
          <p:sp>
            <p:nvSpPr>
              <p:cNvPr id="13" name="text-85">
                <a:extLst>
                  <a:ext uri="{FF2B5EF4-FFF2-40B4-BE49-F238E27FC236}">
                    <a16:creationId xmlns:a16="http://schemas.microsoft.com/office/drawing/2014/main" id="{ADAAEE84-AA63-4AE0-825C-46C679C0ED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875" y="7077075"/>
                <a:ext cx="13144500" cy="542925"/>
              </a:xfrm>
              <a:prstGeom prst="rect">
                <a:avLst/>
              </a:prstGeom>
              <a:blipFill>
                <a:blip r:embed="rId9"/>
                <a:stretch>
                  <a:fillRect l="-1484" t="-19101" b="-7865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图片 9">
            <a:extLst>
              <a:ext uri="{FF2B5EF4-FFF2-40B4-BE49-F238E27FC236}">
                <a16:creationId xmlns:a16="http://schemas.microsoft.com/office/drawing/2014/main" id="{F5641746-EDFE-921A-A037-8AE19F2C6DE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0" y="2446978"/>
            <a:ext cx="6046125" cy="3400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920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5240000" cy="8572500"/>
          </a:xfrm>
          <a:prstGeom prst="rect">
            <a:avLst/>
          </a:prstGeom>
        </p:spPr>
      </p:pic>
      <p:sp>
        <p:nvSpPr>
          <p:cNvPr id="2" name="title-86">
            <a:extLst>
              <a:ext uri="{FF2B5EF4-FFF2-40B4-BE49-F238E27FC236}">
                <a16:creationId xmlns:a16="http://schemas.microsoft.com/office/drawing/2014/main" id="{7E03C98B-BECD-4FA3-8A1E-FCABF4C6763A}"/>
              </a:ext>
            </a:extLst>
          </p:cNvPr>
          <p:cNvSpPr>
            <a:spLocks noGrp="1"/>
          </p:cNvSpPr>
          <p:nvPr/>
        </p:nvSpPr>
        <p:spPr>
          <a:xfrm>
            <a:off x="1381125" y="742950"/>
            <a:ext cx="11525250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lang="en-US" altLang="zh-CN" sz="3675" b="1">
                <a:solidFill>
                  <a:srgbClr val="303A43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altLang="zh-CN" sz="3675" b="1">
                <a:solidFill>
                  <a:srgbClr val="303A43"/>
                </a:solidFill>
                <a:latin typeface="Times New Roman"/>
                <a:ea typeface="Microsoft YaHei"/>
                <a:cs typeface="Times New Roman"/>
              </a:rPr>
              <a:t>RK4：解析解校验与四阶收敛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-89">
                <a:extLst>
                  <a:ext uri="{FF2B5EF4-FFF2-40B4-BE49-F238E27FC236}">
                    <a16:creationId xmlns:a16="http://schemas.microsoft.com/office/drawing/2014/main" id="{209D9DD1-FBBE-4438-B46F-A8F7FA2FCB9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04875" y="1781175"/>
                <a:ext cx="6429375" cy="6286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0" tIns="0" rIns="0" bIns="0">
                <a:noAutofit/>
              </a:bodyPr>
              <a:lstStyle/>
              <a:p>
                <a:pPr>
                  <a:defRPr lang="en-US" altLang="zh-CN" sz="3375" b="0">
                    <a:solidFill>
                      <a:srgbClr val="287D7B"/>
                    </a:solidFill>
                    <a:latin typeface="Times New Roman"/>
                    <a:ea typeface="Microsoft YaHei"/>
                    <a:cs typeface="Times New Roman"/>
                  </a:defRPr>
                </a:pPr>
                <a14:m>
                  <m:oMathPara xmlns:m="http://schemas.openxmlformats.org/officeDocument/2006/math">
                    <m:oMath>
                      <m:r>
                        <a:rPr lang="en-US" altLang="zh-CN" sz="3375" b="0" i="1" dirty="0" smtClean="0">
                          <a:solidFill>
                            <a:srgbClr val="287D7B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𝑦</m:t>
                      </m:r>
                      <m:r>
                        <a:rPr lang="en-US" altLang="zh-CN" sz="3375" b="0" i="1" dirty="0" smtClean="0">
                          <a:solidFill>
                            <a:srgbClr val="287D7B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(</m:t>
                      </m:r>
                      <m:r>
                        <a:rPr lang="en-US" altLang="zh-CN" sz="3375" b="0" i="1" dirty="0" smtClean="0">
                          <a:solidFill>
                            <a:srgbClr val="287D7B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𝑡</m:t>
                      </m:r>
                      <m:r>
                        <a:rPr lang="en-US" altLang="zh-CN" sz="3375" b="0" i="1" dirty="0" smtClean="0">
                          <a:solidFill>
                            <a:srgbClr val="287D7B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)=</m:t>
                      </m:r>
                      <m:r>
                        <a:rPr lang="en-US" altLang="zh-CN" sz="3375" b="0" i="1" dirty="0" smtClean="0">
                          <a:solidFill>
                            <a:srgbClr val="287D7B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𝑡</m:t>
                      </m:r>
                      <m:r>
                        <a:rPr lang="en-US" altLang="zh-CN" sz="3375" b="0" i="1" dirty="0" smtClean="0">
                          <a:solidFill>
                            <a:srgbClr val="287D7B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²−2</m:t>
                      </m:r>
                      <m:r>
                        <a:rPr lang="en-US" altLang="zh-CN" sz="3375" b="0" i="1" dirty="0" smtClean="0">
                          <a:solidFill>
                            <a:srgbClr val="287D7B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𝑡</m:t>
                      </m:r>
                      <m:r>
                        <a:rPr lang="en-US" altLang="zh-CN" sz="3375" b="0" i="1" dirty="0" smtClean="0">
                          <a:solidFill>
                            <a:srgbClr val="287D7B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+5−4</m:t>
                      </m:r>
                      <m:r>
                        <m:rPr>
                          <m:sty m:val="p"/>
                        </m:rPr>
                        <a:rPr lang="en-US" altLang="zh-CN" sz="3375" b="0" i="1" dirty="0" smtClean="0">
                          <a:solidFill>
                            <a:srgbClr val="287D7B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exp</m:t>
                      </m:r>
                      <m:r>
                        <a:rPr lang="en-US" altLang="zh-CN" sz="3375" b="0" i="1" dirty="0" smtClean="0">
                          <a:solidFill>
                            <a:srgbClr val="287D7B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⁡(−</m:t>
                      </m:r>
                      <m:r>
                        <a:rPr lang="en-US" altLang="zh-CN" sz="3375" b="0" i="1" dirty="0" smtClean="0">
                          <a:solidFill>
                            <a:srgbClr val="287D7B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𝑡</m:t>
                      </m:r>
                      <m:r>
                        <a:rPr lang="en-US" altLang="zh-CN" sz="3375" b="0" i="1" dirty="0" smtClean="0">
                          <a:solidFill>
                            <a:srgbClr val="287D7B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)</m:t>
                      </m:r>
                    </m:oMath>
                  </m:oMathPara>
                </a14:m>
                <a:endParaRPr lang="en-US" altLang="zh-CN" sz="3375" b="0" dirty="0">
                  <a:solidFill>
                    <a:srgbClr val="287D7B"/>
                  </a:solidFill>
                  <a:latin typeface="Times New Roman"/>
                  <a:ea typeface="Microsoft YaHei"/>
                  <a:cs typeface="Times New Roman"/>
                </a:endParaRPr>
              </a:p>
            </p:txBody>
          </p:sp>
        </mc:Choice>
        <mc:Fallback>
          <p:sp>
            <p:nvSpPr>
              <p:cNvPr id="5" name="text-89">
                <a:extLst>
                  <a:ext uri="{FF2B5EF4-FFF2-40B4-BE49-F238E27FC236}">
                    <a16:creationId xmlns:a16="http://schemas.microsoft.com/office/drawing/2014/main" id="{209D9DD1-FBBE-4438-B46F-A8F7FA2FCB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875" y="1781175"/>
                <a:ext cx="6429375" cy="6286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-90">
            <a:extLst>
              <a:ext uri="{FF2B5EF4-FFF2-40B4-BE49-F238E27FC236}">
                <a16:creationId xmlns:a16="http://schemas.microsoft.com/office/drawing/2014/main" id="{E217DB1F-C6B8-4782-8D5E-C0932EE668F0}"/>
              </a:ext>
            </a:extLst>
          </p:cNvPr>
          <p:cNvSpPr>
            <a:spLocks noGrp="1"/>
          </p:cNvSpPr>
          <p:nvPr/>
        </p:nvSpPr>
        <p:spPr>
          <a:xfrm>
            <a:off x="9525000" y="1924050"/>
            <a:ext cx="48577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lang="en-US" altLang="zh-CN" sz="2400" b="0">
                <a:solidFill>
                  <a:srgbClr val="303A43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altLang="zh-CN" sz="2400" b="0">
                <a:solidFill>
                  <a:srgbClr val="303A43"/>
                </a:solidFill>
                <a:latin typeface="Times New Roman"/>
                <a:ea typeface="Microsoft YaHei"/>
                <a:cs typeface="Times New Roman"/>
              </a:rPr>
              <a:t>dsolve 与手推式相互核对</a:t>
            </a:r>
          </a:p>
        </p:txBody>
      </p:sp>
      <p:sp>
        <p:nvSpPr>
          <p:cNvPr id="7" name="text-91">
            <a:extLst>
              <a:ext uri="{FF2B5EF4-FFF2-40B4-BE49-F238E27FC236}">
                <a16:creationId xmlns:a16="http://schemas.microsoft.com/office/drawing/2014/main" id="{3287FE8B-7089-4115-AA2D-68528DC7262C}"/>
              </a:ext>
            </a:extLst>
          </p:cNvPr>
          <p:cNvSpPr>
            <a:spLocks noGrp="1"/>
          </p:cNvSpPr>
          <p:nvPr/>
        </p:nvSpPr>
        <p:spPr>
          <a:xfrm>
            <a:off x="904875" y="2628900"/>
            <a:ext cx="6429375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lang="en-US" altLang="zh-CN" sz="2700" b="1">
                <a:solidFill>
                  <a:srgbClr val="287D7B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altLang="zh-CN" sz="2700" b="1">
                <a:solidFill>
                  <a:srgbClr val="287D7B"/>
                </a:solidFill>
                <a:latin typeface="Times New Roman"/>
                <a:ea typeface="Microsoft YaHei"/>
                <a:cs typeface="Times New Roman"/>
              </a:rPr>
              <a:t>数值解与解析解</a:t>
            </a:r>
          </a:p>
        </p:txBody>
      </p:sp>
      <p:sp>
        <p:nvSpPr>
          <p:cNvPr id="8" name="text-92">
            <a:extLst>
              <a:ext uri="{FF2B5EF4-FFF2-40B4-BE49-F238E27FC236}">
                <a16:creationId xmlns:a16="http://schemas.microsoft.com/office/drawing/2014/main" id="{A6F6AF5E-727A-45C8-B677-899DF98EC85D}"/>
              </a:ext>
            </a:extLst>
          </p:cNvPr>
          <p:cNvSpPr>
            <a:spLocks noGrp="1"/>
          </p:cNvSpPr>
          <p:nvPr/>
        </p:nvSpPr>
        <p:spPr>
          <a:xfrm>
            <a:off x="7953375" y="2628900"/>
            <a:ext cx="638175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lang="en-US" altLang="zh-CN" sz="2700" b="1">
                <a:solidFill>
                  <a:srgbClr val="287D7B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altLang="zh-CN" sz="2700" b="1">
                <a:solidFill>
                  <a:srgbClr val="287D7B"/>
                </a:solidFill>
                <a:latin typeface="Times New Roman"/>
                <a:ea typeface="Microsoft YaHei"/>
                <a:cs typeface="Times New Roman"/>
              </a:rPr>
              <a:t>最大节点误差的收敛</a:t>
            </a: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11900" y="3181350"/>
            <a:ext cx="4415324" cy="3552825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517414" y="3181350"/>
            <a:ext cx="5206046" cy="355282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" name="结论-93">
                <a:extLst>
                  <a:ext uri="{FF2B5EF4-FFF2-40B4-BE49-F238E27FC236}">
                    <a16:creationId xmlns:a16="http://schemas.microsoft.com/office/drawing/2014/main" id="{84D793BD-173F-4CF2-9304-87548D391CD6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04875" y="6972300"/>
                <a:ext cx="13430250" cy="552450"/>
              </a:xfrm>
              <a:prstGeom prst="rect">
                <a:avLst/>
              </a:prstGeom>
              <a:solidFill>
                <a:srgbClr val="EDF6F5"/>
              </a:solidFill>
              <a:ln w="0">
                <a:noFill/>
              </a:ln>
            </p:spPr>
            <p:txBody>
              <a:bodyPr lIns="133350" tIns="76200" rIns="133350" bIns="0">
                <a:noAutofit/>
              </a:bodyPr>
              <a:lstStyle/>
              <a:p>
                <a:pPr>
                  <a:defRPr lang="en-US" altLang="zh-CN" sz="2625" b="1">
                    <a:solidFill>
                      <a:srgbClr val="287D7B"/>
                    </a:solidFill>
                    <a:latin typeface="Times New Roman"/>
                    <a:ea typeface="Microsoft YaHei"/>
                    <a:cs typeface="Times New Roman"/>
                  </a:defRPr>
                </a:pPr>
                <a:r>
                  <a:rPr lang="en-US" altLang="zh-CN" sz="2625" b="1" dirty="0">
                    <a:solidFill>
                      <a:srgbClr val="287D7B"/>
                    </a:solidFill>
                    <a:latin typeface="Times New Roman"/>
                    <a:ea typeface="Microsoft YaHei"/>
                    <a:cs typeface="Times New Roman"/>
                  </a:rPr>
                  <a:t>RK4 </a:t>
                </a:r>
                <a:r>
                  <a:rPr lang="en-US" altLang="zh-CN" sz="2625" b="1" dirty="0" err="1">
                    <a:solidFill>
                      <a:srgbClr val="287D7B"/>
                    </a:solidFill>
                    <a:latin typeface="Times New Roman"/>
                    <a:ea typeface="Microsoft YaHei"/>
                    <a:cs typeface="Times New Roman"/>
                  </a:rPr>
                  <a:t>拟合阶</a:t>
                </a:r>
                <a:r>
                  <a:rPr lang="en-US" altLang="zh-CN" sz="2625" b="1" dirty="0">
                    <a:solidFill>
                      <a:srgbClr val="287D7B"/>
                    </a:solidFill>
                    <a:latin typeface="Times New Roman"/>
                    <a:ea typeface="Microsoft YaHei"/>
                    <a:cs typeface="Times New Roman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625" b="1" i="1" dirty="0" smtClean="0">
                        <a:solidFill>
                          <a:srgbClr val="287D7B"/>
                        </a:solidFill>
                        <a:latin typeface="Cambria Math" panose="02040503050406030204" pitchFamily="18" charset="0"/>
                        <a:ea typeface="Microsoft YaHei"/>
                        <a:cs typeface="Times New Roman"/>
                      </a:rPr>
                      <m:t>𝒑</m:t>
                    </m:r>
                    <m:r>
                      <a:rPr lang="en-US" altLang="zh-CN" sz="2625" b="1" i="1" dirty="0" smtClean="0">
                        <a:solidFill>
                          <a:srgbClr val="287D7B"/>
                        </a:solidFill>
                        <a:latin typeface="Cambria Math" panose="02040503050406030204" pitchFamily="18" charset="0"/>
                        <a:ea typeface="Microsoft YaHei"/>
                        <a:cs typeface="Times New Roman"/>
                      </a:rPr>
                      <m:t> = </m:t>
                    </m:r>
                    <m:r>
                      <a:rPr lang="en-US" altLang="zh-CN" sz="2625" b="1" i="1" dirty="0" smtClean="0">
                        <a:solidFill>
                          <a:srgbClr val="287D7B"/>
                        </a:solidFill>
                        <a:latin typeface="Cambria Math" panose="02040503050406030204" pitchFamily="18" charset="0"/>
                        <a:ea typeface="Microsoft YaHei"/>
                        <a:cs typeface="Times New Roman"/>
                      </a:rPr>
                      <m:t>𝟒</m:t>
                    </m:r>
                    <m:r>
                      <a:rPr lang="en-US" altLang="zh-CN" sz="2625" b="1" i="1" dirty="0" smtClean="0">
                        <a:solidFill>
                          <a:srgbClr val="287D7B"/>
                        </a:solidFill>
                        <a:latin typeface="Cambria Math" panose="02040503050406030204" pitchFamily="18" charset="0"/>
                        <a:ea typeface="Microsoft YaHei"/>
                        <a:cs typeface="Times New Roman"/>
                      </a:rPr>
                      <m:t>.</m:t>
                    </m:r>
                    <m:r>
                      <a:rPr lang="en-US" altLang="zh-CN" sz="2625" b="1" i="1" dirty="0" smtClean="0">
                        <a:solidFill>
                          <a:srgbClr val="287D7B"/>
                        </a:solidFill>
                        <a:latin typeface="Cambria Math" panose="02040503050406030204" pitchFamily="18" charset="0"/>
                        <a:ea typeface="Microsoft YaHei"/>
                        <a:cs typeface="Times New Roman"/>
                      </a:rPr>
                      <m:t>𝟎𝟑𝟔𝟕</m:t>
                    </m:r>
                  </m:oMath>
                </a14:m>
                <a:r>
                  <a:rPr lang="en-US" altLang="zh-CN" sz="2625" b="1" dirty="0">
                    <a:solidFill>
                      <a:srgbClr val="287D7B"/>
                    </a:solidFill>
                    <a:latin typeface="Times New Roman"/>
                    <a:ea typeface="Microsoft YaHei"/>
                    <a:cs typeface="Times New Roman"/>
                  </a:rPr>
                  <a:t>；Euler、RK2、RK4 的阶数依次接近 1、2、4</a:t>
                </a:r>
              </a:p>
            </p:txBody>
          </p:sp>
        </mc:Choice>
        <mc:Fallback>
          <p:sp>
            <p:nvSpPr>
              <p:cNvPr id="11" name="结论-93">
                <a:extLst>
                  <a:ext uri="{FF2B5EF4-FFF2-40B4-BE49-F238E27FC236}">
                    <a16:creationId xmlns:a16="http://schemas.microsoft.com/office/drawing/2014/main" id="{84D793BD-173F-4CF2-9304-87548D391C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875" y="6972300"/>
                <a:ext cx="13430250" cy="552450"/>
              </a:xfrm>
              <a:prstGeom prst="rect">
                <a:avLst/>
              </a:prstGeom>
              <a:blipFill>
                <a:blip r:embed="rId7"/>
                <a:stretch>
                  <a:fillRect l="-499" t="-5556" b="-24444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649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5240000" cy="8572500"/>
          </a:xfrm>
          <a:prstGeom prst="rect">
            <a:avLst/>
          </a:prstGeom>
        </p:spPr>
      </p:pic>
      <p:sp>
        <p:nvSpPr>
          <p:cNvPr id="2" name="title-94">
            <a:extLst>
              <a:ext uri="{FF2B5EF4-FFF2-40B4-BE49-F238E27FC236}">
                <a16:creationId xmlns:a16="http://schemas.microsoft.com/office/drawing/2014/main" id="{643DF2F7-5EF1-4072-A1E1-B411930DA2E9}"/>
              </a:ext>
            </a:extLst>
          </p:cNvPr>
          <p:cNvSpPr>
            <a:spLocks noGrp="1"/>
          </p:cNvSpPr>
          <p:nvPr/>
        </p:nvSpPr>
        <p:spPr>
          <a:xfrm>
            <a:off x="1381125" y="742950"/>
            <a:ext cx="11525250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lang="en-US" altLang="zh-CN" sz="3675" b="1">
                <a:solidFill>
                  <a:srgbClr val="303A43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altLang="zh-CN" sz="3675" b="1">
                <a:solidFill>
                  <a:srgbClr val="303A43"/>
                </a:solidFill>
                <a:latin typeface="Times New Roman"/>
                <a:ea typeface="Microsoft YaHei"/>
                <a:cs typeface="Times New Roman"/>
              </a:rPr>
              <a:t>算法效率：相同函数调用预算下的精度</a:t>
            </a:r>
          </a:p>
        </p:txBody>
      </p:sp>
      <p:sp>
        <p:nvSpPr>
          <p:cNvPr id="5" name="text-97">
            <a:extLst>
              <a:ext uri="{FF2B5EF4-FFF2-40B4-BE49-F238E27FC236}">
                <a16:creationId xmlns:a16="http://schemas.microsoft.com/office/drawing/2014/main" id="{505FDCA5-2B57-4D13-A00A-EB9313404B7C}"/>
              </a:ext>
            </a:extLst>
          </p:cNvPr>
          <p:cNvSpPr>
            <a:spLocks noGrp="1"/>
          </p:cNvSpPr>
          <p:nvPr/>
        </p:nvSpPr>
        <p:spPr>
          <a:xfrm>
            <a:off x="904875" y="1847850"/>
            <a:ext cx="676275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lang="en-US" altLang="zh-CN" sz="2700" b="1">
                <a:solidFill>
                  <a:srgbClr val="287D7B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altLang="en-US" sz="2700" b="1" dirty="0">
                <a:solidFill>
                  <a:srgbClr val="287D7B"/>
                </a:solidFill>
                <a:latin typeface="Times New Roman"/>
                <a:ea typeface="Microsoft YaHei"/>
                <a:cs typeface="Times New Roman"/>
              </a:rPr>
              <a:t>右端函数调用次数</a:t>
            </a:r>
            <a:r>
              <a:rPr lang="en-US" altLang="zh-CN" sz="2700" b="1" dirty="0">
                <a:solidFill>
                  <a:srgbClr val="287D7B"/>
                </a:solidFill>
                <a:latin typeface="Times New Roman"/>
                <a:ea typeface="Microsoft YaHei"/>
                <a:cs typeface="Times New Roman"/>
              </a:rPr>
              <a:t>与最大误差</a:t>
            </a: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90421" y="2560948"/>
            <a:ext cx="5801158" cy="413640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-98">
                <a:extLst>
                  <a:ext uri="{FF2B5EF4-FFF2-40B4-BE49-F238E27FC236}">
                    <a16:creationId xmlns:a16="http://schemas.microsoft.com/office/drawing/2014/main" id="{8023D378-863B-4734-8EE1-9696ABEDD29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8143875" y="1847850"/>
                <a:ext cx="6191250" cy="4953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0" tIns="0" rIns="0" bIns="0">
                <a:noAutofit/>
              </a:bodyPr>
              <a:lstStyle/>
              <a:p>
                <a:pPr>
                  <a:defRPr lang="en-US" altLang="zh-CN" sz="2700" b="1">
                    <a:solidFill>
                      <a:srgbClr val="287D7B"/>
                    </a:solidFill>
                    <a:latin typeface="Times New Roman"/>
                    <a:ea typeface="Microsoft YaHei"/>
                    <a:cs typeface="Times New Roman"/>
                  </a:defRPr>
                </a:pPr>
                <a:r>
                  <a:rPr lang="en-US" altLang="zh-CN" sz="2700" b="1" dirty="0">
                    <a:solidFill>
                      <a:srgbClr val="287D7B"/>
                    </a:solidFill>
                    <a:latin typeface="Times New Roman"/>
                    <a:ea typeface="Microsoft YaHei"/>
                    <a:cs typeface="Times New Roman"/>
                  </a:rPr>
                  <a:t>相同</a:t>
                </a:r>
                <a:r>
                  <a:rPr lang="zh-CN" altLang="en-US" sz="2700" b="1" dirty="0">
                    <a:solidFill>
                      <a:srgbClr val="287D7B"/>
                    </a:solidFill>
                    <a:latin typeface="Times New Roman"/>
                    <a:ea typeface="Microsoft YaHei"/>
                    <a:cs typeface="Times New Roman"/>
                  </a:rPr>
                  <a:t>右端函数调用次数 </a:t>
                </a:r>
                <a14:m>
                  <m:oMath xmlns:m="http://schemas.openxmlformats.org/officeDocument/2006/math">
                    <m:r>
                      <a:rPr lang="en-US" altLang="zh-CN" sz="2700" b="1" i="1" dirty="0" smtClean="0">
                        <a:solidFill>
                          <a:srgbClr val="287D7B"/>
                        </a:solidFill>
                        <a:latin typeface="Cambria Math" panose="02040503050406030204" pitchFamily="18" charset="0"/>
                        <a:ea typeface="Microsoft YaHei"/>
                        <a:cs typeface="Times New Roman"/>
                      </a:rPr>
                      <m:t>𝑾</m:t>
                    </m:r>
                    <m:r>
                      <a:rPr lang="en-US" altLang="zh-CN" sz="2700" b="1" i="1" dirty="0" smtClean="0">
                        <a:solidFill>
                          <a:srgbClr val="287D7B"/>
                        </a:solidFill>
                        <a:latin typeface="Cambria Math" panose="02040503050406030204" pitchFamily="18" charset="0"/>
                        <a:ea typeface="Microsoft YaHei"/>
                        <a:cs typeface="Times New Roman"/>
                      </a:rPr>
                      <m:t> </m:t>
                    </m:r>
                    <m:r>
                      <a:rPr lang="en-US" altLang="zh-CN" sz="2700" b="1" i="1" dirty="0">
                        <a:solidFill>
                          <a:srgbClr val="287D7B"/>
                        </a:solidFill>
                        <a:latin typeface="Cambria Math" panose="02040503050406030204" pitchFamily="18" charset="0"/>
                        <a:ea typeface="Microsoft YaHei"/>
                        <a:cs typeface="Times New Roman"/>
                      </a:rPr>
                      <m:t>= </m:t>
                    </m:r>
                    <m:r>
                      <a:rPr lang="en-US" altLang="zh-CN" sz="2700" b="1" i="1" dirty="0">
                        <a:solidFill>
                          <a:srgbClr val="287D7B"/>
                        </a:solidFill>
                        <a:latin typeface="Cambria Math" panose="02040503050406030204" pitchFamily="18" charset="0"/>
                        <a:ea typeface="Microsoft YaHei"/>
                        <a:cs typeface="Times New Roman"/>
                      </a:rPr>
                      <m:t>𝟗𝟔</m:t>
                    </m:r>
                  </m:oMath>
                </a14:m>
                <a:endParaRPr lang="en-US" altLang="zh-CN" sz="2700" b="1" dirty="0">
                  <a:solidFill>
                    <a:srgbClr val="287D7B"/>
                  </a:solidFill>
                  <a:latin typeface="Times New Roman"/>
                  <a:ea typeface="Microsoft YaHei"/>
                  <a:cs typeface="Times New Roman"/>
                </a:endParaRPr>
              </a:p>
            </p:txBody>
          </p:sp>
        </mc:Choice>
        <mc:Fallback>
          <p:sp>
            <p:nvSpPr>
              <p:cNvPr id="7" name="text-98">
                <a:extLst>
                  <a:ext uri="{FF2B5EF4-FFF2-40B4-BE49-F238E27FC236}">
                    <a16:creationId xmlns:a16="http://schemas.microsoft.com/office/drawing/2014/main" id="{8023D378-863B-4734-8EE1-9696ABEDD2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3875" y="1847850"/>
                <a:ext cx="6191250" cy="495300"/>
              </a:xfrm>
              <a:prstGeom prst="rect">
                <a:avLst/>
              </a:prstGeom>
              <a:blipFill>
                <a:blip r:embed="rId5"/>
                <a:stretch>
                  <a:fillRect l="-3346" t="-19753" b="-25926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8" name="表格 17"/>
          <p:cNvGraphicFramePr/>
          <p:nvPr>
            <p:extLst>
              <p:ext uri="{D42A27DB-BD31-4B8C-83A1-F6EECF244321}">
                <p14:modId xmlns:p14="http://schemas.microsoft.com/office/powerpoint/2010/main" val="2510179305"/>
              </p:ext>
            </p:extLst>
          </p:nvPr>
        </p:nvGraphicFramePr>
        <p:xfrm>
          <a:off x="8143875" y="2714625"/>
          <a:ext cx="6191250" cy="2667000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38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550" b="1">
                          <a:solidFill>
                            <a:srgbClr val="354E68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方法</a:t>
                      </a:r>
                    </a:p>
                  </a:txBody>
                  <a:tcPr marL="101600" marR="101600" marT="114300" marB="76200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303A43"/>
                      </a:solidFill>
                    </a:lnT>
                    <a:lnB w="12700">
                      <a:solidFill>
                        <a:srgbClr val="303A4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550" b="1" dirty="0">
                          <a:solidFill>
                            <a:srgbClr val="354E68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W</a:t>
                      </a:r>
                    </a:p>
                  </a:txBody>
                  <a:tcPr marL="101600" marR="101600" marT="114300" marB="76200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303A43"/>
                      </a:solidFill>
                    </a:lnT>
                    <a:lnB w="12700">
                      <a:solidFill>
                        <a:srgbClr val="303A4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550" b="1">
                          <a:solidFill>
                            <a:srgbClr val="354E68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最大误差</a:t>
                      </a:r>
                    </a:p>
                  </a:txBody>
                  <a:tcPr marL="101600" marR="101600" marT="114300" marB="76200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303A43"/>
                      </a:solidFill>
                    </a:lnT>
                    <a:lnB w="12700">
                      <a:solidFill>
                        <a:srgbClr val="303A4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550" b="0">
                          <a:solidFill>
                            <a:srgbClr val="303A43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Euler</a:t>
                      </a:r>
                    </a:p>
                  </a:txBody>
                  <a:tcPr marL="101600" marR="101600" marT="114300" marB="762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03A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550" b="0">
                          <a:solidFill>
                            <a:srgbClr val="303A43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96</a:t>
                      </a:r>
                    </a:p>
                  </a:txBody>
                  <a:tcPr marL="101600" marR="101600" marT="114300" marB="762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03A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550" b="0">
                          <a:solidFill>
                            <a:srgbClr val="287D7B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2.05 × 10⁻²</a:t>
                      </a:r>
                    </a:p>
                  </a:txBody>
                  <a:tcPr marL="101600" marR="101600" marT="114300" marB="762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303A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550" b="0">
                          <a:solidFill>
                            <a:srgbClr val="303A43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RK2</a:t>
                      </a:r>
                    </a:p>
                  </a:txBody>
                  <a:tcPr marL="101600" marR="101600" marT="1143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550" b="0">
                          <a:solidFill>
                            <a:srgbClr val="303A43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48</a:t>
                      </a:r>
                    </a:p>
                  </a:txBody>
                  <a:tcPr marL="101600" marR="101600" marT="1143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550" b="0">
                          <a:solidFill>
                            <a:srgbClr val="287D7B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1.51 × 10⁻³</a:t>
                      </a:r>
                    </a:p>
                  </a:txBody>
                  <a:tcPr marL="101600" marR="101600" marT="1143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550" b="0">
                          <a:solidFill>
                            <a:srgbClr val="303A43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RK4</a:t>
                      </a:r>
                    </a:p>
                  </a:txBody>
                  <a:tcPr marL="101600" marR="101600" marT="1143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303A4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550" b="0" dirty="0">
                          <a:solidFill>
                            <a:srgbClr val="303A43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24</a:t>
                      </a:r>
                    </a:p>
                  </a:txBody>
                  <a:tcPr marL="101600" marR="101600" marT="1143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303A4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550" b="0" dirty="0">
                          <a:solidFill>
                            <a:srgbClr val="287D7B"/>
                          </a:solidFill>
                          <a:latin typeface="Times New Roman"/>
                          <a:ea typeface="Microsoft YaHei"/>
                          <a:cs typeface="Times New Roman"/>
                        </a:rPr>
                        <a:t>3.79 × 10⁻⁶</a:t>
                      </a:r>
                    </a:p>
                  </a:txBody>
                  <a:tcPr marL="101600" marR="101600" marT="1143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303A4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paragraph-99">
            <a:extLst>
              <a:ext uri="{FF2B5EF4-FFF2-40B4-BE49-F238E27FC236}">
                <a16:creationId xmlns:a16="http://schemas.microsoft.com/office/drawing/2014/main" id="{EE147171-44FA-4B96-B54D-C8A3650239B4}"/>
              </a:ext>
            </a:extLst>
          </p:cNvPr>
          <p:cNvSpPr>
            <a:spLocks noGrp="1"/>
          </p:cNvSpPr>
          <p:nvPr/>
        </p:nvSpPr>
        <p:spPr>
          <a:xfrm>
            <a:off x="8143875" y="5762625"/>
            <a:ext cx="6143625" cy="106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marL="0" indent="666750" algn="just">
              <a:defRPr lang="en-US" altLang="zh-CN" sz="2625" b="0">
                <a:solidFill>
                  <a:srgbClr val="303A43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altLang="zh-CN" sz="2625" b="0" dirty="0">
                <a:solidFill>
                  <a:srgbClr val="303A43"/>
                </a:solidFill>
                <a:latin typeface="Times New Roman"/>
                <a:ea typeface="Microsoft YaHei"/>
                <a:cs typeface="Times New Roman"/>
              </a:rPr>
              <a:t>每步调用次数：Euler 为 1，RK2 为 2，RK4 为 4。</a:t>
            </a:r>
          </a:p>
        </p:txBody>
      </p:sp>
      <p:sp>
        <p:nvSpPr>
          <p:cNvPr id="10" name="结论-100">
            <a:extLst>
              <a:ext uri="{FF2B5EF4-FFF2-40B4-BE49-F238E27FC236}">
                <a16:creationId xmlns:a16="http://schemas.microsoft.com/office/drawing/2014/main" id="{061ACFC7-9740-460B-A44D-3D781C6852A5}"/>
              </a:ext>
            </a:extLst>
          </p:cNvPr>
          <p:cNvSpPr>
            <a:spLocks noGrp="1"/>
          </p:cNvSpPr>
          <p:nvPr/>
        </p:nvSpPr>
        <p:spPr>
          <a:xfrm>
            <a:off x="904875" y="6972300"/>
            <a:ext cx="13430250" cy="552450"/>
          </a:xfrm>
          <a:prstGeom prst="rect">
            <a:avLst/>
          </a:prstGeom>
          <a:solidFill>
            <a:srgbClr val="EDF6F5"/>
          </a:solidFill>
          <a:ln w="0">
            <a:noFill/>
          </a:ln>
        </p:spPr>
        <p:txBody>
          <a:bodyPr lIns="133350" tIns="76200" rIns="133350" bIns="0">
            <a:noAutofit/>
          </a:bodyPr>
          <a:lstStyle/>
          <a:p>
            <a:pPr>
              <a:defRPr lang="en-US" altLang="zh-CN" sz="2625" b="1">
                <a:solidFill>
                  <a:srgbClr val="287D7B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altLang="zh-CN" sz="2625" b="1">
                <a:solidFill>
                  <a:srgbClr val="287D7B"/>
                </a:solidFill>
                <a:latin typeface="Times New Roman"/>
                <a:ea typeface="Microsoft YaHei"/>
                <a:cs typeface="Times New Roman"/>
              </a:rPr>
              <a:t>本算例相同调用预算下，RK4 的误差最小；计时还受程序开销影响</a:t>
            </a:r>
          </a:p>
        </p:txBody>
      </p:sp>
    </p:spTree>
    <p:extLst>
      <p:ext uri="{BB962C8B-B14F-4D97-AF65-F5344CB8AC3E}">
        <p14:creationId xmlns:p14="http://schemas.microsoft.com/office/powerpoint/2010/main" val="1578443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5240000" cy="8572500"/>
          </a:xfrm>
          <a:prstGeom prst="rect">
            <a:avLst/>
          </a:prstGeom>
        </p:spPr>
      </p:pic>
      <p:sp>
        <p:nvSpPr>
          <p:cNvPr id="2" name="title-101">
            <a:extLst>
              <a:ext uri="{FF2B5EF4-FFF2-40B4-BE49-F238E27FC236}">
                <a16:creationId xmlns:a16="http://schemas.microsoft.com/office/drawing/2014/main" id="{039FBB3A-10C8-4707-A937-A6C779034586}"/>
              </a:ext>
            </a:extLst>
          </p:cNvPr>
          <p:cNvSpPr>
            <a:spLocks noGrp="1"/>
          </p:cNvSpPr>
          <p:nvPr/>
        </p:nvSpPr>
        <p:spPr>
          <a:xfrm>
            <a:off x="1381125" y="742950"/>
            <a:ext cx="11525250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lang="en-US" altLang="zh-CN" sz="3675" b="1">
                <a:solidFill>
                  <a:srgbClr val="303A43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altLang="zh-CN" sz="3675" b="1">
                <a:solidFill>
                  <a:srgbClr val="303A43"/>
                </a:solidFill>
                <a:latin typeface="Times New Roman"/>
                <a:ea typeface="Microsoft YaHei"/>
                <a:cs typeface="Times New Roman"/>
              </a:rPr>
              <a:t>线性打靶：将 RK4 迁移到边值问题</a:t>
            </a:r>
          </a:p>
        </p:txBody>
      </p:sp>
      <p:sp>
        <p:nvSpPr>
          <p:cNvPr id="5" name="text-104">
            <a:extLst>
              <a:ext uri="{FF2B5EF4-FFF2-40B4-BE49-F238E27FC236}">
                <a16:creationId xmlns:a16="http://schemas.microsoft.com/office/drawing/2014/main" id="{FCEF704A-38EE-4BA1-811E-E45B3D43E771}"/>
              </a:ext>
            </a:extLst>
          </p:cNvPr>
          <p:cNvSpPr>
            <a:spLocks noGrp="1"/>
          </p:cNvSpPr>
          <p:nvPr/>
        </p:nvSpPr>
        <p:spPr>
          <a:xfrm>
            <a:off x="904875" y="1847850"/>
            <a:ext cx="7477125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lang="en-US" altLang="zh-CN" sz="2700" b="1">
                <a:solidFill>
                  <a:srgbClr val="287D7B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altLang="zh-CN" sz="2700" b="1">
                <a:solidFill>
                  <a:srgbClr val="287D7B"/>
                </a:solidFill>
                <a:latin typeface="Times New Roman"/>
                <a:ea typeface="Microsoft YaHei"/>
                <a:cs typeface="Times New Roman"/>
              </a:rPr>
              <a:t>二阶边值问题改写为一阶系统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-105">
                <a:extLst>
                  <a:ext uri="{FF2B5EF4-FFF2-40B4-BE49-F238E27FC236}">
                    <a16:creationId xmlns:a16="http://schemas.microsoft.com/office/drawing/2014/main" id="{FEA6D92A-1B8F-40CE-9DAD-51AE3E080EBC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04875" y="2562225"/>
                <a:ext cx="6715125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0" tIns="0" rIns="0" bIns="0">
                <a:noAutofit/>
              </a:bodyPr>
              <a:lstStyle/>
              <a:p>
                <a:pPr>
                  <a:defRPr lang="en-US" altLang="zh-CN" sz="3225" b="0">
                    <a:solidFill>
                      <a:srgbClr val="354E68"/>
                    </a:solidFill>
                    <a:latin typeface="Times New Roman"/>
                    <a:ea typeface="Microsoft YaHei"/>
                    <a:cs typeface="Times New Roman"/>
                  </a:defRPr>
                </a:pPr>
                <a14:m>
                  <m:oMathPara xmlns:m="http://schemas.openxmlformats.org/officeDocument/2006/math">
                    <m:oMath>
                      <m:r>
                        <a:rPr lang="en-US" altLang="zh-CN" sz="3225" b="0" i="1" dirty="0" smtClean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[</m:t>
                      </m:r>
                      <m:r>
                        <a:rPr lang="en-US" altLang="zh-CN" sz="3225" b="0" i="1" dirty="0" smtClean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𝑢</m:t>
                      </m:r>
                      <m:r>
                        <a:rPr lang="en-US" altLang="zh-CN" sz="3225" b="0" i="1" dirty="0" smtClean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, </m:t>
                      </m:r>
                      <m:r>
                        <a:rPr lang="en-US" altLang="zh-CN" sz="3225" b="0" i="1" dirty="0" smtClean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𝑣</m:t>
                      </m:r>
                      <m:r>
                        <a:rPr lang="en-US" altLang="zh-CN" sz="3225" b="0" i="1" dirty="0" smtClean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]′ = [</m:t>
                      </m:r>
                      <m:r>
                        <a:rPr lang="en-US" altLang="zh-CN" sz="3225" b="0" i="1" dirty="0" smtClean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𝑣</m:t>
                      </m:r>
                      <m:r>
                        <a:rPr lang="en-US" altLang="zh-CN" sz="3225" b="0" i="1" dirty="0" smtClean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 altLang="zh-CN" sz="3225" b="0" i="1" dirty="0" smtClean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exp</m:t>
                      </m:r>
                      <m:r>
                        <a:rPr lang="en-US" altLang="zh-CN" sz="3225" b="0" i="1" dirty="0" smtClean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⁡(−</m:t>
                      </m:r>
                      <m:r>
                        <a:rPr lang="en-US" altLang="zh-CN" sz="3225" b="0" i="1" dirty="0" smtClean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𝑥</m:t>
                      </m:r>
                      <m:r>
                        <a:rPr lang="en-US" altLang="zh-CN" sz="3225" b="0" i="1" dirty="0" smtClean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²)]</m:t>
                      </m:r>
                    </m:oMath>
                  </m:oMathPara>
                </a14:m>
                <a:endParaRPr lang="en-US" altLang="zh-CN" sz="3225" b="0" dirty="0">
                  <a:solidFill>
                    <a:srgbClr val="354E68"/>
                  </a:solidFill>
                  <a:latin typeface="Times New Roman"/>
                  <a:ea typeface="Microsoft YaHei"/>
                  <a:cs typeface="Times New Roman"/>
                </a:endParaRPr>
              </a:p>
            </p:txBody>
          </p:sp>
        </mc:Choice>
        <mc:Fallback>
          <p:sp>
            <p:nvSpPr>
              <p:cNvPr id="6" name="text-105">
                <a:extLst>
                  <a:ext uri="{FF2B5EF4-FFF2-40B4-BE49-F238E27FC236}">
                    <a16:creationId xmlns:a16="http://schemas.microsoft.com/office/drawing/2014/main" id="{FEA6D92A-1B8F-40CE-9DAD-51AE3E080E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875" y="2562225"/>
                <a:ext cx="6715125" cy="61912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-106">
                <a:extLst>
                  <a:ext uri="{FF2B5EF4-FFF2-40B4-BE49-F238E27FC236}">
                    <a16:creationId xmlns:a16="http://schemas.microsoft.com/office/drawing/2014/main" id="{AF06A808-E999-4945-85EB-78A5B831C25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04875" y="3333750"/>
                <a:ext cx="6715125" cy="5715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0" tIns="0" rIns="0" bIns="0">
                <a:noAutofit/>
              </a:bodyPr>
              <a:lstStyle/>
              <a:p>
                <a:pPr>
                  <a:defRPr lang="en-US" altLang="zh-CN" sz="3075" b="0">
                    <a:solidFill>
                      <a:srgbClr val="354E68"/>
                    </a:solidFill>
                    <a:latin typeface="Times New Roman"/>
                    <a:ea typeface="Microsoft YaHei"/>
                    <a:cs typeface="Times New Roman"/>
                  </a:defRPr>
                </a:pPr>
                <a14:m>
                  <m:oMathPara xmlns:m="http://schemas.openxmlformats.org/officeDocument/2006/math">
                    <m:oMath>
                      <m:r>
                        <a:rPr lang="en-US" altLang="zh-CN" sz="3075" b="0" i="1" dirty="0" smtClean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𝑧</m:t>
                      </m:r>
                      <m:r>
                        <a:rPr lang="en-US" altLang="zh-CN" sz="3075" b="0" i="1" dirty="0" smtClean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(−1) = 0，</m:t>
                      </m:r>
                      <m:r>
                        <a:rPr lang="en-US" altLang="zh-CN" sz="3075" b="0" i="1" dirty="0" smtClean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𝑧</m:t>
                      </m:r>
                      <m:r>
                        <a:rPr lang="en-US" altLang="zh-CN" sz="3075" b="0" i="1" dirty="0" smtClean="0">
                          <a:solidFill>
                            <a:srgbClr val="354E68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′(−1) = 0</m:t>
                      </m:r>
                    </m:oMath>
                  </m:oMathPara>
                </a14:m>
                <a:endParaRPr lang="en-US" altLang="zh-CN" sz="3075" b="0" dirty="0">
                  <a:solidFill>
                    <a:srgbClr val="354E68"/>
                  </a:solidFill>
                  <a:latin typeface="Times New Roman"/>
                  <a:ea typeface="Microsoft YaHei"/>
                  <a:cs typeface="Times New Roman"/>
                </a:endParaRPr>
              </a:p>
            </p:txBody>
          </p:sp>
        </mc:Choice>
        <mc:Fallback>
          <p:sp>
            <p:nvSpPr>
              <p:cNvPr id="7" name="text-106">
                <a:extLst>
                  <a:ext uri="{FF2B5EF4-FFF2-40B4-BE49-F238E27FC236}">
                    <a16:creationId xmlns:a16="http://schemas.microsoft.com/office/drawing/2014/main" id="{AF06A808-E999-4945-85EB-78A5B831C2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875" y="3333750"/>
                <a:ext cx="6715125" cy="5715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-107">
                <a:extLst>
                  <a:ext uri="{FF2B5EF4-FFF2-40B4-BE49-F238E27FC236}">
                    <a16:creationId xmlns:a16="http://schemas.microsoft.com/office/drawing/2014/main" id="{0A2D365B-D701-4CD3-847D-3D2A71E216B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04875" y="4105275"/>
                <a:ext cx="7810500" cy="6000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0" tIns="0" rIns="0" bIns="0">
                <a:noAutofit/>
              </a:bodyPr>
              <a:lstStyle/>
              <a:p>
                <a:pPr>
                  <a:defRPr lang="en-US" altLang="zh-CN" sz="2700" b="0">
                    <a:solidFill>
                      <a:srgbClr val="303A43"/>
                    </a:solidFill>
                    <a:latin typeface="Times New Roman"/>
                    <a:ea typeface="Microsoft YaHei"/>
                    <a:cs typeface="Times New Roman"/>
                  </a:defRPr>
                </a:pPr>
                <a:r>
                  <a:rPr lang="en-US" altLang="zh-CN" sz="2700" b="0" dirty="0">
                    <a:solidFill>
                      <a:srgbClr val="303A43"/>
                    </a:solidFill>
                    <a:latin typeface="Times New Roman"/>
                    <a:ea typeface="Microsoft YaHei"/>
                    <a:cs typeface="Times New Roman"/>
                  </a:rPr>
                  <a:t>先调用一次 rk4Solve，得到 </a:t>
                </a:r>
                <a14:m>
                  <m:oMath xmlns:m="http://schemas.openxmlformats.org/officeDocument/2006/math">
                    <m:r>
                      <a:rPr lang="en-US" altLang="zh-CN" sz="2700" b="0" i="1" dirty="0" smtClean="0">
                        <a:solidFill>
                          <a:srgbClr val="303A43"/>
                        </a:solidFill>
                        <a:latin typeface="Cambria Math" panose="02040503050406030204" pitchFamily="18" charset="0"/>
                        <a:ea typeface="Microsoft YaHei"/>
                        <a:cs typeface="Times New Roman"/>
                      </a:rPr>
                      <m:t>𝑧</m:t>
                    </m:r>
                    <m:r>
                      <a:rPr lang="en-US" altLang="zh-CN" sz="2700" b="0" i="1" dirty="0" smtClean="0">
                        <a:solidFill>
                          <a:srgbClr val="303A43"/>
                        </a:solidFill>
                        <a:latin typeface="Cambria Math" panose="02040503050406030204" pitchFamily="18" charset="0"/>
                        <a:ea typeface="Microsoft YaHei"/>
                        <a:cs typeface="Times New Roman"/>
                      </a:rPr>
                      <m:t>(</m:t>
                    </m:r>
                    <m:r>
                      <a:rPr lang="en-US" altLang="zh-CN" sz="2700" b="0" i="1" dirty="0" smtClean="0">
                        <a:solidFill>
                          <a:srgbClr val="303A43"/>
                        </a:solidFill>
                        <a:latin typeface="Cambria Math" panose="02040503050406030204" pitchFamily="18" charset="0"/>
                        <a:ea typeface="Microsoft YaHei"/>
                        <a:cs typeface="Times New Roman"/>
                      </a:rPr>
                      <m:t>𝑥</m:t>
                    </m:r>
                    <m:r>
                      <a:rPr lang="en-US" altLang="zh-CN" sz="2700" b="0" i="1" dirty="0" smtClean="0">
                        <a:solidFill>
                          <a:srgbClr val="303A43"/>
                        </a:solidFill>
                        <a:latin typeface="Cambria Math" panose="02040503050406030204" pitchFamily="18" charset="0"/>
                        <a:ea typeface="Microsoft YaHei"/>
                        <a:cs typeface="Times New Roman"/>
                      </a:rPr>
                      <m:t>)</m:t>
                    </m:r>
                  </m:oMath>
                </a14:m>
                <a:endParaRPr lang="en-US" altLang="zh-CN" sz="2700" b="0" dirty="0">
                  <a:solidFill>
                    <a:srgbClr val="303A43"/>
                  </a:solidFill>
                  <a:latin typeface="Times New Roman"/>
                  <a:ea typeface="Microsoft YaHei"/>
                  <a:cs typeface="Times New Roman"/>
                </a:endParaRPr>
              </a:p>
            </p:txBody>
          </p:sp>
        </mc:Choice>
        <mc:Fallback>
          <p:sp>
            <p:nvSpPr>
              <p:cNvPr id="8" name="text-107">
                <a:extLst>
                  <a:ext uri="{FF2B5EF4-FFF2-40B4-BE49-F238E27FC236}">
                    <a16:creationId xmlns:a16="http://schemas.microsoft.com/office/drawing/2014/main" id="{0A2D365B-D701-4CD3-847D-3D2A71E216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875" y="4105275"/>
                <a:ext cx="7810500" cy="600075"/>
              </a:xfrm>
              <a:prstGeom prst="rect">
                <a:avLst/>
              </a:prstGeom>
              <a:blipFill>
                <a:blip r:embed="rId6"/>
                <a:stretch>
                  <a:fillRect l="-2652" t="-17172" b="-3030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-108">
                <a:extLst>
                  <a:ext uri="{FF2B5EF4-FFF2-40B4-BE49-F238E27FC236}">
                    <a16:creationId xmlns:a16="http://schemas.microsoft.com/office/drawing/2014/main" id="{35CD5A8F-8557-4CF9-91C5-8964FD6DAED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04875" y="4903042"/>
                <a:ext cx="6715125" cy="7620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0" tIns="0" rIns="0" bIns="0">
                <a:noAutofit/>
              </a:bodyPr>
              <a:lstStyle/>
              <a:p>
                <a:pPr>
                  <a:defRPr lang="en-US" altLang="zh-CN" sz="3150" b="0">
                    <a:solidFill>
                      <a:srgbClr val="287D7B"/>
                    </a:solidFill>
                    <a:latin typeface="Times New Roman"/>
                    <a:ea typeface="Microsoft YaHei"/>
                    <a:cs typeface="Times New Roman"/>
                  </a:defRPr>
                </a:pPr>
                <a14:m>
                  <m:oMathPara xmlns:m="http://schemas.openxmlformats.org/officeDocument/2006/math">
                    <m:oMath>
                      <m:r>
                        <a:rPr lang="en-US" altLang="zh-CN" sz="3150" b="0" i="1" dirty="0" smtClean="0">
                          <a:solidFill>
                            <a:srgbClr val="287D7B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𝑠</m:t>
                      </m:r>
                      <m:r>
                        <a:rPr lang="en-US" altLang="zh-CN" sz="3150" b="0" i="1" dirty="0" smtClean="0">
                          <a:solidFill>
                            <a:srgbClr val="287D7B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=−</m:t>
                      </m:r>
                      <m:f>
                        <m:fPr>
                          <m:ctrlPr>
                            <a:rPr lang="en-US" altLang="zh-CN" sz="3150" i="1" dirty="0">
                              <a:solidFill>
                                <a:srgbClr val="287D7B"/>
                              </a:solidFill>
                              <a:latin typeface="Cambria Math" panose="02040503050406030204" pitchFamily="18" charset="0"/>
                              <a:ea typeface="Microsoft YaHei"/>
                              <a:cs typeface="Times New Roman"/>
                            </a:rPr>
                          </m:ctrlPr>
                        </m:fPr>
                        <m:num>
                          <m:r>
                            <a:rPr lang="en-US" altLang="zh-CN" sz="3150" i="1" dirty="0">
                              <a:solidFill>
                                <a:srgbClr val="287D7B"/>
                              </a:solidFill>
                              <a:latin typeface="Cambria Math" panose="02040503050406030204" pitchFamily="18" charset="0"/>
                              <a:ea typeface="Microsoft YaHei"/>
                              <a:cs typeface="Times New Roman"/>
                            </a:rPr>
                            <m:t>𝑧</m:t>
                          </m:r>
                          <m:r>
                            <a:rPr lang="en-US" altLang="zh-CN" sz="3150" i="1" dirty="0">
                              <a:solidFill>
                                <a:srgbClr val="287D7B"/>
                              </a:solidFill>
                              <a:latin typeface="Cambria Math" panose="02040503050406030204" pitchFamily="18" charset="0"/>
                              <a:ea typeface="Microsoft YaHei"/>
                              <a:cs typeface="Times New Roman"/>
                            </a:rPr>
                            <m:t>(1)</m:t>
                          </m:r>
                        </m:num>
                        <m:den>
                          <m:r>
                            <a:rPr lang="en-US" altLang="zh-CN" sz="3150" b="0" i="1" dirty="0" smtClean="0">
                              <a:solidFill>
                                <a:srgbClr val="287D7B"/>
                              </a:solidFill>
                              <a:latin typeface="Cambria Math" panose="02040503050406030204" pitchFamily="18" charset="0"/>
                              <a:ea typeface="Microsoft YaHei"/>
                              <a:cs typeface="Times New Roman"/>
                            </a:rPr>
                            <m:t>2</m:t>
                          </m:r>
                        </m:den>
                      </m:f>
                      <m:r>
                        <a:rPr lang="en-US" altLang="zh-CN" sz="3150" b="0" i="1" dirty="0" smtClean="0">
                          <a:solidFill>
                            <a:srgbClr val="287D7B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 ，</m:t>
                      </m:r>
                      <m:r>
                        <a:rPr lang="en-US" altLang="zh-CN" sz="3150" b="0" i="1" dirty="0" smtClean="0">
                          <a:solidFill>
                            <a:srgbClr val="287D7B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𝑢</m:t>
                      </m:r>
                      <m:r>
                        <a:rPr lang="en-US" altLang="zh-CN" sz="3150" b="0" i="1" dirty="0" smtClean="0">
                          <a:solidFill>
                            <a:srgbClr val="287D7B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(</m:t>
                      </m:r>
                      <m:r>
                        <a:rPr lang="en-US" altLang="zh-CN" sz="3150" b="0" i="1" dirty="0" smtClean="0">
                          <a:solidFill>
                            <a:srgbClr val="287D7B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𝑥</m:t>
                      </m:r>
                      <m:r>
                        <a:rPr lang="en-US" altLang="zh-CN" sz="3150" b="0" i="1" dirty="0" smtClean="0">
                          <a:solidFill>
                            <a:srgbClr val="287D7B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) =</m:t>
                      </m:r>
                      <m:r>
                        <a:rPr lang="en-US" altLang="zh-CN" sz="3150" b="0" i="1" dirty="0" smtClean="0">
                          <a:solidFill>
                            <a:srgbClr val="287D7B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𝑧</m:t>
                      </m:r>
                      <m:r>
                        <a:rPr lang="en-US" altLang="zh-CN" sz="3150" b="0" i="1" dirty="0" smtClean="0">
                          <a:solidFill>
                            <a:srgbClr val="287D7B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(</m:t>
                      </m:r>
                      <m:r>
                        <a:rPr lang="en-US" altLang="zh-CN" sz="3150" b="0" i="1" dirty="0" smtClean="0">
                          <a:solidFill>
                            <a:srgbClr val="287D7B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𝑥</m:t>
                      </m:r>
                      <m:r>
                        <a:rPr lang="en-US" altLang="zh-CN" sz="3150" b="0" i="1" dirty="0" smtClean="0">
                          <a:solidFill>
                            <a:srgbClr val="287D7B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)+</m:t>
                      </m:r>
                      <m:r>
                        <a:rPr lang="en-US" altLang="zh-CN" sz="3150" b="0" i="1" dirty="0" smtClean="0">
                          <a:solidFill>
                            <a:srgbClr val="287D7B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𝑠</m:t>
                      </m:r>
                      <m:r>
                        <a:rPr lang="en-US" altLang="zh-CN" sz="3150" b="0" i="1" dirty="0" smtClean="0">
                          <a:solidFill>
                            <a:srgbClr val="287D7B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(</m:t>
                      </m:r>
                      <m:r>
                        <a:rPr lang="en-US" altLang="zh-CN" sz="3150" b="0" i="1" dirty="0" smtClean="0">
                          <a:solidFill>
                            <a:srgbClr val="287D7B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𝑥</m:t>
                      </m:r>
                      <m:r>
                        <a:rPr lang="en-US" altLang="zh-CN" sz="3150" b="0" i="1" dirty="0" smtClean="0">
                          <a:solidFill>
                            <a:srgbClr val="287D7B"/>
                          </a:solidFill>
                          <a:latin typeface="Cambria Math" panose="02040503050406030204" pitchFamily="18" charset="0"/>
                          <a:ea typeface="Microsoft YaHei"/>
                          <a:cs typeface="Times New Roman"/>
                        </a:rPr>
                        <m:t>+1)</m:t>
                      </m:r>
                    </m:oMath>
                  </m:oMathPara>
                </a14:m>
                <a:endParaRPr lang="en-US" altLang="zh-CN" sz="3150" b="0" dirty="0">
                  <a:solidFill>
                    <a:srgbClr val="287D7B"/>
                  </a:solidFill>
                  <a:latin typeface="Times New Roman"/>
                  <a:ea typeface="Microsoft YaHei"/>
                  <a:cs typeface="Times New Roman"/>
                </a:endParaRPr>
              </a:p>
            </p:txBody>
          </p:sp>
        </mc:Choice>
        <mc:Fallback>
          <p:sp>
            <p:nvSpPr>
              <p:cNvPr id="9" name="text-108">
                <a:extLst>
                  <a:ext uri="{FF2B5EF4-FFF2-40B4-BE49-F238E27FC236}">
                    <a16:creationId xmlns:a16="http://schemas.microsoft.com/office/drawing/2014/main" id="{35CD5A8F-8557-4CF9-91C5-8964FD6DAE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875" y="4903042"/>
                <a:ext cx="6715125" cy="762000"/>
              </a:xfrm>
              <a:prstGeom prst="rect">
                <a:avLst/>
              </a:prstGeom>
              <a:blipFill>
                <a:blip r:embed="rId7"/>
                <a:stretch>
                  <a:fillRect b="-20800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-109">
            <a:extLst>
              <a:ext uri="{FF2B5EF4-FFF2-40B4-BE49-F238E27FC236}">
                <a16:creationId xmlns:a16="http://schemas.microsoft.com/office/drawing/2014/main" id="{E6CFFC08-B444-42F7-8679-38E582A7C85B}"/>
              </a:ext>
            </a:extLst>
          </p:cNvPr>
          <p:cNvSpPr>
            <a:spLocks noGrp="1"/>
          </p:cNvSpPr>
          <p:nvPr/>
        </p:nvSpPr>
        <p:spPr>
          <a:xfrm>
            <a:off x="904875" y="6115050"/>
            <a:ext cx="7858125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lang="en-US" altLang="zh-CN" sz="2625" b="0">
                <a:solidFill>
                  <a:srgbClr val="303A43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altLang="zh-CN" sz="2625" b="0">
                <a:solidFill>
                  <a:srgbClr val="303A43"/>
                </a:solidFill>
                <a:latin typeface="Times New Roman"/>
                <a:ea typeface="Microsoft YaHei"/>
                <a:cs typeface="Times New Roman"/>
              </a:rPr>
              <a:t>斜率修正来自已知的线性齐次解</a:t>
            </a:r>
          </a:p>
        </p:txBody>
      </p:sp>
      <p:sp>
        <p:nvSpPr>
          <p:cNvPr id="11" name="text-110">
            <a:extLst>
              <a:ext uri="{FF2B5EF4-FFF2-40B4-BE49-F238E27FC236}">
                <a16:creationId xmlns:a16="http://schemas.microsoft.com/office/drawing/2014/main" id="{38A367C0-2FA3-4FCA-95A9-1F19CDE77F13}"/>
              </a:ext>
            </a:extLst>
          </p:cNvPr>
          <p:cNvSpPr>
            <a:spLocks noGrp="1"/>
          </p:cNvSpPr>
          <p:nvPr/>
        </p:nvSpPr>
        <p:spPr>
          <a:xfrm>
            <a:off x="9001125" y="1847850"/>
            <a:ext cx="53340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lang="en-US" altLang="zh-CN" sz="2700" b="1">
                <a:solidFill>
                  <a:srgbClr val="287D7B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altLang="zh-CN" sz="2700" b="1">
                <a:solidFill>
                  <a:srgbClr val="287D7B"/>
                </a:solidFill>
                <a:latin typeface="Times New Roman"/>
                <a:ea typeface="Microsoft YaHei"/>
                <a:cs typeface="Times New Roman"/>
              </a:rPr>
              <a:t>零斜率解与修正后的解</a:t>
            </a: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8858250" y="2884812"/>
            <a:ext cx="5476875" cy="3479150"/>
          </a:xfrm>
          <a:prstGeom prst="rect">
            <a:avLst/>
          </a:prstGeom>
        </p:spPr>
      </p:pic>
      <p:sp>
        <p:nvSpPr>
          <p:cNvPr id="13" name="结论-111">
            <a:extLst>
              <a:ext uri="{FF2B5EF4-FFF2-40B4-BE49-F238E27FC236}">
                <a16:creationId xmlns:a16="http://schemas.microsoft.com/office/drawing/2014/main" id="{1A578109-C233-476C-886B-C5E47494E612}"/>
              </a:ext>
            </a:extLst>
          </p:cNvPr>
          <p:cNvSpPr>
            <a:spLocks noGrp="1"/>
          </p:cNvSpPr>
          <p:nvPr/>
        </p:nvSpPr>
        <p:spPr>
          <a:xfrm>
            <a:off x="904875" y="6972300"/>
            <a:ext cx="13430250" cy="552450"/>
          </a:xfrm>
          <a:prstGeom prst="rect">
            <a:avLst/>
          </a:prstGeom>
          <a:solidFill>
            <a:srgbClr val="EDF6F5"/>
          </a:solidFill>
          <a:ln w="0">
            <a:noFill/>
          </a:ln>
        </p:spPr>
        <p:txBody>
          <a:bodyPr lIns="133350" tIns="76200" rIns="133350" bIns="0">
            <a:noAutofit/>
          </a:bodyPr>
          <a:lstStyle/>
          <a:p>
            <a:pPr>
              <a:defRPr lang="en-US" altLang="zh-CN" sz="2625" b="1">
                <a:solidFill>
                  <a:srgbClr val="287D7B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altLang="zh-CN" sz="2625" b="1">
                <a:solidFill>
                  <a:srgbClr val="287D7B"/>
                </a:solidFill>
                <a:latin typeface="Times New Roman"/>
                <a:ea typeface="Microsoft YaHei"/>
                <a:cs typeface="Times New Roman"/>
              </a:rPr>
              <a:t>本题只需一次 RK4 积分与一次线性修正，即可满足右端边界</a:t>
            </a:r>
          </a:p>
        </p:txBody>
      </p:sp>
    </p:spTree>
    <p:extLst>
      <p:ext uri="{BB962C8B-B14F-4D97-AF65-F5344CB8AC3E}">
        <p14:creationId xmlns:p14="http://schemas.microsoft.com/office/powerpoint/2010/main" val="1791427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5240000" cy="8572500"/>
          </a:xfrm>
          <a:prstGeom prst="rect">
            <a:avLst/>
          </a:prstGeom>
        </p:spPr>
      </p:pic>
      <p:sp>
        <p:nvSpPr>
          <p:cNvPr id="2" name="title-112">
            <a:extLst>
              <a:ext uri="{FF2B5EF4-FFF2-40B4-BE49-F238E27FC236}">
                <a16:creationId xmlns:a16="http://schemas.microsoft.com/office/drawing/2014/main" id="{A77AC20E-7DAA-4215-8BF5-DF7401124556}"/>
              </a:ext>
            </a:extLst>
          </p:cNvPr>
          <p:cNvSpPr>
            <a:spLocks noGrp="1"/>
          </p:cNvSpPr>
          <p:nvPr/>
        </p:nvSpPr>
        <p:spPr>
          <a:xfrm>
            <a:off x="1381125" y="742950"/>
            <a:ext cx="11525250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lang="en-US" altLang="zh-CN" sz="3675" b="1">
                <a:solidFill>
                  <a:srgbClr val="303A43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altLang="zh-CN" sz="3675" b="1" dirty="0">
                <a:solidFill>
                  <a:srgbClr val="303A43"/>
                </a:solidFill>
                <a:latin typeface="Times New Roman"/>
                <a:ea typeface="Microsoft YaHei"/>
                <a:cs typeface="Times New Roman"/>
              </a:rPr>
              <a:t>交叉验证：打靶四阶，差分二阶</a:t>
            </a:r>
          </a:p>
        </p:txBody>
      </p:sp>
      <p:sp>
        <p:nvSpPr>
          <p:cNvPr id="5" name="text-115">
            <a:extLst>
              <a:ext uri="{FF2B5EF4-FFF2-40B4-BE49-F238E27FC236}">
                <a16:creationId xmlns:a16="http://schemas.microsoft.com/office/drawing/2014/main" id="{8289AA09-33DE-4E07-86D5-F020E016F2A6}"/>
              </a:ext>
            </a:extLst>
          </p:cNvPr>
          <p:cNvSpPr>
            <a:spLocks noGrp="1"/>
          </p:cNvSpPr>
          <p:nvPr/>
        </p:nvSpPr>
        <p:spPr>
          <a:xfrm>
            <a:off x="904875" y="1847850"/>
            <a:ext cx="66675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lang="en-US" altLang="zh-CN" sz="2700" b="1">
                <a:solidFill>
                  <a:srgbClr val="287D7B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altLang="zh-CN" sz="2700" b="1" dirty="0">
                <a:solidFill>
                  <a:srgbClr val="287D7B"/>
                </a:solidFill>
                <a:latin typeface="Times New Roman"/>
                <a:ea typeface="Microsoft YaHei"/>
                <a:cs typeface="Times New Roman"/>
              </a:rPr>
              <a:t>同一网格上的三方解比较</a:t>
            </a:r>
          </a:p>
        </p:txBody>
      </p:sp>
      <p:sp>
        <p:nvSpPr>
          <p:cNvPr id="6" name="text-116">
            <a:extLst>
              <a:ext uri="{FF2B5EF4-FFF2-40B4-BE49-F238E27FC236}">
                <a16:creationId xmlns:a16="http://schemas.microsoft.com/office/drawing/2014/main" id="{6B4043FA-EB8C-4ABA-AAAB-1076FA96396C}"/>
              </a:ext>
            </a:extLst>
          </p:cNvPr>
          <p:cNvSpPr>
            <a:spLocks noGrp="1"/>
          </p:cNvSpPr>
          <p:nvPr/>
        </p:nvSpPr>
        <p:spPr>
          <a:xfrm>
            <a:off x="7953375" y="1847850"/>
            <a:ext cx="638175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lang="en-US" altLang="zh-CN" sz="2700" b="1">
                <a:solidFill>
                  <a:srgbClr val="287D7B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altLang="zh-CN" sz="2700" b="1" dirty="0">
                <a:solidFill>
                  <a:srgbClr val="287D7B"/>
                </a:solidFill>
                <a:latin typeface="Times New Roman"/>
                <a:ea typeface="Microsoft YaHei"/>
                <a:cs typeface="Times New Roman"/>
              </a:rPr>
              <a:t>相对解析解的误差收敛</a:t>
            </a: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97600" y="2466975"/>
            <a:ext cx="5043925" cy="3905250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547829" y="2466975"/>
            <a:ext cx="5145215" cy="3905250"/>
          </a:xfrm>
          <a:prstGeom prst="rect">
            <a:avLst/>
          </a:prstGeom>
        </p:spPr>
      </p:pic>
      <p:sp>
        <p:nvSpPr>
          <p:cNvPr id="9" name="text-117">
            <a:extLst>
              <a:ext uri="{FF2B5EF4-FFF2-40B4-BE49-F238E27FC236}">
                <a16:creationId xmlns:a16="http://schemas.microsoft.com/office/drawing/2014/main" id="{D1596B4D-B17A-4FEA-84E8-DCECD981567C}"/>
              </a:ext>
            </a:extLst>
          </p:cNvPr>
          <p:cNvSpPr>
            <a:spLocks noGrp="1"/>
          </p:cNvSpPr>
          <p:nvPr/>
        </p:nvSpPr>
        <p:spPr>
          <a:xfrm>
            <a:off x="904875" y="6477000"/>
            <a:ext cx="67627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lang="en-US" altLang="zh-CN" sz="2700" b="1">
                <a:solidFill>
                  <a:srgbClr val="287D7B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altLang="zh-CN" sz="2700" b="1" dirty="0">
                <a:solidFill>
                  <a:srgbClr val="287D7B"/>
                </a:solidFill>
                <a:latin typeface="Times New Roman"/>
                <a:ea typeface="Microsoft YaHei"/>
                <a:cs typeface="Times New Roman"/>
              </a:rPr>
              <a:t>打靶拟合阶 4.0042</a:t>
            </a:r>
          </a:p>
        </p:txBody>
      </p:sp>
      <p:sp>
        <p:nvSpPr>
          <p:cNvPr id="10" name="text-118">
            <a:extLst>
              <a:ext uri="{FF2B5EF4-FFF2-40B4-BE49-F238E27FC236}">
                <a16:creationId xmlns:a16="http://schemas.microsoft.com/office/drawing/2014/main" id="{6CF4D3A4-BFC1-44A2-8A62-507D1C8FCF25}"/>
              </a:ext>
            </a:extLst>
          </p:cNvPr>
          <p:cNvSpPr>
            <a:spLocks noGrp="1"/>
          </p:cNvSpPr>
          <p:nvPr/>
        </p:nvSpPr>
        <p:spPr>
          <a:xfrm>
            <a:off x="7953375" y="6477000"/>
            <a:ext cx="6334125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lang="en-US" altLang="zh-CN" sz="2700" b="1">
                <a:solidFill>
                  <a:srgbClr val="287D7B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altLang="zh-CN" sz="2700" b="1" dirty="0">
                <a:solidFill>
                  <a:srgbClr val="287D7B"/>
                </a:solidFill>
                <a:latin typeface="Times New Roman"/>
                <a:ea typeface="Microsoft YaHei"/>
                <a:cs typeface="Times New Roman"/>
              </a:rPr>
              <a:t>差分拟合阶 2.0025</a:t>
            </a:r>
          </a:p>
        </p:txBody>
      </p:sp>
      <p:sp>
        <p:nvSpPr>
          <p:cNvPr id="11" name="结论-119">
            <a:extLst>
              <a:ext uri="{FF2B5EF4-FFF2-40B4-BE49-F238E27FC236}">
                <a16:creationId xmlns:a16="http://schemas.microsoft.com/office/drawing/2014/main" id="{7D7A1E2E-1385-4C17-8573-18F66045A49C}"/>
              </a:ext>
            </a:extLst>
          </p:cNvPr>
          <p:cNvSpPr>
            <a:spLocks noGrp="1"/>
          </p:cNvSpPr>
          <p:nvPr/>
        </p:nvSpPr>
        <p:spPr>
          <a:xfrm>
            <a:off x="904875" y="7038975"/>
            <a:ext cx="13430250" cy="552450"/>
          </a:xfrm>
          <a:prstGeom prst="rect">
            <a:avLst/>
          </a:prstGeom>
          <a:solidFill>
            <a:srgbClr val="EDF6F5"/>
          </a:solidFill>
          <a:ln w="0">
            <a:noFill/>
          </a:ln>
        </p:spPr>
        <p:txBody>
          <a:bodyPr lIns="133350" tIns="76200" rIns="133350" bIns="0">
            <a:noAutofit/>
          </a:bodyPr>
          <a:lstStyle/>
          <a:p>
            <a:pPr>
              <a:defRPr lang="en-US" altLang="zh-CN" sz="2625" b="1">
                <a:solidFill>
                  <a:srgbClr val="287D7B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altLang="zh-CN" sz="2625" b="1" dirty="0">
                <a:solidFill>
                  <a:srgbClr val="287D7B"/>
                </a:solidFill>
                <a:latin typeface="Times New Roman"/>
                <a:ea typeface="Microsoft YaHei"/>
                <a:cs typeface="Times New Roman"/>
              </a:rPr>
              <a:t>两方法差值的拟合阶 2.0031，由二阶差分误差主导</a:t>
            </a:r>
          </a:p>
        </p:txBody>
      </p:sp>
    </p:spTree>
    <p:extLst>
      <p:ext uri="{BB962C8B-B14F-4D97-AF65-F5344CB8AC3E}">
        <p14:creationId xmlns:p14="http://schemas.microsoft.com/office/powerpoint/2010/main" val="325426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C4FBE044-F760-29F7-63BB-348556EA59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5240000" cy="8572500"/>
          </a:xfrm>
          <a:prstGeom prst="rect">
            <a:avLst/>
          </a:prstGeom>
        </p:spPr>
      </p:pic>
      <p:sp>
        <p:nvSpPr>
          <p:cNvPr id="3" name="矩形: 圆角 2">
            <a:extLst>
              <a:ext uri="{FF2B5EF4-FFF2-40B4-BE49-F238E27FC236}">
                <a16:creationId xmlns:a16="http://schemas.microsoft.com/office/drawing/2014/main" id="{D661A646-B3F8-A440-2870-86FD789644C1}"/>
              </a:ext>
            </a:extLst>
          </p:cNvPr>
          <p:cNvSpPr/>
          <p:nvPr/>
        </p:nvSpPr>
        <p:spPr>
          <a:xfrm>
            <a:off x="638355" y="1880558"/>
            <a:ext cx="8859328" cy="1140844"/>
          </a:xfrm>
          <a:prstGeom prst="roundRect">
            <a:avLst>
              <a:gd name="adj" fmla="val 50000"/>
            </a:avLst>
          </a:prstGeom>
          <a:solidFill>
            <a:srgbClr val="287D7B"/>
          </a:solidFill>
          <a:ln w="38100">
            <a:solidFill>
              <a:srgbClr val="1B55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-120">
            <a:extLst>
              <a:ext uri="{FF2B5EF4-FFF2-40B4-BE49-F238E27FC236}">
                <a16:creationId xmlns:a16="http://schemas.microsoft.com/office/drawing/2014/main" id="{56CC4C15-77D8-49F5-BA82-44B65CCE873D}"/>
              </a:ext>
            </a:extLst>
          </p:cNvPr>
          <p:cNvSpPr>
            <a:spLocks noGrp="1"/>
          </p:cNvSpPr>
          <p:nvPr/>
        </p:nvSpPr>
        <p:spPr>
          <a:xfrm>
            <a:off x="1381125" y="742950"/>
            <a:ext cx="11525250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lang="en-US" altLang="zh-CN" sz="3675" b="1">
                <a:solidFill>
                  <a:srgbClr val="303A43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altLang="zh-CN" sz="3675" b="1">
                <a:solidFill>
                  <a:srgbClr val="303A43"/>
                </a:solidFill>
                <a:latin typeface="Times New Roman"/>
                <a:ea typeface="Microsoft YaHei"/>
                <a:cs typeface="Times New Roman"/>
              </a:rPr>
              <a:t>总结与项目产出</a:t>
            </a:r>
          </a:p>
        </p:txBody>
      </p:sp>
      <p:sp>
        <p:nvSpPr>
          <p:cNvPr id="5" name="text-123">
            <a:extLst>
              <a:ext uri="{FF2B5EF4-FFF2-40B4-BE49-F238E27FC236}">
                <a16:creationId xmlns:a16="http://schemas.microsoft.com/office/drawing/2014/main" id="{83EF6DDE-8E02-410C-98BC-1D00DCB1F6DC}"/>
              </a:ext>
            </a:extLst>
          </p:cNvPr>
          <p:cNvSpPr>
            <a:spLocks noGrp="1"/>
          </p:cNvSpPr>
          <p:nvPr/>
        </p:nvSpPr>
        <p:spPr>
          <a:xfrm>
            <a:off x="904875" y="2119312"/>
            <a:ext cx="734144" cy="657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lang="en-US" altLang="zh-CN" sz="3975" b="1">
                <a:solidFill>
                  <a:srgbClr val="287D7B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altLang="zh-CN" sz="3975" b="1" dirty="0">
                <a:solidFill>
                  <a:schemeClr val="bg1"/>
                </a:solidFill>
                <a:latin typeface="Times New Roman"/>
                <a:ea typeface="Microsoft YaHei"/>
                <a:cs typeface="Times New Roman"/>
              </a:rPr>
              <a:t>01</a:t>
            </a:r>
          </a:p>
        </p:txBody>
      </p:sp>
      <p:sp>
        <p:nvSpPr>
          <p:cNvPr id="6" name="text-124">
            <a:extLst>
              <a:ext uri="{FF2B5EF4-FFF2-40B4-BE49-F238E27FC236}">
                <a16:creationId xmlns:a16="http://schemas.microsoft.com/office/drawing/2014/main" id="{9B36DAB8-DCE0-471E-AD30-93095E810F97}"/>
              </a:ext>
            </a:extLst>
          </p:cNvPr>
          <p:cNvSpPr>
            <a:spLocks noGrp="1"/>
          </p:cNvSpPr>
          <p:nvPr/>
        </p:nvSpPr>
        <p:spPr>
          <a:xfrm>
            <a:off x="2247901" y="1952625"/>
            <a:ext cx="2237836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lang="en-US" altLang="zh-CN" sz="2700" b="1">
                <a:solidFill>
                  <a:srgbClr val="287D7B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altLang="zh-CN" sz="2700" b="1" dirty="0">
                <a:solidFill>
                  <a:schemeClr val="bg1"/>
                </a:solidFill>
                <a:latin typeface="Times New Roman"/>
                <a:ea typeface="Microsoft YaHei"/>
                <a:cs typeface="Times New Roman"/>
              </a:rPr>
              <a:t>基础求解</a:t>
            </a:r>
          </a:p>
        </p:txBody>
      </p:sp>
      <p:sp>
        <p:nvSpPr>
          <p:cNvPr id="7" name="text-125">
            <a:extLst>
              <a:ext uri="{FF2B5EF4-FFF2-40B4-BE49-F238E27FC236}">
                <a16:creationId xmlns:a16="http://schemas.microsoft.com/office/drawing/2014/main" id="{8BAA89CD-BAF3-44FB-BA27-BA73833FB49F}"/>
              </a:ext>
            </a:extLst>
          </p:cNvPr>
          <p:cNvSpPr>
            <a:spLocks noGrp="1"/>
          </p:cNvSpPr>
          <p:nvPr/>
        </p:nvSpPr>
        <p:spPr>
          <a:xfrm>
            <a:off x="2247900" y="2514600"/>
            <a:ext cx="6887474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lang="en-US" altLang="zh-CN" sz="2700" b="0">
                <a:solidFill>
                  <a:srgbClr val="303A43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altLang="zh-CN" sz="2700" b="0" dirty="0">
                <a:solidFill>
                  <a:schemeClr val="bg1"/>
                </a:solidFill>
                <a:latin typeface="Times New Roman"/>
                <a:ea typeface="Microsoft YaHei"/>
                <a:cs typeface="Times New Roman"/>
              </a:rPr>
              <a:t>有限差分二阶、RK4 </a:t>
            </a:r>
            <a:r>
              <a:rPr lang="en-US" altLang="zh-CN" sz="2700" b="0" dirty="0" err="1">
                <a:solidFill>
                  <a:schemeClr val="bg1"/>
                </a:solidFill>
                <a:latin typeface="Times New Roman"/>
                <a:ea typeface="Microsoft YaHei"/>
                <a:cs typeface="Times New Roman"/>
              </a:rPr>
              <a:t>四阶，与理论预期一致</a:t>
            </a:r>
            <a:r>
              <a:rPr lang="en-US" altLang="zh-CN" sz="2700" b="0" dirty="0">
                <a:solidFill>
                  <a:schemeClr val="bg1"/>
                </a:solidFill>
                <a:latin typeface="Times New Roman"/>
                <a:ea typeface="Microsoft YaHei"/>
                <a:cs typeface="Times New Roman"/>
              </a:rPr>
              <a:t>。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C6AF4927-2065-4BE4-3F25-816FED2CC45B}"/>
              </a:ext>
            </a:extLst>
          </p:cNvPr>
          <p:cNvSpPr>
            <a:spLocks/>
          </p:cNvSpPr>
          <p:nvPr/>
        </p:nvSpPr>
        <p:spPr>
          <a:xfrm>
            <a:off x="5068019" y="5833433"/>
            <a:ext cx="8859328" cy="1140844"/>
          </a:xfrm>
          <a:prstGeom prst="roundRect">
            <a:avLst>
              <a:gd name="adj" fmla="val 50000"/>
            </a:avLst>
          </a:prstGeom>
          <a:solidFill>
            <a:srgbClr val="287D7B"/>
          </a:solidFill>
          <a:ln w="38100">
            <a:solidFill>
              <a:srgbClr val="1B55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text-123">
            <a:extLst>
              <a:ext uri="{FF2B5EF4-FFF2-40B4-BE49-F238E27FC236}">
                <a16:creationId xmlns:a16="http://schemas.microsoft.com/office/drawing/2014/main" id="{F410F7CB-86EE-7DAF-BC30-D51F263A5DDE}"/>
              </a:ext>
            </a:extLst>
          </p:cNvPr>
          <p:cNvSpPr>
            <a:spLocks noGrp="1"/>
          </p:cNvSpPr>
          <p:nvPr/>
        </p:nvSpPr>
        <p:spPr>
          <a:xfrm>
            <a:off x="5334539" y="6072187"/>
            <a:ext cx="734144" cy="657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lang="en-US" altLang="zh-CN" sz="3975" b="1">
                <a:solidFill>
                  <a:srgbClr val="287D7B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altLang="zh-CN" sz="3975" b="1" dirty="0">
                <a:solidFill>
                  <a:schemeClr val="bg1"/>
                </a:solidFill>
                <a:latin typeface="Times New Roman"/>
                <a:ea typeface="Microsoft YaHei"/>
                <a:cs typeface="Times New Roman"/>
              </a:rPr>
              <a:t>03</a:t>
            </a:r>
          </a:p>
        </p:txBody>
      </p:sp>
      <p:sp>
        <p:nvSpPr>
          <p:cNvPr id="16" name="text-124">
            <a:extLst>
              <a:ext uri="{FF2B5EF4-FFF2-40B4-BE49-F238E27FC236}">
                <a16:creationId xmlns:a16="http://schemas.microsoft.com/office/drawing/2014/main" id="{AB62B570-FB21-360A-6C28-6196CA9E3E40}"/>
              </a:ext>
            </a:extLst>
          </p:cNvPr>
          <p:cNvSpPr>
            <a:spLocks noGrp="1"/>
          </p:cNvSpPr>
          <p:nvPr/>
        </p:nvSpPr>
        <p:spPr>
          <a:xfrm>
            <a:off x="2514421" y="6067425"/>
            <a:ext cx="2237836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lang="en-US" altLang="zh-CN" sz="2700" b="1">
                <a:solidFill>
                  <a:srgbClr val="287D7B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altLang="en-US" sz="2700" b="1" dirty="0">
                <a:solidFill>
                  <a:schemeClr val="bg1"/>
                </a:solidFill>
                <a:latin typeface="Times New Roman"/>
                <a:ea typeface="Microsoft YaHei"/>
                <a:cs typeface="Times New Roman"/>
              </a:rPr>
              <a:t>算法迁移</a:t>
            </a:r>
          </a:p>
        </p:txBody>
      </p:sp>
      <p:sp>
        <p:nvSpPr>
          <p:cNvPr id="17" name="text-125">
            <a:extLst>
              <a:ext uri="{FF2B5EF4-FFF2-40B4-BE49-F238E27FC236}">
                <a16:creationId xmlns:a16="http://schemas.microsoft.com/office/drawing/2014/main" id="{60723E73-77AB-2D85-9399-A096FF5DAF25}"/>
              </a:ext>
            </a:extLst>
          </p:cNvPr>
          <p:cNvSpPr>
            <a:spLocks noGrp="1"/>
          </p:cNvSpPr>
          <p:nvPr/>
        </p:nvSpPr>
        <p:spPr>
          <a:xfrm>
            <a:off x="6677563" y="6467475"/>
            <a:ext cx="7035437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lang="en-US" altLang="zh-CN" sz="2700" b="0">
                <a:solidFill>
                  <a:srgbClr val="303A43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altLang="en-US" sz="2700" b="0" dirty="0">
                <a:solidFill>
                  <a:schemeClr val="bg1"/>
                </a:solidFill>
                <a:latin typeface="Times New Roman"/>
                <a:ea typeface="Microsoft YaHei"/>
                <a:cs typeface="Times New Roman"/>
              </a:rPr>
              <a:t>复用向量 </a:t>
            </a:r>
            <a:r>
              <a:rPr lang="en-US" altLang="zh-CN" sz="2700" b="0" dirty="0">
                <a:solidFill>
                  <a:schemeClr val="bg1"/>
                </a:solidFill>
                <a:latin typeface="Times New Roman"/>
                <a:ea typeface="Microsoft YaHei"/>
                <a:cs typeface="Times New Roman"/>
              </a:rPr>
              <a:t>RK4 </a:t>
            </a:r>
            <a:r>
              <a:rPr lang="zh-CN" altLang="en-US" sz="2700" b="0" dirty="0">
                <a:solidFill>
                  <a:schemeClr val="bg1"/>
                </a:solidFill>
                <a:latin typeface="Times New Roman"/>
                <a:ea typeface="Microsoft YaHei"/>
                <a:cs typeface="Times New Roman"/>
              </a:rPr>
              <a:t>完成线性打靶，实现交叉验证</a:t>
            </a:r>
            <a:r>
              <a:rPr lang="en-US" altLang="zh-CN" sz="2700" b="0" dirty="0">
                <a:solidFill>
                  <a:schemeClr val="bg1"/>
                </a:solidFill>
                <a:latin typeface="Times New Roman"/>
                <a:ea typeface="Microsoft YaHei"/>
                <a:cs typeface="Times New Roman"/>
              </a:rPr>
              <a:t>。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9A1C14F3-4AF8-B89E-6C29-C6E730601F86}"/>
              </a:ext>
            </a:extLst>
          </p:cNvPr>
          <p:cNvSpPr/>
          <p:nvPr/>
        </p:nvSpPr>
        <p:spPr>
          <a:xfrm>
            <a:off x="2853187" y="3856995"/>
            <a:ext cx="8859328" cy="1140844"/>
          </a:xfrm>
          <a:prstGeom prst="roundRect">
            <a:avLst>
              <a:gd name="adj" fmla="val 50000"/>
            </a:avLst>
          </a:prstGeom>
          <a:solidFill>
            <a:srgbClr val="9B7D40"/>
          </a:solidFill>
          <a:ln w="38100">
            <a:solidFill>
              <a:srgbClr val="4C3D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text-123">
            <a:extLst>
              <a:ext uri="{FF2B5EF4-FFF2-40B4-BE49-F238E27FC236}">
                <a16:creationId xmlns:a16="http://schemas.microsoft.com/office/drawing/2014/main" id="{CB28268D-D96F-41E6-8157-6E62A66A0608}"/>
              </a:ext>
            </a:extLst>
          </p:cNvPr>
          <p:cNvSpPr>
            <a:spLocks noGrp="1"/>
          </p:cNvSpPr>
          <p:nvPr/>
        </p:nvSpPr>
        <p:spPr>
          <a:xfrm>
            <a:off x="3142712" y="4115595"/>
            <a:ext cx="734144" cy="657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lang="en-US" altLang="zh-CN" sz="3975" b="1">
                <a:solidFill>
                  <a:srgbClr val="287D7B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altLang="zh-CN" sz="3975" b="1" dirty="0">
                <a:solidFill>
                  <a:schemeClr val="bg1"/>
                </a:solidFill>
                <a:latin typeface="Times New Roman"/>
                <a:ea typeface="Microsoft YaHei"/>
                <a:cs typeface="Times New Roman"/>
              </a:rPr>
              <a:t>02</a:t>
            </a:r>
          </a:p>
        </p:txBody>
      </p:sp>
      <p:sp>
        <p:nvSpPr>
          <p:cNvPr id="20" name="text-124">
            <a:extLst>
              <a:ext uri="{FF2B5EF4-FFF2-40B4-BE49-F238E27FC236}">
                <a16:creationId xmlns:a16="http://schemas.microsoft.com/office/drawing/2014/main" id="{B08187D3-165C-AE05-DDF4-F43859D79408}"/>
              </a:ext>
            </a:extLst>
          </p:cNvPr>
          <p:cNvSpPr>
            <a:spLocks noGrp="1"/>
          </p:cNvSpPr>
          <p:nvPr/>
        </p:nvSpPr>
        <p:spPr>
          <a:xfrm>
            <a:off x="4485738" y="3948908"/>
            <a:ext cx="2237836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lang="en-US" altLang="zh-CN" sz="2700" b="1">
                <a:solidFill>
                  <a:srgbClr val="287D7B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zh-CN" altLang="en-US" sz="2700" b="1" dirty="0">
                <a:solidFill>
                  <a:schemeClr val="bg1"/>
                </a:solidFill>
                <a:latin typeface="Times New Roman"/>
                <a:ea typeface="Microsoft YaHei"/>
                <a:cs typeface="Times New Roman"/>
              </a:rPr>
              <a:t>精度提升</a:t>
            </a:r>
          </a:p>
        </p:txBody>
      </p:sp>
      <p:sp>
        <p:nvSpPr>
          <p:cNvPr id="21" name="text-125">
            <a:extLst>
              <a:ext uri="{FF2B5EF4-FFF2-40B4-BE49-F238E27FC236}">
                <a16:creationId xmlns:a16="http://schemas.microsoft.com/office/drawing/2014/main" id="{C8C82571-03B6-07CC-FED0-5383F9F0B7CE}"/>
              </a:ext>
            </a:extLst>
          </p:cNvPr>
          <p:cNvSpPr>
            <a:spLocks noGrp="1"/>
          </p:cNvSpPr>
          <p:nvPr/>
        </p:nvSpPr>
        <p:spPr>
          <a:xfrm>
            <a:off x="4485737" y="4510883"/>
            <a:ext cx="6887474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lang="en-US" altLang="zh-CN" sz="2700" b="0">
                <a:solidFill>
                  <a:srgbClr val="303A43"/>
                </a:solidFill>
                <a:latin typeface="Times New Roman"/>
                <a:ea typeface="Microsoft YaHei"/>
                <a:cs typeface="Times New Roman"/>
              </a:defRPr>
            </a:pPr>
            <a:r>
              <a:rPr lang="en-US" altLang="zh-CN" sz="2700" b="0" dirty="0">
                <a:solidFill>
                  <a:schemeClr val="bg1"/>
                </a:solidFill>
                <a:latin typeface="Times New Roman"/>
                <a:ea typeface="Microsoft YaHei"/>
                <a:cs typeface="Times New Roman"/>
              </a:rPr>
              <a:t>Richardson </a:t>
            </a:r>
            <a:r>
              <a:rPr lang="zh-CN" altLang="en-US" sz="2700" b="0" dirty="0">
                <a:solidFill>
                  <a:schemeClr val="bg1"/>
                </a:solidFill>
                <a:latin typeface="Times New Roman"/>
                <a:ea typeface="Microsoft YaHei"/>
                <a:cs typeface="Times New Roman"/>
              </a:rPr>
              <a:t>消去主误差项，外推结果接近四阶。</a:t>
            </a:r>
          </a:p>
        </p:txBody>
      </p:sp>
    </p:spTree>
    <p:extLst>
      <p:ext uri="{BB962C8B-B14F-4D97-AF65-F5344CB8AC3E}">
        <p14:creationId xmlns:p14="http://schemas.microsoft.com/office/powerpoint/2010/main" val="1166137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</TotalTime>
  <Words>1457</Words>
  <Application>Microsoft Office PowerPoint</Application>
  <DocSecurity>0</DocSecurity>
  <PresentationFormat>自定义</PresentationFormat>
  <Paragraphs>191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6" baseType="lpstr">
      <vt:lpstr>Calibri</vt:lpstr>
      <vt:lpstr>Cambria Math</vt:lpstr>
      <vt:lpstr>Times New Roman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肃涵 庄</cp:lastModifiedBy>
  <cp:revision>20</cp:revision>
  <dcterms:created xsi:type="dcterms:W3CDTF">2026-09-12T09:32:55Z</dcterms:created>
  <dcterms:modified xsi:type="dcterms:W3CDTF">2026-09-12T17:52:43Z</dcterms:modified>
</cp:coreProperties>
</file>